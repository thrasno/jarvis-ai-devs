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5240000" cy="9525000"/>
  <p:notesSz cx="9525000" cy="152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sp>
        <p:nvSpPr>
          <p:cNvPr id="13" name="Shape 9"/>
          <p:cNvSpPr/>
          <p:nvPr/>
        </p:nvSpPr>
        <p:spPr>
          <a:xfrm>
            <a:off x="114300" y="983456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114300" y="1059656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7" name="Text 17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30609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 MEMORY · LIVE SYNC · GOVERNANCE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3060954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Hive Overview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382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2790825" y="1009650"/>
            <a:ext cx="76200" cy="85725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67" name="Text 48"/>
          <p:cNvSpPr/>
          <p:nvPr/>
        </p:nvSpPr>
        <p:spPr>
          <a:xfrm>
            <a:off x="2943225" y="981075"/>
            <a:ext cx="10496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MEMORIES</a:t>
            </a:r>
            <a:endParaRPr lang="en-US" sz="750" dirty="0"/>
          </a:p>
        </p:txBody>
      </p:sp>
      <p:sp>
        <p:nvSpPr>
          <p:cNvPr id="68" name="Text 49"/>
          <p:cNvSpPr/>
          <p:nvPr/>
        </p:nvSpPr>
        <p:spPr>
          <a:xfrm>
            <a:off x="2790825" y="1200150"/>
            <a:ext cx="762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22.4k</a:t>
            </a:r>
            <a:endParaRPr lang="en-US" sz="1800" dirty="0"/>
          </a:p>
        </p:txBody>
      </p:sp>
      <p:sp>
        <p:nvSpPr>
          <p:cNvPr id="69" name="Text 50"/>
          <p:cNvSpPr/>
          <p:nvPr/>
        </p:nvSpPr>
        <p:spPr>
          <a:xfrm>
            <a:off x="2790825" y="1504950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projects indexed</a:t>
            </a:r>
            <a:endParaRPr lang="en-US" sz="825" dirty="0"/>
          </a:p>
        </p:txBody>
      </p:sp>
      <p:sp>
        <p:nvSpPr>
          <p:cNvPr id="70" name="Shape 51"/>
          <p:cNvSpPr/>
          <p:nvPr/>
        </p:nvSpPr>
        <p:spPr>
          <a:xfrm>
            <a:off x="5088731" y="8382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5250656" y="1009650"/>
            <a:ext cx="76200" cy="85725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72" name="Text 53"/>
          <p:cNvSpPr/>
          <p:nvPr/>
        </p:nvSpPr>
        <p:spPr>
          <a:xfrm>
            <a:off x="5403056" y="981075"/>
            <a:ext cx="139731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CONTRIBUTORS</a:t>
            </a:r>
            <a:endParaRPr lang="en-US" sz="750" dirty="0"/>
          </a:p>
        </p:txBody>
      </p:sp>
      <p:sp>
        <p:nvSpPr>
          <p:cNvPr id="73" name="Text 54"/>
          <p:cNvSpPr/>
          <p:nvPr/>
        </p:nvSpPr>
        <p:spPr>
          <a:xfrm>
            <a:off x="5250656" y="12001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74" name="Text 55"/>
          <p:cNvSpPr/>
          <p:nvPr/>
        </p:nvSpPr>
        <p:spPr>
          <a:xfrm>
            <a:off x="5250656" y="1504950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agents · 6 humans</a:t>
            </a:r>
            <a:endParaRPr lang="en-US" sz="825" dirty="0"/>
          </a:p>
        </p:txBody>
      </p:sp>
      <p:sp>
        <p:nvSpPr>
          <p:cNvPr id="75" name="Shape 56"/>
          <p:cNvSpPr/>
          <p:nvPr/>
        </p:nvSpPr>
        <p:spPr>
          <a:xfrm>
            <a:off x="7548563" y="8382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6" name="Shape 57"/>
          <p:cNvSpPr/>
          <p:nvPr/>
        </p:nvSpPr>
        <p:spPr>
          <a:xfrm>
            <a:off x="7710487" y="1009650"/>
            <a:ext cx="76200" cy="85725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77" name="Text 58"/>
          <p:cNvSpPr/>
          <p:nvPr/>
        </p:nvSpPr>
        <p:spPr>
          <a:xfrm>
            <a:off x="7862888" y="981075"/>
            <a:ext cx="8410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HEALTH</a:t>
            </a:r>
            <a:endParaRPr lang="en-US" sz="750" dirty="0"/>
          </a:p>
        </p:txBody>
      </p:sp>
      <p:sp>
        <p:nvSpPr>
          <p:cNvPr id="78" name="Text 59"/>
          <p:cNvSpPr/>
          <p:nvPr/>
        </p:nvSpPr>
        <p:spPr>
          <a:xfrm>
            <a:off x="7710487" y="12001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79" name="Text 60"/>
          <p:cNvSpPr/>
          <p:nvPr/>
        </p:nvSpPr>
        <p:spPr>
          <a:xfrm>
            <a:off x="7904798" y="1271588"/>
            <a:ext cx="2819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8</a:t>
            </a:r>
            <a:endParaRPr lang="en-US" sz="900" dirty="0"/>
          </a:p>
        </p:txBody>
      </p:sp>
      <p:sp>
        <p:nvSpPr>
          <p:cNvPr id="80" name="Text 61"/>
          <p:cNvSpPr/>
          <p:nvPr/>
        </p:nvSpPr>
        <p:spPr>
          <a:xfrm>
            <a:off x="7710487" y="1519238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 healthy</a:t>
            </a:r>
            <a:endParaRPr lang="en-US" sz="825" dirty="0"/>
          </a:p>
        </p:txBody>
      </p:sp>
      <p:sp>
        <p:nvSpPr>
          <p:cNvPr id="81" name="Shape 62"/>
          <p:cNvSpPr/>
          <p:nvPr/>
        </p:nvSpPr>
        <p:spPr>
          <a:xfrm>
            <a:off x="10008394" y="8382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82" name="Shape 63"/>
          <p:cNvSpPr/>
          <p:nvPr/>
        </p:nvSpPr>
        <p:spPr>
          <a:xfrm>
            <a:off x="10170319" y="1009650"/>
            <a:ext cx="76200" cy="857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83" name="Text 64"/>
          <p:cNvSpPr/>
          <p:nvPr/>
        </p:nvSpPr>
        <p:spPr>
          <a:xfrm>
            <a:off x="10322719" y="981075"/>
            <a:ext cx="10496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CONFLICTS</a:t>
            </a:r>
            <a:endParaRPr lang="en-US" sz="750" dirty="0"/>
          </a:p>
        </p:txBody>
      </p:sp>
      <p:sp>
        <p:nvSpPr>
          <p:cNvPr id="84" name="Text 65"/>
          <p:cNvSpPr/>
          <p:nvPr/>
        </p:nvSpPr>
        <p:spPr>
          <a:xfrm>
            <a:off x="10170319" y="12001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5" name="Text 66"/>
          <p:cNvSpPr/>
          <p:nvPr/>
        </p:nvSpPr>
        <p:spPr>
          <a:xfrm>
            <a:off x="10170319" y="1504950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admin review</a:t>
            </a:r>
            <a:endParaRPr lang="en-US" sz="825" dirty="0"/>
          </a:p>
        </p:txBody>
      </p:sp>
      <p:sp>
        <p:nvSpPr>
          <p:cNvPr id="86" name="Shape 67"/>
          <p:cNvSpPr/>
          <p:nvPr/>
        </p:nvSpPr>
        <p:spPr>
          <a:xfrm>
            <a:off x="2628900" y="2009775"/>
            <a:ext cx="5697855" cy="3457575"/>
          </a:xfrm>
          <a:prstGeom prst="roundRect">
            <a:avLst>
              <a:gd name="adj" fmla="val 3306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87" name="Shape 68"/>
          <p:cNvSpPr/>
          <p:nvPr/>
        </p:nvSpPr>
        <p:spPr>
          <a:xfrm>
            <a:off x="2638425" y="2428875"/>
            <a:ext cx="5678805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88" name="Text 69"/>
          <p:cNvSpPr/>
          <p:nvPr/>
        </p:nvSpPr>
        <p:spPr>
          <a:xfrm>
            <a:off x="2790825" y="2145506"/>
            <a:ext cx="1432878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GROWTH</a:t>
            </a:r>
            <a:endParaRPr lang="en-US" sz="825" dirty="0"/>
          </a:p>
        </p:txBody>
      </p:sp>
      <p:sp>
        <p:nvSpPr>
          <p:cNvPr id="89" name="Text 70"/>
          <p:cNvSpPr/>
          <p:nvPr/>
        </p:nvSpPr>
        <p:spPr>
          <a:xfrm>
            <a:off x="6656070" y="2145506"/>
            <a:ext cx="158496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 saved · 30 days</a:t>
            </a:r>
            <a:endParaRPr lang="en-US" sz="825" dirty="0"/>
          </a:p>
        </p:txBody>
      </p:sp>
      <p:pic>
        <p:nvPicPr>
          <p:cNvPr id="9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52725" y="2590800"/>
            <a:ext cx="5450205" cy="1790700"/>
          </a:xfrm>
          <a:prstGeom prst="rect">
            <a:avLst/>
          </a:prstGeom>
        </p:spPr>
      </p:pic>
      <p:sp>
        <p:nvSpPr>
          <p:cNvPr id="91" name="Shape 71"/>
          <p:cNvSpPr/>
          <p:nvPr/>
        </p:nvSpPr>
        <p:spPr>
          <a:xfrm>
            <a:off x="8517255" y="2009775"/>
            <a:ext cx="3798570" cy="3457575"/>
          </a:xfrm>
          <a:prstGeom prst="roundRect">
            <a:avLst>
              <a:gd name="adj" fmla="val 3306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92" name="Shape 72"/>
          <p:cNvSpPr/>
          <p:nvPr/>
        </p:nvSpPr>
        <p:spPr>
          <a:xfrm>
            <a:off x="8526780" y="2428875"/>
            <a:ext cx="3779520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93" name="Text 73"/>
          <p:cNvSpPr/>
          <p:nvPr/>
        </p:nvSpPr>
        <p:spPr>
          <a:xfrm>
            <a:off x="8679180" y="2145506"/>
            <a:ext cx="1720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HEALTH BY PROJECT</a:t>
            </a:r>
            <a:endParaRPr lang="en-US" sz="825" dirty="0"/>
          </a:p>
        </p:txBody>
      </p:sp>
      <p:sp>
        <p:nvSpPr>
          <p:cNvPr id="94" name="Shape 74"/>
          <p:cNvSpPr/>
          <p:nvPr/>
        </p:nvSpPr>
        <p:spPr>
          <a:xfrm>
            <a:off x="8526780" y="2807494"/>
            <a:ext cx="3779520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95" name="Shape 75"/>
          <p:cNvSpPr/>
          <p:nvPr/>
        </p:nvSpPr>
        <p:spPr>
          <a:xfrm>
            <a:off x="8679180" y="2589530"/>
            <a:ext cx="66675" cy="66675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96" name="Shape 76"/>
          <p:cNvSpPr/>
          <p:nvPr/>
        </p:nvSpPr>
        <p:spPr>
          <a:xfrm>
            <a:off x="8650605" y="2560955"/>
            <a:ext cx="123825" cy="123825"/>
          </a:xfrm>
          <a:prstGeom prst="ellipse">
            <a:avLst/>
          </a:prstGeom>
          <a:ln w="9525">
            <a:solidFill>
              <a:srgbClr val="22B85C">
                <a:alpha val="51000"/>
              </a:srgbClr>
            </a:solidFill>
            <a:prstDash val="solid"/>
          </a:ln>
        </p:spPr>
      </p:sp>
      <p:sp>
        <p:nvSpPr>
          <p:cNvPr id="97" name="Text 77"/>
          <p:cNvSpPr/>
          <p:nvPr/>
        </p:nvSpPr>
        <p:spPr>
          <a:xfrm>
            <a:off x="8860155" y="2533650"/>
            <a:ext cx="221742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938" dirty="0"/>
          </a:p>
        </p:txBody>
      </p:sp>
      <p:sp>
        <p:nvSpPr>
          <p:cNvPr id="98" name="Text 78"/>
          <p:cNvSpPr/>
          <p:nvPr/>
        </p:nvSpPr>
        <p:spPr>
          <a:xfrm>
            <a:off x="11115675" y="2544286"/>
            <a:ext cx="3905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4,821</a:t>
            </a:r>
            <a:endParaRPr lang="en-US" sz="825" dirty="0"/>
          </a:p>
        </p:txBody>
      </p:sp>
      <p:sp>
        <p:nvSpPr>
          <p:cNvPr id="99" name="Text 79"/>
          <p:cNvSpPr/>
          <p:nvPr/>
        </p:nvSpPr>
        <p:spPr>
          <a:xfrm>
            <a:off x="11468100" y="2547938"/>
            <a:ext cx="6858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 ago</a:t>
            </a:r>
            <a:endParaRPr lang="en-US" sz="788" dirty="0"/>
          </a:p>
        </p:txBody>
      </p:sp>
      <p:sp>
        <p:nvSpPr>
          <p:cNvPr id="100" name="Shape 80"/>
          <p:cNvSpPr/>
          <p:nvPr/>
        </p:nvSpPr>
        <p:spPr>
          <a:xfrm>
            <a:off x="8526780" y="3186113"/>
            <a:ext cx="3779520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01" name="Shape 81"/>
          <p:cNvSpPr/>
          <p:nvPr/>
        </p:nvSpPr>
        <p:spPr>
          <a:xfrm>
            <a:off x="8679180" y="2968149"/>
            <a:ext cx="66675" cy="66675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02" name="Shape 82"/>
          <p:cNvSpPr/>
          <p:nvPr/>
        </p:nvSpPr>
        <p:spPr>
          <a:xfrm>
            <a:off x="8650605" y="2939574"/>
            <a:ext cx="123825" cy="123825"/>
          </a:xfrm>
          <a:prstGeom prst="ellipse">
            <a:avLst/>
          </a:prstGeom>
          <a:ln w="9525">
            <a:solidFill>
              <a:srgbClr val="22B85C">
                <a:alpha val="51000"/>
              </a:srgbClr>
            </a:solidFill>
            <a:prstDash val="solid"/>
          </a:ln>
        </p:spPr>
      </p:sp>
      <p:sp>
        <p:nvSpPr>
          <p:cNvPr id="103" name="Text 83"/>
          <p:cNvSpPr/>
          <p:nvPr/>
        </p:nvSpPr>
        <p:spPr>
          <a:xfrm>
            <a:off x="8860155" y="2912269"/>
            <a:ext cx="221742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938" dirty="0"/>
          </a:p>
        </p:txBody>
      </p:sp>
      <p:sp>
        <p:nvSpPr>
          <p:cNvPr id="104" name="Text 84"/>
          <p:cNvSpPr/>
          <p:nvPr/>
        </p:nvSpPr>
        <p:spPr>
          <a:xfrm>
            <a:off x="11115675" y="2922905"/>
            <a:ext cx="3905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2,940</a:t>
            </a:r>
            <a:endParaRPr lang="en-US" sz="825" dirty="0"/>
          </a:p>
        </p:txBody>
      </p:sp>
      <p:sp>
        <p:nvSpPr>
          <p:cNvPr id="105" name="Text 85"/>
          <p:cNvSpPr/>
          <p:nvPr/>
        </p:nvSpPr>
        <p:spPr>
          <a:xfrm>
            <a:off x="11468100" y="2926556"/>
            <a:ext cx="6858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6m ago</a:t>
            </a:r>
            <a:endParaRPr lang="en-US" sz="788" dirty="0"/>
          </a:p>
        </p:txBody>
      </p:sp>
      <p:sp>
        <p:nvSpPr>
          <p:cNvPr id="106" name="Shape 86"/>
          <p:cNvSpPr/>
          <p:nvPr/>
        </p:nvSpPr>
        <p:spPr>
          <a:xfrm>
            <a:off x="8526780" y="3564731"/>
            <a:ext cx="3779520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07" name="Shape 87"/>
          <p:cNvSpPr/>
          <p:nvPr/>
        </p:nvSpPr>
        <p:spPr>
          <a:xfrm>
            <a:off x="8679180" y="3346768"/>
            <a:ext cx="66675" cy="66675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108" name="Text 88"/>
          <p:cNvSpPr/>
          <p:nvPr/>
        </p:nvSpPr>
        <p:spPr>
          <a:xfrm>
            <a:off x="8860155" y="3290888"/>
            <a:ext cx="221742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938" dirty="0"/>
          </a:p>
        </p:txBody>
      </p:sp>
      <p:sp>
        <p:nvSpPr>
          <p:cNvPr id="109" name="Text 89"/>
          <p:cNvSpPr/>
          <p:nvPr/>
        </p:nvSpPr>
        <p:spPr>
          <a:xfrm>
            <a:off x="11115675" y="3301524"/>
            <a:ext cx="3905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1,633</a:t>
            </a:r>
            <a:endParaRPr lang="en-US" sz="825" dirty="0"/>
          </a:p>
        </p:txBody>
      </p:sp>
      <p:sp>
        <p:nvSpPr>
          <p:cNvPr id="110" name="Text 90"/>
          <p:cNvSpPr/>
          <p:nvPr/>
        </p:nvSpPr>
        <p:spPr>
          <a:xfrm>
            <a:off x="11468100" y="3305175"/>
            <a:ext cx="6858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38m ago</a:t>
            </a:r>
            <a:endParaRPr lang="en-US" sz="788" dirty="0"/>
          </a:p>
        </p:txBody>
      </p:sp>
      <p:sp>
        <p:nvSpPr>
          <p:cNvPr id="111" name="Shape 91"/>
          <p:cNvSpPr/>
          <p:nvPr/>
        </p:nvSpPr>
        <p:spPr>
          <a:xfrm>
            <a:off x="8526780" y="3943350"/>
            <a:ext cx="3779520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2" name="Shape 92"/>
          <p:cNvSpPr/>
          <p:nvPr/>
        </p:nvSpPr>
        <p:spPr>
          <a:xfrm>
            <a:off x="8679180" y="3725386"/>
            <a:ext cx="66675" cy="66675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13" name="Shape 93"/>
          <p:cNvSpPr/>
          <p:nvPr/>
        </p:nvSpPr>
        <p:spPr>
          <a:xfrm>
            <a:off x="8650605" y="3696811"/>
            <a:ext cx="123825" cy="123825"/>
          </a:xfrm>
          <a:prstGeom prst="ellipse">
            <a:avLst/>
          </a:prstGeom>
          <a:ln w="9525">
            <a:solidFill>
              <a:srgbClr val="22B85C">
                <a:alpha val="51000"/>
              </a:srgbClr>
            </a:solidFill>
            <a:prstDash val="solid"/>
          </a:ln>
        </p:spPr>
      </p:sp>
      <p:sp>
        <p:nvSpPr>
          <p:cNvPr id="114" name="Text 94"/>
          <p:cNvSpPr/>
          <p:nvPr/>
        </p:nvSpPr>
        <p:spPr>
          <a:xfrm>
            <a:off x="8860155" y="3669506"/>
            <a:ext cx="221742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web-client</a:t>
            </a:r>
            <a:endParaRPr lang="en-US" sz="938" dirty="0"/>
          </a:p>
        </p:txBody>
      </p:sp>
      <p:sp>
        <p:nvSpPr>
          <p:cNvPr id="115" name="Text 95"/>
          <p:cNvSpPr/>
          <p:nvPr/>
        </p:nvSpPr>
        <p:spPr>
          <a:xfrm>
            <a:off x="11115675" y="3680143"/>
            <a:ext cx="3905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3,577</a:t>
            </a:r>
            <a:endParaRPr lang="en-US" sz="825" dirty="0"/>
          </a:p>
        </p:txBody>
      </p:sp>
      <p:sp>
        <p:nvSpPr>
          <p:cNvPr id="116" name="Text 96"/>
          <p:cNvSpPr/>
          <p:nvPr/>
        </p:nvSpPr>
        <p:spPr>
          <a:xfrm>
            <a:off x="11468100" y="3683794"/>
            <a:ext cx="6858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14m ago</a:t>
            </a:r>
            <a:endParaRPr lang="en-US" sz="788" dirty="0"/>
          </a:p>
        </p:txBody>
      </p:sp>
      <p:sp>
        <p:nvSpPr>
          <p:cNvPr id="117" name="Shape 97"/>
          <p:cNvSpPr/>
          <p:nvPr/>
        </p:nvSpPr>
        <p:spPr>
          <a:xfrm>
            <a:off x="8526780" y="4321969"/>
            <a:ext cx="3779520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8" name="Shape 98"/>
          <p:cNvSpPr/>
          <p:nvPr/>
        </p:nvSpPr>
        <p:spPr>
          <a:xfrm>
            <a:off x="8679180" y="4104005"/>
            <a:ext cx="66675" cy="66675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19" name="Shape 99"/>
          <p:cNvSpPr/>
          <p:nvPr/>
        </p:nvSpPr>
        <p:spPr>
          <a:xfrm>
            <a:off x="8650605" y="4075430"/>
            <a:ext cx="123825" cy="123825"/>
          </a:xfrm>
          <a:prstGeom prst="ellipse">
            <a:avLst/>
          </a:prstGeom>
          <a:ln w="9525">
            <a:solidFill>
              <a:srgbClr val="22B85C">
                <a:alpha val="51000"/>
              </a:srgbClr>
            </a:solidFill>
            <a:prstDash val="solid"/>
          </a:ln>
        </p:spPr>
      </p:sp>
      <p:sp>
        <p:nvSpPr>
          <p:cNvPr id="120" name="Text 100"/>
          <p:cNvSpPr/>
          <p:nvPr/>
        </p:nvSpPr>
        <p:spPr>
          <a:xfrm>
            <a:off x="8860155" y="4048125"/>
            <a:ext cx="221742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938" dirty="0"/>
          </a:p>
        </p:txBody>
      </p:sp>
      <p:sp>
        <p:nvSpPr>
          <p:cNvPr id="121" name="Text 101"/>
          <p:cNvSpPr/>
          <p:nvPr/>
        </p:nvSpPr>
        <p:spPr>
          <a:xfrm>
            <a:off x="11115675" y="4058761"/>
            <a:ext cx="3905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5,210</a:t>
            </a:r>
            <a:endParaRPr lang="en-US" sz="825" dirty="0"/>
          </a:p>
        </p:txBody>
      </p:sp>
      <p:sp>
        <p:nvSpPr>
          <p:cNvPr id="122" name="Text 102"/>
          <p:cNvSpPr/>
          <p:nvPr/>
        </p:nvSpPr>
        <p:spPr>
          <a:xfrm>
            <a:off x="11468100" y="4062412"/>
            <a:ext cx="6858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 ago</a:t>
            </a:r>
            <a:endParaRPr lang="en-US" sz="788" dirty="0"/>
          </a:p>
        </p:txBody>
      </p:sp>
      <p:sp>
        <p:nvSpPr>
          <p:cNvPr id="123" name="Shape 103"/>
          <p:cNvSpPr/>
          <p:nvPr/>
        </p:nvSpPr>
        <p:spPr>
          <a:xfrm>
            <a:off x="8526780" y="4700588"/>
            <a:ext cx="3779520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24" name="Shape 104"/>
          <p:cNvSpPr/>
          <p:nvPr/>
        </p:nvSpPr>
        <p:spPr>
          <a:xfrm>
            <a:off x="8679180" y="4482624"/>
            <a:ext cx="66675" cy="66675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125" name="Text 105"/>
          <p:cNvSpPr/>
          <p:nvPr/>
        </p:nvSpPr>
        <p:spPr>
          <a:xfrm>
            <a:off x="8860155" y="4426744"/>
            <a:ext cx="221742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938" dirty="0"/>
          </a:p>
        </p:txBody>
      </p:sp>
      <p:sp>
        <p:nvSpPr>
          <p:cNvPr id="126" name="Text 106"/>
          <p:cNvSpPr/>
          <p:nvPr/>
        </p:nvSpPr>
        <p:spPr>
          <a:xfrm>
            <a:off x="11115675" y="4437380"/>
            <a:ext cx="3905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1,188</a:t>
            </a:r>
            <a:endParaRPr lang="en-US" sz="825" dirty="0"/>
          </a:p>
        </p:txBody>
      </p:sp>
      <p:sp>
        <p:nvSpPr>
          <p:cNvPr id="127" name="Text 107"/>
          <p:cNvSpPr/>
          <p:nvPr/>
        </p:nvSpPr>
        <p:spPr>
          <a:xfrm>
            <a:off x="11468100" y="4441031"/>
            <a:ext cx="6858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88" dirty="0"/>
          </a:p>
        </p:txBody>
      </p:sp>
      <p:sp>
        <p:nvSpPr>
          <p:cNvPr id="128" name="Shape 108"/>
          <p:cNvSpPr/>
          <p:nvPr/>
        </p:nvSpPr>
        <p:spPr>
          <a:xfrm>
            <a:off x="8526780" y="5079206"/>
            <a:ext cx="3779520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29" name="Shape 109"/>
          <p:cNvSpPr/>
          <p:nvPr/>
        </p:nvSpPr>
        <p:spPr>
          <a:xfrm>
            <a:off x="8679180" y="4861243"/>
            <a:ext cx="66675" cy="66675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30" name="Shape 110"/>
          <p:cNvSpPr/>
          <p:nvPr/>
        </p:nvSpPr>
        <p:spPr>
          <a:xfrm>
            <a:off x="8650605" y="4832668"/>
            <a:ext cx="123825" cy="123825"/>
          </a:xfrm>
          <a:prstGeom prst="ellipse">
            <a:avLst/>
          </a:prstGeom>
          <a:ln w="9525">
            <a:solidFill>
              <a:srgbClr val="22B85C">
                <a:alpha val="51000"/>
              </a:srgbClr>
            </a:solidFill>
            <a:prstDash val="solid"/>
          </a:ln>
        </p:spPr>
      </p:sp>
      <p:sp>
        <p:nvSpPr>
          <p:cNvPr id="131" name="Text 111"/>
          <p:cNvSpPr/>
          <p:nvPr/>
        </p:nvSpPr>
        <p:spPr>
          <a:xfrm>
            <a:off x="8860155" y="4805363"/>
            <a:ext cx="234315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infra-terraform</a:t>
            </a:r>
            <a:endParaRPr lang="en-US" sz="938" dirty="0"/>
          </a:p>
        </p:txBody>
      </p:sp>
      <p:sp>
        <p:nvSpPr>
          <p:cNvPr id="132" name="Text 112"/>
          <p:cNvSpPr/>
          <p:nvPr/>
        </p:nvSpPr>
        <p:spPr>
          <a:xfrm>
            <a:off x="11241405" y="4815999"/>
            <a:ext cx="2647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902</a:t>
            </a:r>
            <a:endParaRPr lang="en-US" sz="825" dirty="0"/>
          </a:p>
        </p:txBody>
      </p:sp>
      <p:sp>
        <p:nvSpPr>
          <p:cNvPr id="133" name="Text 113"/>
          <p:cNvSpPr/>
          <p:nvPr/>
        </p:nvSpPr>
        <p:spPr>
          <a:xfrm>
            <a:off x="11468100" y="4819650"/>
            <a:ext cx="6858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51m ago</a:t>
            </a:r>
            <a:endParaRPr lang="en-US" sz="788" dirty="0"/>
          </a:p>
        </p:txBody>
      </p:sp>
      <p:sp>
        <p:nvSpPr>
          <p:cNvPr id="134" name="Shape 114"/>
          <p:cNvSpPr/>
          <p:nvPr/>
        </p:nvSpPr>
        <p:spPr>
          <a:xfrm>
            <a:off x="8679180" y="5239862"/>
            <a:ext cx="66675" cy="66675"/>
          </a:xfrm>
          <a:prstGeom prst="ellipse">
            <a:avLst/>
          </a:prstGeom>
          <a:solidFill>
            <a:srgbClr val="8B97A8"/>
          </a:solidFill>
          <a:ln/>
        </p:spPr>
      </p:sp>
      <p:sp>
        <p:nvSpPr>
          <p:cNvPr id="135" name="Text 115"/>
          <p:cNvSpPr/>
          <p:nvPr/>
        </p:nvSpPr>
        <p:spPr>
          <a:xfrm>
            <a:off x="8860155" y="5183981"/>
            <a:ext cx="221742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938" dirty="0"/>
          </a:p>
        </p:txBody>
      </p:sp>
      <p:sp>
        <p:nvSpPr>
          <p:cNvPr id="136" name="Text 116"/>
          <p:cNvSpPr/>
          <p:nvPr/>
        </p:nvSpPr>
        <p:spPr>
          <a:xfrm>
            <a:off x="11115675" y="5194618"/>
            <a:ext cx="39052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2,104</a:t>
            </a:r>
            <a:endParaRPr lang="en-US" sz="825" dirty="0"/>
          </a:p>
        </p:txBody>
      </p:sp>
      <p:sp>
        <p:nvSpPr>
          <p:cNvPr id="137" name="Text 117"/>
          <p:cNvSpPr/>
          <p:nvPr/>
        </p:nvSpPr>
        <p:spPr>
          <a:xfrm>
            <a:off x="11468100" y="5198269"/>
            <a:ext cx="6858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138" name="Shape 118"/>
          <p:cNvSpPr/>
          <p:nvPr/>
        </p:nvSpPr>
        <p:spPr>
          <a:xfrm>
            <a:off x="2628900" y="5657850"/>
            <a:ext cx="5697855" cy="4105275"/>
          </a:xfrm>
          <a:prstGeom prst="roundRect">
            <a:avLst>
              <a:gd name="adj" fmla="val 2784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139" name="Shape 119"/>
          <p:cNvSpPr/>
          <p:nvPr/>
        </p:nvSpPr>
        <p:spPr>
          <a:xfrm>
            <a:off x="2638425" y="6076950"/>
            <a:ext cx="5678805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140" name="Text 120"/>
          <p:cNvSpPr/>
          <p:nvPr/>
        </p:nvSpPr>
        <p:spPr>
          <a:xfrm>
            <a:off x="2790825" y="5793581"/>
            <a:ext cx="99710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ACTIVITY</a:t>
            </a:r>
            <a:endParaRPr lang="en-US" sz="825" dirty="0"/>
          </a:p>
        </p:txBody>
      </p:sp>
      <p:sp>
        <p:nvSpPr>
          <p:cNvPr id="141" name="Shape 121"/>
          <p:cNvSpPr/>
          <p:nvPr/>
        </p:nvSpPr>
        <p:spPr>
          <a:xfrm>
            <a:off x="7799070" y="5843588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42" name="Shape 122"/>
          <p:cNvSpPr/>
          <p:nvPr/>
        </p:nvSpPr>
        <p:spPr>
          <a:xfrm>
            <a:off x="7770495" y="5815013"/>
            <a:ext cx="114300" cy="114300"/>
          </a:xfrm>
          <a:prstGeom prst="ellipse">
            <a:avLst/>
          </a:prstGeom>
          <a:ln w="9525">
            <a:solidFill>
              <a:srgbClr val="22B85C">
                <a:alpha val="51000"/>
              </a:srgbClr>
            </a:solidFill>
            <a:prstDash val="solid"/>
          </a:ln>
        </p:spPr>
      </p:sp>
      <p:sp>
        <p:nvSpPr>
          <p:cNvPr id="143" name="Text 123"/>
          <p:cNvSpPr/>
          <p:nvPr/>
        </p:nvSpPr>
        <p:spPr>
          <a:xfrm>
            <a:off x="7913370" y="5793581"/>
            <a:ext cx="32766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825" dirty="0"/>
          </a:p>
        </p:txBody>
      </p:sp>
      <p:sp>
        <p:nvSpPr>
          <p:cNvPr id="144" name="Shape 124"/>
          <p:cNvSpPr/>
          <p:nvPr/>
        </p:nvSpPr>
        <p:spPr>
          <a:xfrm>
            <a:off x="2638425" y="6605588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45" name="Shape 125"/>
          <p:cNvSpPr/>
          <p:nvPr/>
        </p:nvSpPr>
        <p:spPr>
          <a:xfrm>
            <a:off x="2790825" y="6222206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46" name="Text 126"/>
          <p:cNvSpPr/>
          <p:nvPr/>
        </p:nvSpPr>
        <p:spPr>
          <a:xfrm>
            <a:off x="2864168" y="6303962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663" dirty="0"/>
          </a:p>
        </p:txBody>
      </p:sp>
      <p:sp>
        <p:nvSpPr>
          <p:cNvPr id="147" name="Text 127"/>
          <p:cNvSpPr/>
          <p:nvPr/>
        </p:nvSpPr>
        <p:spPr>
          <a:xfrm>
            <a:off x="3152775" y="6181725"/>
            <a:ext cx="35730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composition over inheritance in stores</a:t>
            </a:r>
            <a:endParaRPr lang="en-US" sz="938" dirty="0"/>
          </a:p>
        </p:txBody>
      </p:sp>
      <p:sp>
        <p:nvSpPr>
          <p:cNvPr id="148" name="Text 128"/>
          <p:cNvSpPr/>
          <p:nvPr/>
        </p:nvSpPr>
        <p:spPr>
          <a:xfrm>
            <a:off x="3152775" y="6360319"/>
            <a:ext cx="35730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149" name="Shape 129"/>
          <p:cNvSpPr/>
          <p:nvPr/>
        </p:nvSpPr>
        <p:spPr>
          <a:xfrm>
            <a:off x="6736080" y="6241256"/>
            <a:ext cx="781050" cy="209550"/>
          </a:xfrm>
          <a:prstGeom prst="roundRect">
            <a:avLst>
              <a:gd name="adj" fmla="val 18182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150" name="Text 130"/>
          <p:cNvSpPr/>
          <p:nvPr/>
        </p:nvSpPr>
        <p:spPr>
          <a:xfrm>
            <a:off x="6812280" y="6274594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750" dirty="0"/>
          </a:p>
        </p:txBody>
      </p:sp>
      <p:sp>
        <p:nvSpPr>
          <p:cNvPr id="151" name="Text 131"/>
          <p:cNvSpPr/>
          <p:nvPr/>
        </p:nvSpPr>
        <p:spPr>
          <a:xfrm>
            <a:off x="7555230" y="6274594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152" name="Shape 132"/>
          <p:cNvSpPr/>
          <p:nvPr/>
        </p:nvSpPr>
        <p:spPr>
          <a:xfrm>
            <a:off x="2638425" y="7134225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53" name="Shape 133"/>
          <p:cNvSpPr/>
          <p:nvPr/>
        </p:nvSpPr>
        <p:spPr>
          <a:xfrm>
            <a:off x="2790825" y="6750844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154" name="Text 134"/>
          <p:cNvSpPr/>
          <p:nvPr/>
        </p:nvSpPr>
        <p:spPr>
          <a:xfrm>
            <a:off x="2864168" y="6832600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663" dirty="0"/>
          </a:p>
        </p:txBody>
      </p:sp>
      <p:sp>
        <p:nvSpPr>
          <p:cNvPr id="155" name="Text 135"/>
          <p:cNvSpPr/>
          <p:nvPr/>
        </p:nvSpPr>
        <p:spPr>
          <a:xfrm>
            <a:off x="3152775" y="6710363"/>
            <a:ext cx="3767328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memory carries an originating session id</a:t>
            </a:r>
            <a:endParaRPr lang="en-US" sz="938" dirty="0"/>
          </a:p>
        </p:txBody>
      </p:sp>
      <p:sp>
        <p:nvSpPr>
          <p:cNvPr id="156" name="Text 136"/>
          <p:cNvSpPr/>
          <p:nvPr/>
        </p:nvSpPr>
        <p:spPr>
          <a:xfrm>
            <a:off x="3152775" y="6888956"/>
            <a:ext cx="3767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157" name="Shape 137"/>
          <p:cNvSpPr/>
          <p:nvPr/>
        </p:nvSpPr>
        <p:spPr>
          <a:xfrm>
            <a:off x="6924675" y="6769894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158" name="Text 138"/>
          <p:cNvSpPr/>
          <p:nvPr/>
        </p:nvSpPr>
        <p:spPr>
          <a:xfrm>
            <a:off x="7000875" y="6803231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159" name="Text 139"/>
          <p:cNvSpPr/>
          <p:nvPr/>
        </p:nvSpPr>
        <p:spPr>
          <a:xfrm>
            <a:off x="7555230" y="6803231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160" name="Shape 140"/>
          <p:cNvSpPr/>
          <p:nvPr/>
        </p:nvSpPr>
        <p:spPr>
          <a:xfrm>
            <a:off x="2638425" y="7662863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61" name="Shape 141"/>
          <p:cNvSpPr/>
          <p:nvPr/>
        </p:nvSpPr>
        <p:spPr>
          <a:xfrm>
            <a:off x="2790825" y="7279481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62" name="Text 142"/>
          <p:cNvSpPr/>
          <p:nvPr/>
        </p:nvSpPr>
        <p:spPr>
          <a:xfrm>
            <a:off x="2864168" y="7361237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663" dirty="0"/>
          </a:p>
        </p:txBody>
      </p:sp>
      <p:sp>
        <p:nvSpPr>
          <p:cNvPr id="163" name="Text 143"/>
          <p:cNvSpPr/>
          <p:nvPr/>
        </p:nvSpPr>
        <p:spPr>
          <a:xfrm>
            <a:off x="3152775" y="7239000"/>
            <a:ext cx="3702577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ULID over UUID for entity ids</a:t>
            </a:r>
            <a:endParaRPr lang="en-US" sz="938" dirty="0"/>
          </a:p>
        </p:txBody>
      </p:sp>
      <p:sp>
        <p:nvSpPr>
          <p:cNvPr id="164" name="Text 144"/>
          <p:cNvSpPr/>
          <p:nvPr/>
        </p:nvSpPr>
        <p:spPr>
          <a:xfrm>
            <a:off x="3152775" y="7417594"/>
            <a:ext cx="370257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165" name="Shape 145"/>
          <p:cNvSpPr/>
          <p:nvPr/>
        </p:nvSpPr>
        <p:spPr>
          <a:xfrm>
            <a:off x="6861810" y="7298531"/>
            <a:ext cx="65532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34000"/>
              </a:srgbClr>
            </a:solidFill>
            <a:prstDash val="solid"/>
          </a:ln>
        </p:spPr>
      </p:sp>
      <p:sp>
        <p:nvSpPr>
          <p:cNvPr id="166" name="Text 146"/>
          <p:cNvSpPr/>
          <p:nvPr/>
        </p:nvSpPr>
        <p:spPr>
          <a:xfrm>
            <a:off x="6938010" y="7331869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167" name="Text 147"/>
          <p:cNvSpPr/>
          <p:nvPr/>
        </p:nvSpPr>
        <p:spPr>
          <a:xfrm>
            <a:off x="7555230" y="7331869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168" name="Shape 148"/>
          <p:cNvSpPr/>
          <p:nvPr/>
        </p:nvSpPr>
        <p:spPr>
          <a:xfrm>
            <a:off x="2638425" y="8191500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69" name="Shape 149"/>
          <p:cNvSpPr/>
          <p:nvPr/>
        </p:nvSpPr>
        <p:spPr>
          <a:xfrm>
            <a:off x="2790825" y="7808119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170" name="Text 150"/>
          <p:cNvSpPr/>
          <p:nvPr/>
        </p:nvSpPr>
        <p:spPr>
          <a:xfrm>
            <a:off x="2864168" y="7889875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663" dirty="0"/>
          </a:p>
        </p:txBody>
      </p:sp>
      <p:sp>
        <p:nvSpPr>
          <p:cNvPr id="171" name="Text 151"/>
          <p:cNvSpPr/>
          <p:nvPr/>
        </p:nvSpPr>
        <p:spPr>
          <a:xfrm>
            <a:off x="3152775" y="7767637"/>
            <a:ext cx="3767328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migrations reversible — no destructive down</a:t>
            </a:r>
            <a:endParaRPr lang="en-US" sz="938" dirty="0"/>
          </a:p>
        </p:txBody>
      </p:sp>
      <p:sp>
        <p:nvSpPr>
          <p:cNvPr id="172" name="Text 152"/>
          <p:cNvSpPr/>
          <p:nvPr/>
        </p:nvSpPr>
        <p:spPr>
          <a:xfrm>
            <a:off x="3152775" y="7946231"/>
            <a:ext cx="3767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m.lindqvist·core-api</a:t>
            </a:r>
            <a:endParaRPr lang="en-US" sz="788" dirty="0"/>
          </a:p>
        </p:txBody>
      </p:sp>
      <p:sp>
        <p:nvSpPr>
          <p:cNvPr id="173" name="Shape 153"/>
          <p:cNvSpPr/>
          <p:nvPr/>
        </p:nvSpPr>
        <p:spPr>
          <a:xfrm>
            <a:off x="6924675" y="7827169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174" name="Text 154"/>
          <p:cNvSpPr/>
          <p:nvPr/>
        </p:nvSpPr>
        <p:spPr>
          <a:xfrm>
            <a:off x="7000875" y="7860506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175" name="Text 155"/>
          <p:cNvSpPr/>
          <p:nvPr/>
        </p:nvSpPr>
        <p:spPr>
          <a:xfrm>
            <a:off x="7555230" y="7860506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176" name="Shape 156"/>
          <p:cNvSpPr/>
          <p:nvPr/>
        </p:nvSpPr>
        <p:spPr>
          <a:xfrm>
            <a:off x="2638425" y="8720138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77" name="Shape 157"/>
          <p:cNvSpPr/>
          <p:nvPr/>
        </p:nvSpPr>
        <p:spPr>
          <a:xfrm>
            <a:off x="2790825" y="8336756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178" name="Text 158"/>
          <p:cNvSpPr/>
          <p:nvPr/>
        </p:nvSpPr>
        <p:spPr>
          <a:xfrm>
            <a:off x="2864168" y="8418512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663" dirty="0"/>
          </a:p>
        </p:txBody>
      </p:sp>
      <p:sp>
        <p:nvSpPr>
          <p:cNvPr id="179" name="Text 159"/>
          <p:cNvSpPr/>
          <p:nvPr/>
        </p:nvSpPr>
        <p:spPr>
          <a:xfrm>
            <a:off x="3152775" y="8296275"/>
            <a:ext cx="3767328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use exponential backoff with jitter</a:t>
            </a:r>
            <a:endParaRPr lang="en-US" sz="938" dirty="0"/>
          </a:p>
        </p:txBody>
      </p:sp>
      <p:sp>
        <p:nvSpPr>
          <p:cNvPr id="180" name="Text 160"/>
          <p:cNvSpPr/>
          <p:nvPr/>
        </p:nvSpPr>
        <p:spPr>
          <a:xfrm>
            <a:off x="3152775" y="8474869"/>
            <a:ext cx="3767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l.fontaine·data-pipeline</a:t>
            </a:r>
            <a:endParaRPr lang="en-US" sz="788" dirty="0"/>
          </a:p>
        </p:txBody>
      </p:sp>
      <p:sp>
        <p:nvSpPr>
          <p:cNvPr id="181" name="Shape 161"/>
          <p:cNvSpPr/>
          <p:nvPr/>
        </p:nvSpPr>
        <p:spPr>
          <a:xfrm>
            <a:off x="6924675" y="8355806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182" name="Text 162"/>
          <p:cNvSpPr/>
          <p:nvPr/>
        </p:nvSpPr>
        <p:spPr>
          <a:xfrm>
            <a:off x="7000875" y="8389144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183" name="Text 163"/>
          <p:cNvSpPr/>
          <p:nvPr/>
        </p:nvSpPr>
        <p:spPr>
          <a:xfrm>
            <a:off x="7555230" y="8389144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184" name="Shape 164"/>
          <p:cNvSpPr/>
          <p:nvPr/>
        </p:nvSpPr>
        <p:spPr>
          <a:xfrm>
            <a:off x="2638425" y="9248775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85" name="Shape 165"/>
          <p:cNvSpPr/>
          <p:nvPr/>
        </p:nvSpPr>
        <p:spPr>
          <a:xfrm>
            <a:off x="2790825" y="8865394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86" name="Text 166"/>
          <p:cNvSpPr/>
          <p:nvPr/>
        </p:nvSpPr>
        <p:spPr>
          <a:xfrm>
            <a:off x="2864168" y="8947150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663" dirty="0"/>
          </a:p>
        </p:txBody>
      </p:sp>
      <p:sp>
        <p:nvSpPr>
          <p:cNvPr id="187" name="Text 167"/>
          <p:cNvSpPr/>
          <p:nvPr/>
        </p:nvSpPr>
        <p:spPr>
          <a:xfrm>
            <a:off x="3152775" y="8824913"/>
            <a:ext cx="3249321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tuned redis eviction during incident</a:t>
            </a:r>
            <a:endParaRPr lang="en-US" sz="938" dirty="0"/>
          </a:p>
        </p:txBody>
      </p:sp>
      <p:sp>
        <p:nvSpPr>
          <p:cNvPr id="188" name="Text 168"/>
          <p:cNvSpPr/>
          <p:nvPr/>
        </p:nvSpPr>
        <p:spPr>
          <a:xfrm>
            <a:off x="3152775" y="9003506"/>
            <a:ext cx="324932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189" name="Shape 169"/>
          <p:cNvSpPr/>
          <p:nvPr/>
        </p:nvSpPr>
        <p:spPr>
          <a:xfrm>
            <a:off x="6421755" y="8884444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190" name="Text 170"/>
          <p:cNvSpPr/>
          <p:nvPr/>
        </p:nvSpPr>
        <p:spPr>
          <a:xfrm>
            <a:off x="6497955" y="8917781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191" name="Text 171"/>
          <p:cNvSpPr/>
          <p:nvPr/>
        </p:nvSpPr>
        <p:spPr>
          <a:xfrm>
            <a:off x="7555230" y="8917781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192" name="Shape 172"/>
          <p:cNvSpPr/>
          <p:nvPr/>
        </p:nvSpPr>
        <p:spPr>
          <a:xfrm>
            <a:off x="2638425" y="9777413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93" name="Shape 173"/>
          <p:cNvSpPr/>
          <p:nvPr/>
        </p:nvSpPr>
        <p:spPr>
          <a:xfrm>
            <a:off x="2790825" y="9394031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94" name="Text 174"/>
          <p:cNvSpPr/>
          <p:nvPr/>
        </p:nvSpPr>
        <p:spPr>
          <a:xfrm>
            <a:off x="2864168" y="9475787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663" dirty="0"/>
          </a:p>
        </p:txBody>
      </p:sp>
      <p:sp>
        <p:nvSpPr>
          <p:cNvPr id="195" name="Text 175"/>
          <p:cNvSpPr/>
          <p:nvPr/>
        </p:nvSpPr>
        <p:spPr>
          <a:xfrm>
            <a:off x="3152775" y="9353550"/>
            <a:ext cx="363782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/v2/users silently ignores empty arrays</a:t>
            </a:r>
            <a:endParaRPr lang="en-US" sz="938" dirty="0"/>
          </a:p>
        </p:txBody>
      </p:sp>
      <p:sp>
        <p:nvSpPr>
          <p:cNvPr id="196" name="Text 176"/>
          <p:cNvSpPr/>
          <p:nvPr/>
        </p:nvSpPr>
        <p:spPr>
          <a:xfrm>
            <a:off x="3152775" y="9532144"/>
            <a:ext cx="3637826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197" name="Shape 177"/>
          <p:cNvSpPr/>
          <p:nvPr/>
        </p:nvSpPr>
        <p:spPr>
          <a:xfrm>
            <a:off x="6798945" y="9413081"/>
            <a:ext cx="718185" cy="209550"/>
          </a:xfrm>
          <a:prstGeom prst="roundRect">
            <a:avLst>
              <a:gd name="adj" fmla="val 1818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34000"/>
              </a:srgbClr>
            </a:solidFill>
            <a:prstDash val="solid"/>
          </a:ln>
        </p:spPr>
      </p:sp>
      <p:sp>
        <p:nvSpPr>
          <p:cNvPr id="198" name="Text 178"/>
          <p:cNvSpPr/>
          <p:nvPr/>
        </p:nvSpPr>
        <p:spPr>
          <a:xfrm>
            <a:off x="6875145" y="9446419"/>
            <a:ext cx="6419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750" dirty="0"/>
          </a:p>
        </p:txBody>
      </p:sp>
      <p:sp>
        <p:nvSpPr>
          <p:cNvPr id="199" name="Text 179"/>
          <p:cNvSpPr/>
          <p:nvPr/>
        </p:nvSpPr>
        <p:spPr>
          <a:xfrm>
            <a:off x="7555230" y="9446419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00" name="Shape 180"/>
          <p:cNvSpPr/>
          <p:nvPr/>
        </p:nvSpPr>
        <p:spPr>
          <a:xfrm>
            <a:off x="2638425" y="10306050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01" name="Shape 181"/>
          <p:cNvSpPr/>
          <p:nvPr/>
        </p:nvSpPr>
        <p:spPr>
          <a:xfrm>
            <a:off x="2790825" y="9922669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02" name="Text 182"/>
          <p:cNvSpPr/>
          <p:nvPr/>
        </p:nvSpPr>
        <p:spPr>
          <a:xfrm>
            <a:off x="2864168" y="10004425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663" dirty="0"/>
          </a:p>
        </p:txBody>
      </p:sp>
      <p:sp>
        <p:nvSpPr>
          <p:cNvPr id="203" name="Text 183"/>
          <p:cNvSpPr/>
          <p:nvPr/>
        </p:nvSpPr>
        <p:spPr>
          <a:xfrm>
            <a:off x="3152775" y="9882188"/>
            <a:ext cx="35730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are structured JSON, never printf</a:t>
            </a:r>
            <a:endParaRPr lang="en-US" sz="938" dirty="0"/>
          </a:p>
        </p:txBody>
      </p:sp>
      <p:sp>
        <p:nvSpPr>
          <p:cNvPr id="204" name="Text 184"/>
          <p:cNvSpPr/>
          <p:nvPr/>
        </p:nvSpPr>
        <p:spPr>
          <a:xfrm>
            <a:off x="3152775" y="10060781"/>
            <a:ext cx="35730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205" name="Shape 185"/>
          <p:cNvSpPr/>
          <p:nvPr/>
        </p:nvSpPr>
        <p:spPr>
          <a:xfrm>
            <a:off x="6736080" y="9941719"/>
            <a:ext cx="781050" cy="209550"/>
          </a:xfrm>
          <a:prstGeom prst="roundRect">
            <a:avLst>
              <a:gd name="adj" fmla="val 18182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206" name="Text 186"/>
          <p:cNvSpPr/>
          <p:nvPr/>
        </p:nvSpPr>
        <p:spPr>
          <a:xfrm>
            <a:off x="6812280" y="9975056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750" dirty="0"/>
          </a:p>
        </p:txBody>
      </p:sp>
      <p:sp>
        <p:nvSpPr>
          <p:cNvPr id="207" name="Text 187"/>
          <p:cNvSpPr/>
          <p:nvPr/>
        </p:nvSpPr>
        <p:spPr>
          <a:xfrm>
            <a:off x="7555230" y="9975056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08" name="Shape 188"/>
          <p:cNvSpPr/>
          <p:nvPr/>
        </p:nvSpPr>
        <p:spPr>
          <a:xfrm>
            <a:off x="2638425" y="10834688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09" name="Shape 189"/>
          <p:cNvSpPr/>
          <p:nvPr/>
        </p:nvSpPr>
        <p:spPr>
          <a:xfrm>
            <a:off x="2790825" y="10451306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210" name="Text 190"/>
          <p:cNvSpPr/>
          <p:nvPr/>
        </p:nvSpPr>
        <p:spPr>
          <a:xfrm>
            <a:off x="2864168" y="10533063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663" dirty="0"/>
          </a:p>
        </p:txBody>
      </p:sp>
      <p:sp>
        <p:nvSpPr>
          <p:cNvPr id="211" name="Text 191"/>
          <p:cNvSpPr/>
          <p:nvPr/>
        </p:nvSpPr>
        <p:spPr>
          <a:xfrm>
            <a:off x="3152775" y="10410825"/>
            <a:ext cx="3249321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traced &amp; fixed the cold-start auth race</a:t>
            </a:r>
            <a:endParaRPr lang="en-US" sz="938" dirty="0"/>
          </a:p>
        </p:txBody>
      </p:sp>
      <p:sp>
        <p:nvSpPr>
          <p:cNvPr id="212" name="Text 192"/>
          <p:cNvSpPr/>
          <p:nvPr/>
        </p:nvSpPr>
        <p:spPr>
          <a:xfrm>
            <a:off x="3152775" y="10589419"/>
            <a:ext cx="324932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l.fontaine·auth-service</a:t>
            </a:r>
            <a:endParaRPr lang="en-US" sz="788" dirty="0"/>
          </a:p>
        </p:txBody>
      </p:sp>
      <p:sp>
        <p:nvSpPr>
          <p:cNvPr id="213" name="Shape 193"/>
          <p:cNvSpPr/>
          <p:nvPr/>
        </p:nvSpPr>
        <p:spPr>
          <a:xfrm>
            <a:off x="6421755" y="10470356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214" name="Text 194"/>
          <p:cNvSpPr/>
          <p:nvPr/>
        </p:nvSpPr>
        <p:spPr>
          <a:xfrm>
            <a:off x="6497955" y="10503694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215" name="Text 195"/>
          <p:cNvSpPr/>
          <p:nvPr/>
        </p:nvSpPr>
        <p:spPr>
          <a:xfrm>
            <a:off x="7555230" y="10503694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16" name="Shape 196"/>
          <p:cNvSpPr/>
          <p:nvPr/>
        </p:nvSpPr>
        <p:spPr>
          <a:xfrm>
            <a:off x="2638425" y="9324975"/>
            <a:ext cx="567880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17" name="Text 197"/>
          <p:cNvSpPr/>
          <p:nvPr/>
        </p:nvSpPr>
        <p:spPr>
          <a:xfrm>
            <a:off x="2790825" y="9429750"/>
            <a:ext cx="554436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full activity feed →</a:t>
            </a:r>
            <a:endParaRPr lang="en-US" sz="825" dirty="0"/>
          </a:p>
        </p:txBody>
      </p:sp>
      <p:sp>
        <p:nvSpPr>
          <p:cNvPr id="218" name="Shape 198"/>
          <p:cNvSpPr/>
          <p:nvPr/>
        </p:nvSpPr>
        <p:spPr>
          <a:xfrm>
            <a:off x="8517255" y="5657850"/>
            <a:ext cx="3798570" cy="4105275"/>
          </a:xfrm>
          <a:prstGeom prst="roundRect">
            <a:avLst>
              <a:gd name="adj" fmla="val 3009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219" name="Shape 199"/>
          <p:cNvSpPr/>
          <p:nvPr/>
        </p:nvSpPr>
        <p:spPr>
          <a:xfrm>
            <a:off x="8526780" y="6076950"/>
            <a:ext cx="3779520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220" name="Text 200"/>
          <p:cNvSpPr/>
          <p:nvPr/>
        </p:nvSpPr>
        <p:spPr>
          <a:xfrm>
            <a:off x="8679180" y="5793581"/>
            <a:ext cx="158829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ACTIVE PROJECTS</a:t>
            </a:r>
            <a:endParaRPr lang="en-US" sz="825" dirty="0"/>
          </a:p>
        </p:txBody>
      </p:sp>
      <p:sp>
        <p:nvSpPr>
          <p:cNvPr id="221" name="Text 201"/>
          <p:cNvSpPr/>
          <p:nvPr/>
        </p:nvSpPr>
        <p:spPr>
          <a:xfrm>
            <a:off x="8602980" y="6251893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63" dirty="0"/>
          </a:p>
        </p:txBody>
      </p:sp>
      <p:sp>
        <p:nvSpPr>
          <p:cNvPr id="222" name="Shape 202"/>
          <p:cNvSpPr/>
          <p:nvPr/>
        </p:nvSpPr>
        <p:spPr>
          <a:xfrm>
            <a:off x="9707880" y="6238875"/>
            <a:ext cx="179832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3" name="Shape 203"/>
          <p:cNvSpPr/>
          <p:nvPr/>
        </p:nvSpPr>
        <p:spPr>
          <a:xfrm>
            <a:off x="9707880" y="6238875"/>
            <a:ext cx="1798320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224" name="Shape 204"/>
          <p:cNvSpPr/>
          <p:nvPr/>
        </p:nvSpPr>
        <p:spPr>
          <a:xfrm>
            <a:off x="11487150" y="6238875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225" name="Text 205"/>
          <p:cNvSpPr/>
          <p:nvPr/>
        </p:nvSpPr>
        <p:spPr>
          <a:xfrm>
            <a:off x="11544300" y="6248400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5,210</a:t>
            </a:r>
            <a:endParaRPr lang="en-US" sz="900" dirty="0"/>
          </a:p>
        </p:txBody>
      </p:sp>
      <p:sp>
        <p:nvSpPr>
          <p:cNvPr id="226" name="Text 206"/>
          <p:cNvSpPr/>
          <p:nvPr/>
        </p:nvSpPr>
        <p:spPr>
          <a:xfrm>
            <a:off x="8602980" y="654716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63" dirty="0"/>
          </a:p>
        </p:txBody>
      </p:sp>
      <p:sp>
        <p:nvSpPr>
          <p:cNvPr id="227" name="Shape 207"/>
          <p:cNvSpPr/>
          <p:nvPr/>
        </p:nvSpPr>
        <p:spPr>
          <a:xfrm>
            <a:off x="9707880" y="6534150"/>
            <a:ext cx="179832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28" name="Shape 208"/>
          <p:cNvSpPr/>
          <p:nvPr/>
        </p:nvSpPr>
        <p:spPr>
          <a:xfrm>
            <a:off x="9707880" y="6534150"/>
            <a:ext cx="1664017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229" name="Shape 209"/>
          <p:cNvSpPr/>
          <p:nvPr/>
        </p:nvSpPr>
        <p:spPr>
          <a:xfrm>
            <a:off x="11352848" y="6534150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230" name="Text 210"/>
          <p:cNvSpPr/>
          <p:nvPr/>
        </p:nvSpPr>
        <p:spPr>
          <a:xfrm>
            <a:off x="11544300" y="654367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4,821</a:t>
            </a:r>
            <a:endParaRPr lang="en-US" sz="900" dirty="0"/>
          </a:p>
        </p:txBody>
      </p:sp>
      <p:sp>
        <p:nvSpPr>
          <p:cNvPr id="231" name="Text 211"/>
          <p:cNvSpPr/>
          <p:nvPr/>
        </p:nvSpPr>
        <p:spPr>
          <a:xfrm>
            <a:off x="8602980" y="6842443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web-client</a:t>
            </a:r>
            <a:endParaRPr lang="en-US" sz="863" dirty="0"/>
          </a:p>
        </p:txBody>
      </p:sp>
      <p:sp>
        <p:nvSpPr>
          <p:cNvPr id="232" name="Shape 212"/>
          <p:cNvSpPr/>
          <p:nvPr/>
        </p:nvSpPr>
        <p:spPr>
          <a:xfrm>
            <a:off x="9707880" y="6829425"/>
            <a:ext cx="179832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3" name="Shape 213"/>
          <p:cNvSpPr/>
          <p:nvPr/>
        </p:nvSpPr>
        <p:spPr>
          <a:xfrm>
            <a:off x="9707880" y="6829425"/>
            <a:ext cx="1234599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234" name="Shape 214"/>
          <p:cNvSpPr/>
          <p:nvPr/>
        </p:nvSpPr>
        <p:spPr>
          <a:xfrm>
            <a:off x="10923429" y="6829425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235" name="Text 215"/>
          <p:cNvSpPr/>
          <p:nvPr/>
        </p:nvSpPr>
        <p:spPr>
          <a:xfrm>
            <a:off x="11544300" y="6838950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3,577</a:t>
            </a:r>
            <a:endParaRPr lang="en-US" sz="900" dirty="0"/>
          </a:p>
        </p:txBody>
      </p:sp>
      <p:sp>
        <p:nvSpPr>
          <p:cNvPr id="236" name="Text 216"/>
          <p:cNvSpPr/>
          <p:nvPr/>
        </p:nvSpPr>
        <p:spPr>
          <a:xfrm>
            <a:off x="8602980" y="713771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863" dirty="0"/>
          </a:p>
        </p:txBody>
      </p:sp>
      <p:sp>
        <p:nvSpPr>
          <p:cNvPr id="237" name="Shape 217"/>
          <p:cNvSpPr/>
          <p:nvPr/>
        </p:nvSpPr>
        <p:spPr>
          <a:xfrm>
            <a:off x="9707880" y="7124700"/>
            <a:ext cx="179832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8" name="Shape 218"/>
          <p:cNvSpPr/>
          <p:nvPr/>
        </p:nvSpPr>
        <p:spPr>
          <a:xfrm>
            <a:off x="9707880" y="7124700"/>
            <a:ext cx="1014730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239" name="Shape 219"/>
          <p:cNvSpPr/>
          <p:nvPr/>
        </p:nvSpPr>
        <p:spPr>
          <a:xfrm>
            <a:off x="10703560" y="7124700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240" name="Text 220"/>
          <p:cNvSpPr/>
          <p:nvPr/>
        </p:nvSpPr>
        <p:spPr>
          <a:xfrm>
            <a:off x="11544300" y="713422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2,940</a:t>
            </a:r>
            <a:endParaRPr lang="en-US" sz="900" dirty="0"/>
          </a:p>
        </p:txBody>
      </p:sp>
      <p:sp>
        <p:nvSpPr>
          <p:cNvPr id="241" name="Text 221"/>
          <p:cNvSpPr/>
          <p:nvPr/>
        </p:nvSpPr>
        <p:spPr>
          <a:xfrm>
            <a:off x="8602980" y="7432993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242" name="Shape 222"/>
          <p:cNvSpPr/>
          <p:nvPr/>
        </p:nvSpPr>
        <p:spPr>
          <a:xfrm>
            <a:off x="9707880" y="7419975"/>
            <a:ext cx="179832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43" name="Shape 223"/>
          <p:cNvSpPr/>
          <p:nvPr/>
        </p:nvSpPr>
        <p:spPr>
          <a:xfrm>
            <a:off x="9707880" y="7419975"/>
            <a:ext cx="726123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244" name="Shape 224"/>
          <p:cNvSpPr/>
          <p:nvPr/>
        </p:nvSpPr>
        <p:spPr>
          <a:xfrm>
            <a:off x="10414953" y="7419975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245" name="Text 225"/>
          <p:cNvSpPr/>
          <p:nvPr/>
        </p:nvSpPr>
        <p:spPr>
          <a:xfrm>
            <a:off x="11544300" y="7429500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2,104</a:t>
            </a:r>
            <a:endParaRPr lang="en-US" sz="900" dirty="0"/>
          </a:p>
        </p:txBody>
      </p:sp>
      <p:sp>
        <p:nvSpPr>
          <p:cNvPr id="246" name="Text 226"/>
          <p:cNvSpPr/>
          <p:nvPr/>
        </p:nvSpPr>
        <p:spPr>
          <a:xfrm>
            <a:off x="8602980" y="772826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863" dirty="0"/>
          </a:p>
        </p:txBody>
      </p:sp>
      <p:sp>
        <p:nvSpPr>
          <p:cNvPr id="247" name="Shape 227"/>
          <p:cNvSpPr/>
          <p:nvPr/>
        </p:nvSpPr>
        <p:spPr>
          <a:xfrm>
            <a:off x="9707880" y="7715250"/>
            <a:ext cx="179832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48" name="Shape 228"/>
          <p:cNvSpPr/>
          <p:nvPr/>
        </p:nvSpPr>
        <p:spPr>
          <a:xfrm>
            <a:off x="9707880" y="7715250"/>
            <a:ext cx="563563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249" name="Shape 229"/>
          <p:cNvSpPr/>
          <p:nvPr/>
        </p:nvSpPr>
        <p:spPr>
          <a:xfrm>
            <a:off x="10252393" y="7715250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250" name="Text 230"/>
          <p:cNvSpPr/>
          <p:nvPr/>
        </p:nvSpPr>
        <p:spPr>
          <a:xfrm>
            <a:off x="11544300" y="772477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1,633</a:t>
            </a:r>
            <a:endParaRPr lang="en-US" sz="900" dirty="0"/>
          </a:p>
        </p:txBody>
      </p:sp>
      <p:sp>
        <p:nvSpPr>
          <p:cNvPr id="251" name="Shape 231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52" name="Shape 232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53" name="Shape 233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4" name="Text 234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55" name="Text 235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56" name="Text 236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57" name="Shape 237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8" name="Text 238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59" name="Text 239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60" name="Shape 240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61" name="Shape 241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2" name="Shape 242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63" name="Shape 243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64" name="Text 244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65" name="Text 245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66" name="Shape 246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67" name="Text 247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68" name="Text 248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69" name="Text 249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70" name="Shape 250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71" name="Shape 251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2" name="Shape 252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73" name="Shape 253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74" name="Text 254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75" name="Text 255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76" name="Shape 256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77" name="Text 257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78" name="Text 258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79" name="Text 259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80" name="Shape 260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81" name="Shape 261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2" name="Shape 262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83" name="Shape 263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84" name="Text 264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85" name="Text 265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286" name="Shape 266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87" name="Text 267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88" name="Text 268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289" name="Text 269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290" name="Shape 270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91" name="Shape 271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292" name="Text 272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293" name="Text 273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294" name="Shape 274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95" name="Text 275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96" name="Text 276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297" name="Text 277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298" name="Shape 278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99" name="Shape 279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300" name="Text 280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301" name="Text 281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302" name="Shape 282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303" name="Text 283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304" name="Text 284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305" name="Text 285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306" name="Shape 286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07" name="Shape 287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308" name="Text 288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309" name="Text 289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310" name="Shape 290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311" name="Text 291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12" name="Text 292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313" name="Text 293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314" name="Shape 294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15" name="Shape 295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316" name="Text 296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317" name="Text 297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318" name="Shape 298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319" name="Text 299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320" name="Text 300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321" name="Text 301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sp>
        <p:nvSpPr>
          <p:cNvPr id="15" name="Shape 10"/>
          <p:cNvSpPr/>
          <p:nvPr/>
        </p:nvSpPr>
        <p:spPr>
          <a:xfrm>
            <a:off x="114300" y="1345406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114300" y="1421606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7" name="Text 17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18288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BY REPOSITORY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1828800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Text 46"/>
          <p:cNvSpPr/>
          <p:nvPr/>
        </p:nvSpPr>
        <p:spPr>
          <a:xfrm>
            <a:off x="2628900" y="838200"/>
            <a:ext cx="21678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ACCESSIBLE REPOSITORIES ·</a:t>
            </a:r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25" dirty="0"/>
          </a:p>
        </p:txBody>
      </p:sp>
      <p:sp>
        <p:nvSpPr>
          <p:cNvPr id="66" name="Text 47"/>
          <p:cNvSpPr/>
          <p:nvPr/>
        </p:nvSpPr>
        <p:spPr>
          <a:xfrm>
            <a:off x="10869930" y="838200"/>
            <a:ext cx="15220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22,375memories indexed</a:t>
            </a:r>
            <a:endParaRPr lang="en-US" sz="825" dirty="0"/>
          </a:p>
        </p:txBody>
      </p:sp>
      <p:sp>
        <p:nvSpPr>
          <p:cNvPr id="67" name="Shape 48"/>
          <p:cNvSpPr/>
          <p:nvPr/>
        </p:nvSpPr>
        <p:spPr>
          <a:xfrm>
            <a:off x="2628900" y="1147763"/>
            <a:ext cx="3127375" cy="2016919"/>
          </a:xfrm>
          <a:prstGeom prst="roundRect">
            <a:avLst>
              <a:gd name="adj" fmla="val 56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68" name="Shape 49"/>
          <p:cNvSpPr/>
          <p:nvPr/>
        </p:nvSpPr>
        <p:spPr>
          <a:xfrm>
            <a:off x="2638425" y="1824038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69" name="Shape 50"/>
          <p:cNvSpPr/>
          <p:nvPr/>
        </p:nvSpPr>
        <p:spPr>
          <a:xfrm>
            <a:off x="2790825" y="1339374"/>
            <a:ext cx="85725" cy="9525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70" name="Text 51"/>
          <p:cNvSpPr/>
          <p:nvPr/>
        </p:nvSpPr>
        <p:spPr>
          <a:xfrm>
            <a:off x="2952750" y="1290638"/>
            <a:ext cx="69342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1013" dirty="0"/>
          </a:p>
        </p:txBody>
      </p:sp>
      <p:sp>
        <p:nvSpPr>
          <p:cNvPr id="71" name="Text 52"/>
          <p:cNvSpPr/>
          <p:nvPr/>
        </p:nvSpPr>
        <p:spPr>
          <a:xfrm>
            <a:off x="2790825" y="1540669"/>
            <a:ext cx="8553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eu-west-1</a:t>
            </a:r>
            <a:endParaRPr lang="en-US" sz="788" dirty="0"/>
          </a:p>
        </p:txBody>
      </p:sp>
      <p:sp>
        <p:nvSpPr>
          <p:cNvPr id="72" name="Shape 53"/>
          <p:cNvSpPr/>
          <p:nvPr/>
        </p:nvSpPr>
        <p:spPr>
          <a:xfrm>
            <a:off x="4780439" y="1290638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73" name="Shape 54"/>
          <p:cNvSpPr/>
          <p:nvPr/>
        </p:nvSpPr>
        <p:spPr>
          <a:xfrm>
            <a:off x="4875689" y="1375093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74" name="Text 55"/>
          <p:cNvSpPr/>
          <p:nvPr/>
        </p:nvSpPr>
        <p:spPr>
          <a:xfrm>
            <a:off x="5009038" y="1336993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75" name="Text 56"/>
          <p:cNvSpPr/>
          <p:nvPr/>
        </p:nvSpPr>
        <p:spPr>
          <a:xfrm>
            <a:off x="2790825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76" name="Text 57"/>
          <p:cNvSpPr/>
          <p:nvPr/>
        </p:nvSpPr>
        <p:spPr>
          <a:xfrm>
            <a:off x="2790825" y="2166938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4,821</a:t>
            </a:r>
            <a:endParaRPr lang="en-US" sz="1125" dirty="0"/>
          </a:p>
        </p:txBody>
      </p:sp>
      <p:sp>
        <p:nvSpPr>
          <p:cNvPr id="77" name="Text 58"/>
          <p:cNvSpPr/>
          <p:nvPr/>
        </p:nvSpPr>
        <p:spPr>
          <a:xfrm>
            <a:off x="3763486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</a:t>
            </a:r>
            <a:endParaRPr lang="en-US" sz="750" dirty="0"/>
          </a:p>
        </p:txBody>
      </p:sp>
      <p:sp>
        <p:nvSpPr>
          <p:cNvPr id="78" name="Text 59"/>
          <p:cNvSpPr/>
          <p:nvPr/>
        </p:nvSpPr>
        <p:spPr>
          <a:xfrm>
            <a:off x="3763486" y="2166938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25" dirty="0"/>
          </a:p>
        </p:txBody>
      </p:sp>
      <p:sp>
        <p:nvSpPr>
          <p:cNvPr id="79" name="Text 60"/>
          <p:cNvSpPr/>
          <p:nvPr/>
        </p:nvSpPr>
        <p:spPr>
          <a:xfrm>
            <a:off x="4736148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80" name="Text 61"/>
          <p:cNvSpPr/>
          <p:nvPr/>
        </p:nvSpPr>
        <p:spPr>
          <a:xfrm>
            <a:off x="4736148" y="2185988"/>
            <a:ext cx="9345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 ago</a:t>
            </a:r>
            <a:endParaRPr lang="en-US" sz="975" dirty="0"/>
          </a:p>
        </p:txBody>
      </p:sp>
      <p:sp>
        <p:nvSpPr>
          <p:cNvPr id="81" name="Shape 62"/>
          <p:cNvSpPr/>
          <p:nvPr/>
        </p:nvSpPr>
        <p:spPr>
          <a:xfrm>
            <a:off x="2790825" y="2576513"/>
            <a:ext cx="2803525" cy="5715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82" name="Shape 63"/>
          <p:cNvSpPr/>
          <p:nvPr/>
        </p:nvSpPr>
        <p:spPr>
          <a:xfrm>
            <a:off x="2790825" y="2576513"/>
            <a:ext cx="2594134" cy="5715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83" name="Shape 64"/>
          <p:cNvSpPr/>
          <p:nvPr/>
        </p:nvSpPr>
        <p:spPr>
          <a:xfrm>
            <a:off x="2638425" y="2805113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84" name="Text 65"/>
          <p:cNvSpPr/>
          <p:nvPr/>
        </p:nvSpPr>
        <p:spPr>
          <a:xfrm>
            <a:off x="2790825" y="2909888"/>
            <a:ext cx="61626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●healthy</a:t>
            </a:r>
            <a:endParaRPr lang="en-US" sz="788" dirty="0"/>
          </a:p>
        </p:txBody>
      </p:sp>
      <p:sp>
        <p:nvSpPr>
          <p:cNvPr id="85" name="Text 66"/>
          <p:cNvSpPr/>
          <p:nvPr/>
        </p:nvSpPr>
        <p:spPr>
          <a:xfrm>
            <a:off x="4574223" y="2909888"/>
            <a:ext cx="109632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memories →</a:t>
            </a:r>
            <a:endParaRPr lang="en-US" sz="788" dirty="0"/>
          </a:p>
        </p:txBody>
      </p:sp>
      <p:sp>
        <p:nvSpPr>
          <p:cNvPr id="86" name="Shape 67"/>
          <p:cNvSpPr/>
          <p:nvPr/>
        </p:nvSpPr>
        <p:spPr>
          <a:xfrm>
            <a:off x="5908675" y="1147763"/>
            <a:ext cx="3127375" cy="2016919"/>
          </a:xfrm>
          <a:prstGeom prst="roundRect">
            <a:avLst>
              <a:gd name="adj" fmla="val 56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87" name="Shape 68"/>
          <p:cNvSpPr/>
          <p:nvPr/>
        </p:nvSpPr>
        <p:spPr>
          <a:xfrm>
            <a:off x="5918200" y="1824038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88" name="Shape 69"/>
          <p:cNvSpPr/>
          <p:nvPr/>
        </p:nvSpPr>
        <p:spPr>
          <a:xfrm>
            <a:off x="6070600" y="1339374"/>
            <a:ext cx="85725" cy="9525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89" name="Text 70"/>
          <p:cNvSpPr/>
          <p:nvPr/>
        </p:nvSpPr>
        <p:spPr>
          <a:xfrm>
            <a:off x="6232525" y="1290638"/>
            <a:ext cx="100203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1013" dirty="0"/>
          </a:p>
        </p:txBody>
      </p:sp>
      <p:sp>
        <p:nvSpPr>
          <p:cNvPr id="90" name="Text 71"/>
          <p:cNvSpPr/>
          <p:nvPr/>
        </p:nvSpPr>
        <p:spPr>
          <a:xfrm>
            <a:off x="6070600" y="1540669"/>
            <a:ext cx="116395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eu-west-1</a:t>
            </a:r>
            <a:endParaRPr lang="en-US" sz="788" dirty="0"/>
          </a:p>
        </p:txBody>
      </p:sp>
      <p:sp>
        <p:nvSpPr>
          <p:cNvPr id="91" name="Shape 72"/>
          <p:cNvSpPr/>
          <p:nvPr/>
        </p:nvSpPr>
        <p:spPr>
          <a:xfrm>
            <a:off x="8060214" y="1290638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92" name="Shape 73"/>
          <p:cNvSpPr/>
          <p:nvPr/>
        </p:nvSpPr>
        <p:spPr>
          <a:xfrm>
            <a:off x="8155464" y="1375093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93" name="Text 74"/>
          <p:cNvSpPr/>
          <p:nvPr/>
        </p:nvSpPr>
        <p:spPr>
          <a:xfrm>
            <a:off x="8288814" y="1336993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94" name="Text 75"/>
          <p:cNvSpPr/>
          <p:nvPr/>
        </p:nvSpPr>
        <p:spPr>
          <a:xfrm>
            <a:off x="6070600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95" name="Text 76"/>
          <p:cNvSpPr/>
          <p:nvPr/>
        </p:nvSpPr>
        <p:spPr>
          <a:xfrm>
            <a:off x="6070600" y="2166938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2,940</a:t>
            </a:r>
            <a:endParaRPr lang="en-US" sz="1125" dirty="0"/>
          </a:p>
        </p:txBody>
      </p:sp>
      <p:sp>
        <p:nvSpPr>
          <p:cNvPr id="96" name="Text 77"/>
          <p:cNvSpPr/>
          <p:nvPr/>
        </p:nvSpPr>
        <p:spPr>
          <a:xfrm>
            <a:off x="7043261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</a:t>
            </a:r>
            <a:endParaRPr lang="en-US" sz="750" dirty="0"/>
          </a:p>
        </p:txBody>
      </p:sp>
      <p:sp>
        <p:nvSpPr>
          <p:cNvPr id="97" name="Text 78"/>
          <p:cNvSpPr/>
          <p:nvPr/>
        </p:nvSpPr>
        <p:spPr>
          <a:xfrm>
            <a:off x="7043261" y="2166938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25" dirty="0"/>
          </a:p>
        </p:txBody>
      </p:sp>
      <p:sp>
        <p:nvSpPr>
          <p:cNvPr id="98" name="Text 79"/>
          <p:cNvSpPr/>
          <p:nvPr/>
        </p:nvSpPr>
        <p:spPr>
          <a:xfrm>
            <a:off x="8015922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99" name="Text 80"/>
          <p:cNvSpPr/>
          <p:nvPr/>
        </p:nvSpPr>
        <p:spPr>
          <a:xfrm>
            <a:off x="8015922" y="2185988"/>
            <a:ext cx="9345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6m ago</a:t>
            </a:r>
            <a:endParaRPr lang="en-US" sz="975" dirty="0"/>
          </a:p>
        </p:txBody>
      </p:sp>
      <p:sp>
        <p:nvSpPr>
          <p:cNvPr id="100" name="Shape 81"/>
          <p:cNvSpPr/>
          <p:nvPr/>
        </p:nvSpPr>
        <p:spPr>
          <a:xfrm>
            <a:off x="6070600" y="2576513"/>
            <a:ext cx="2803525" cy="5715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101" name="Shape 82"/>
          <p:cNvSpPr/>
          <p:nvPr/>
        </p:nvSpPr>
        <p:spPr>
          <a:xfrm>
            <a:off x="6070600" y="2576513"/>
            <a:ext cx="1581944" cy="5715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02" name="Shape 83"/>
          <p:cNvSpPr/>
          <p:nvPr/>
        </p:nvSpPr>
        <p:spPr>
          <a:xfrm>
            <a:off x="5918200" y="2805113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03" name="Text 84"/>
          <p:cNvSpPr/>
          <p:nvPr/>
        </p:nvSpPr>
        <p:spPr>
          <a:xfrm>
            <a:off x="6070600" y="2909888"/>
            <a:ext cx="61626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●healthy</a:t>
            </a:r>
            <a:endParaRPr lang="en-US" sz="788" dirty="0"/>
          </a:p>
        </p:txBody>
      </p:sp>
      <p:sp>
        <p:nvSpPr>
          <p:cNvPr id="104" name="Text 85"/>
          <p:cNvSpPr/>
          <p:nvPr/>
        </p:nvSpPr>
        <p:spPr>
          <a:xfrm>
            <a:off x="7853997" y="2909888"/>
            <a:ext cx="1096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memories →</a:t>
            </a:r>
            <a:endParaRPr lang="en-US" sz="788" dirty="0"/>
          </a:p>
        </p:txBody>
      </p:sp>
      <p:sp>
        <p:nvSpPr>
          <p:cNvPr id="105" name="Shape 86"/>
          <p:cNvSpPr/>
          <p:nvPr/>
        </p:nvSpPr>
        <p:spPr>
          <a:xfrm>
            <a:off x="9188450" y="1147763"/>
            <a:ext cx="3127375" cy="2016919"/>
          </a:xfrm>
          <a:prstGeom prst="roundRect">
            <a:avLst>
              <a:gd name="adj" fmla="val 56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06" name="Shape 87"/>
          <p:cNvSpPr/>
          <p:nvPr/>
        </p:nvSpPr>
        <p:spPr>
          <a:xfrm>
            <a:off x="9197975" y="1824038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07" name="Shape 88"/>
          <p:cNvSpPr/>
          <p:nvPr/>
        </p:nvSpPr>
        <p:spPr>
          <a:xfrm>
            <a:off x="9350375" y="1339374"/>
            <a:ext cx="85725" cy="95250"/>
          </a:xfrm>
          <a:prstGeom prst="rect">
            <a:avLst/>
          </a:prstGeom>
          <a:solidFill>
            <a:srgbClr val="E0A22E"/>
          </a:solidFill>
          <a:ln/>
        </p:spPr>
      </p:sp>
      <p:sp>
        <p:nvSpPr>
          <p:cNvPr id="108" name="Text 89"/>
          <p:cNvSpPr/>
          <p:nvPr/>
        </p:nvSpPr>
        <p:spPr>
          <a:xfrm>
            <a:off x="9512300" y="1290638"/>
            <a:ext cx="115633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1013" dirty="0"/>
          </a:p>
        </p:txBody>
      </p:sp>
      <p:sp>
        <p:nvSpPr>
          <p:cNvPr id="109" name="Text 90"/>
          <p:cNvSpPr/>
          <p:nvPr/>
        </p:nvSpPr>
        <p:spPr>
          <a:xfrm>
            <a:off x="9350375" y="1540669"/>
            <a:ext cx="1318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</a:t>
            </a:r>
            <a:endParaRPr lang="en-US" sz="788" dirty="0"/>
          </a:p>
        </p:txBody>
      </p:sp>
      <p:sp>
        <p:nvSpPr>
          <p:cNvPr id="110" name="Shape 91"/>
          <p:cNvSpPr/>
          <p:nvPr/>
        </p:nvSpPr>
        <p:spPr>
          <a:xfrm>
            <a:off x="11269980" y="1290638"/>
            <a:ext cx="883920" cy="226219"/>
          </a:xfrm>
          <a:prstGeom prst="roundRect">
            <a:avLst>
              <a:gd name="adj" fmla="val 1684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111" name="Shape 92"/>
          <p:cNvSpPr/>
          <p:nvPr/>
        </p:nvSpPr>
        <p:spPr>
          <a:xfrm>
            <a:off x="11365230" y="1375093"/>
            <a:ext cx="57150" cy="57150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112" name="Text 93"/>
          <p:cNvSpPr/>
          <p:nvPr/>
        </p:nvSpPr>
        <p:spPr>
          <a:xfrm>
            <a:off x="11498580" y="1336993"/>
            <a:ext cx="636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788" dirty="0"/>
          </a:p>
        </p:txBody>
      </p:sp>
      <p:sp>
        <p:nvSpPr>
          <p:cNvPr id="113" name="Text 94"/>
          <p:cNvSpPr/>
          <p:nvPr/>
        </p:nvSpPr>
        <p:spPr>
          <a:xfrm>
            <a:off x="9350375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114" name="Text 95"/>
          <p:cNvSpPr/>
          <p:nvPr/>
        </p:nvSpPr>
        <p:spPr>
          <a:xfrm>
            <a:off x="9350375" y="2166938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1,633</a:t>
            </a:r>
            <a:endParaRPr lang="en-US" sz="1125" dirty="0"/>
          </a:p>
        </p:txBody>
      </p:sp>
      <p:sp>
        <p:nvSpPr>
          <p:cNvPr id="115" name="Text 96"/>
          <p:cNvSpPr/>
          <p:nvPr/>
        </p:nvSpPr>
        <p:spPr>
          <a:xfrm>
            <a:off x="10323036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</a:t>
            </a:r>
            <a:endParaRPr lang="en-US" sz="750" dirty="0"/>
          </a:p>
        </p:txBody>
      </p:sp>
      <p:sp>
        <p:nvSpPr>
          <p:cNvPr id="116" name="Text 97"/>
          <p:cNvSpPr/>
          <p:nvPr/>
        </p:nvSpPr>
        <p:spPr>
          <a:xfrm>
            <a:off x="10323036" y="2166938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25" dirty="0"/>
          </a:p>
        </p:txBody>
      </p:sp>
      <p:sp>
        <p:nvSpPr>
          <p:cNvPr id="117" name="Text 98"/>
          <p:cNvSpPr/>
          <p:nvPr/>
        </p:nvSpPr>
        <p:spPr>
          <a:xfrm>
            <a:off x="11295698" y="1985963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118" name="Text 99"/>
          <p:cNvSpPr/>
          <p:nvPr/>
        </p:nvSpPr>
        <p:spPr>
          <a:xfrm>
            <a:off x="11295698" y="2185988"/>
            <a:ext cx="9345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38m ago</a:t>
            </a:r>
            <a:endParaRPr lang="en-US" sz="975" dirty="0"/>
          </a:p>
        </p:txBody>
      </p:sp>
      <p:sp>
        <p:nvSpPr>
          <p:cNvPr id="119" name="Shape 100"/>
          <p:cNvSpPr/>
          <p:nvPr/>
        </p:nvSpPr>
        <p:spPr>
          <a:xfrm>
            <a:off x="9350375" y="2576513"/>
            <a:ext cx="2803525" cy="5715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120" name="Shape 101"/>
          <p:cNvSpPr/>
          <p:nvPr/>
        </p:nvSpPr>
        <p:spPr>
          <a:xfrm>
            <a:off x="9350375" y="2576513"/>
            <a:ext cx="878681" cy="5715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21" name="Shape 102"/>
          <p:cNvSpPr/>
          <p:nvPr/>
        </p:nvSpPr>
        <p:spPr>
          <a:xfrm>
            <a:off x="9197975" y="2805113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22" name="Text 103"/>
          <p:cNvSpPr/>
          <p:nvPr/>
        </p:nvSpPr>
        <p:spPr>
          <a:xfrm>
            <a:off x="9350375" y="2909888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●degraded</a:t>
            </a:r>
            <a:endParaRPr lang="en-US" sz="788" dirty="0"/>
          </a:p>
        </p:txBody>
      </p:sp>
      <p:sp>
        <p:nvSpPr>
          <p:cNvPr id="123" name="Text 104"/>
          <p:cNvSpPr/>
          <p:nvPr/>
        </p:nvSpPr>
        <p:spPr>
          <a:xfrm>
            <a:off x="11133773" y="2909888"/>
            <a:ext cx="1096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memories →</a:t>
            </a:r>
            <a:endParaRPr lang="en-US" sz="788" dirty="0"/>
          </a:p>
        </p:txBody>
      </p:sp>
      <p:sp>
        <p:nvSpPr>
          <p:cNvPr id="124" name="Shape 105"/>
          <p:cNvSpPr/>
          <p:nvPr/>
        </p:nvSpPr>
        <p:spPr>
          <a:xfrm>
            <a:off x="2628900" y="3317081"/>
            <a:ext cx="3127375" cy="2016919"/>
          </a:xfrm>
          <a:prstGeom prst="roundRect">
            <a:avLst>
              <a:gd name="adj" fmla="val 56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25" name="Shape 106"/>
          <p:cNvSpPr/>
          <p:nvPr/>
        </p:nvSpPr>
        <p:spPr>
          <a:xfrm>
            <a:off x="2638425" y="3993356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26" name="Shape 107"/>
          <p:cNvSpPr/>
          <p:nvPr/>
        </p:nvSpPr>
        <p:spPr>
          <a:xfrm>
            <a:off x="2790825" y="3508693"/>
            <a:ext cx="85725" cy="9525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127" name="Text 108"/>
          <p:cNvSpPr/>
          <p:nvPr/>
        </p:nvSpPr>
        <p:spPr>
          <a:xfrm>
            <a:off x="2952750" y="3459956"/>
            <a:ext cx="84772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web-client</a:t>
            </a:r>
            <a:endParaRPr lang="en-US" sz="1013" dirty="0"/>
          </a:p>
        </p:txBody>
      </p:sp>
      <p:sp>
        <p:nvSpPr>
          <p:cNvPr id="128" name="Text 109"/>
          <p:cNvSpPr/>
          <p:nvPr/>
        </p:nvSpPr>
        <p:spPr>
          <a:xfrm>
            <a:off x="2790825" y="3709988"/>
            <a:ext cx="10096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eu-west-1</a:t>
            </a:r>
            <a:endParaRPr lang="en-US" sz="788" dirty="0"/>
          </a:p>
        </p:txBody>
      </p:sp>
      <p:sp>
        <p:nvSpPr>
          <p:cNvPr id="129" name="Shape 110"/>
          <p:cNvSpPr/>
          <p:nvPr/>
        </p:nvSpPr>
        <p:spPr>
          <a:xfrm>
            <a:off x="4780439" y="3459956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30" name="Shape 111"/>
          <p:cNvSpPr/>
          <p:nvPr/>
        </p:nvSpPr>
        <p:spPr>
          <a:xfrm>
            <a:off x="4875689" y="3544411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31" name="Text 112"/>
          <p:cNvSpPr/>
          <p:nvPr/>
        </p:nvSpPr>
        <p:spPr>
          <a:xfrm>
            <a:off x="5009038" y="350631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132" name="Text 113"/>
          <p:cNvSpPr/>
          <p:nvPr/>
        </p:nvSpPr>
        <p:spPr>
          <a:xfrm>
            <a:off x="2790825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133" name="Text 114"/>
          <p:cNvSpPr/>
          <p:nvPr/>
        </p:nvSpPr>
        <p:spPr>
          <a:xfrm>
            <a:off x="2790825" y="4336256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3,577</a:t>
            </a:r>
            <a:endParaRPr lang="en-US" sz="1125" dirty="0"/>
          </a:p>
        </p:txBody>
      </p:sp>
      <p:sp>
        <p:nvSpPr>
          <p:cNvPr id="134" name="Text 115"/>
          <p:cNvSpPr/>
          <p:nvPr/>
        </p:nvSpPr>
        <p:spPr>
          <a:xfrm>
            <a:off x="3763486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</a:t>
            </a:r>
            <a:endParaRPr lang="en-US" sz="750" dirty="0"/>
          </a:p>
        </p:txBody>
      </p:sp>
      <p:sp>
        <p:nvSpPr>
          <p:cNvPr id="135" name="Text 116"/>
          <p:cNvSpPr/>
          <p:nvPr/>
        </p:nvSpPr>
        <p:spPr>
          <a:xfrm>
            <a:off x="3763486" y="4336256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25" dirty="0"/>
          </a:p>
        </p:txBody>
      </p:sp>
      <p:sp>
        <p:nvSpPr>
          <p:cNvPr id="136" name="Text 117"/>
          <p:cNvSpPr/>
          <p:nvPr/>
        </p:nvSpPr>
        <p:spPr>
          <a:xfrm>
            <a:off x="4736148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137" name="Text 118"/>
          <p:cNvSpPr/>
          <p:nvPr/>
        </p:nvSpPr>
        <p:spPr>
          <a:xfrm>
            <a:off x="4736148" y="4355306"/>
            <a:ext cx="9345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14m ago</a:t>
            </a:r>
            <a:endParaRPr lang="en-US" sz="975" dirty="0"/>
          </a:p>
        </p:txBody>
      </p:sp>
      <p:sp>
        <p:nvSpPr>
          <p:cNvPr id="138" name="Shape 119"/>
          <p:cNvSpPr/>
          <p:nvPr/>
        </p:nvSpPr>
        <p:spPr>
          <a:xfrm>
            <a:off x="2790825" y="4745831"/>
            <a:ext cx="2803525" cy="5715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139" name="Shape 120"/>
          <p:cNvSpPr/>
          <p:nvPr/>
        </p:nvSpPr>
        <p:spPr>
          <a:xfrm>
            <a:off x="2790825" y="4745831"/>
            <a:ext cx="1924685" cy="5715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40" name="Shape 121"/>
          <p:cNvSpPr/>
          <p:nvPr/>
        </p:nvSpPr>
        <p:spPr>
          <a:xfrm>
            <a:off x="2638425" y="4974431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41" name="Text 122"/>
          <p:cNvSpPr/>
          <p:nvPr/>
        </p:nvSpPr>
        <p:spPr>
          <a:xfrm>
            <a:off x="2790825" y="5079206"/>
            <a:ext cx="61626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●healthy</a:t>
            </a:r>
            <a:endParaRPr lang="en-US" sz="788" dirty="0"/>
          </a:p>
        </p:txBody>
      </p:sp>
      <p:sp>
        <p:nvSpPr>
          <p:cNvPr id="142" name="Text 123"/>
          <p:cNvSpPr/>
          <p:nvPr/>
        </p:nvSpPr>
        <p:spPr>
          <a:xfrm>
            <a:off x="4574223" y="5079206"/>
            <a:ext cx="109632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memories →</a:t>
            </a:r>
            <a:endParaRPr lang="en-US" sz="788" dirty="0"/>
          </a:p>
        </p:txBody>
      </p:sp>
      <p:sp>
        <p:nvSpPr>
          <p:cNvPr id="143" name="Shape 124"/>
          <p:cNvSpPr/>
          <p:nvPr/>
        </p:nvSpPr>
        <p:spPr>
          <a:xfrm>
            <a:off x="5908675" y="3317081"/>
            <a:ext cx="3127375" cy="2016919"/>
          </a:xfrm>
          <a:prstGeom prst="roundRect">
            <a:avLst>
              <a:gd name="adj" fmla="val 56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44" name="Shape 125"/>
          <p:cNvSpPr/>
          <p:nvPr/>
        </p:nvSpPr>
        <p:spPr>
          <a:xfrm>
            <a:off x="5918200" y="3993356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45" name="Shape 126"/>
          <p:cNvSpPr/>
          <p:nvPr/>
        </p:nvSpPr>
        <p:spPr>
          <a:xfrm>
            <a:off x="6070600" y="3508693"/>
            <a:ext cx="85725" cy="9525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146" name="Text 127"/>
          <p:cNvSpPr/>
          <p:nvPr/>
        </p:nvSpPr>
        <p:spPr>
          <a:xfrm>
            <a:off x="6232525" y="3459956"/>
            <a:ext cx="1079183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1013" dirty="0"/>
          </a:p>
        </p:txBody>
      </p:sp>
      <p:sp>
        <p:nvSpPr>
          <p:cNvPr id="147" name="Text 128"/>
          <p:cNvSpPr/>
          <p:nvPr/>
        </p:nvSpPr>
        <p:spPr>
          <a:xfrm>
            <a:off x="6070600" y="3709988"/>
            <a:ext cx="12411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</a:t>
            </a:r>
            <a:endParaRPr lang="en-US" sz="788" dirty="0"/>
          </a:p>
        </p:txBody>
      </p:sp>
      <p:sp>
        <p:nvSpPr>
          <p:cNvPr id="148" name="Shape 129"/>
          <p:cNvSpPr/>
          <p:nvPr/>
        </p:nvSpPr>
        <p:spPr>
          <a:xfrm>
            <a:off x="8060214" y="3459956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49" name="Shape 130"/>
          <p:cNvSpPr/>
          <p:nvPr/>
        </p:nvSpPr>
        <p:spPr>
          <a:xfrm>
            <a:off x="8155464" y="3544411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50" name="Text 131"/>
          <p:cNvSpPr/>
          <p:nvPr/>
        </p:nvSpPr>
        <p:spPr>
          <a:xfrm>
            <a:off x="8288814" y="350631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151" name="Text 132"/>
          <p:cNvSpPr/>
          <p:nvPr/>
        </p:nvSpPr>
        <p:spPr>
          <a:xfrm>
            <a:off x="6070600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152" name="Text 133"/>
          <p:cNvSpPr/>
          <p:nvPr/>
        </p:nvSpPr>
        <p:spPr>
          <a:xfrm>
            <a:off x="6070600" y="4336256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5,210</a:t>
            </a:r>
            <a:endParaRPr lang="en-US" sz="1125" dirty="0"/>
          </a:p>
        </p:txBody>
      </p:sp>
      <p:sp>
        <p:nvSpPr>
          <p:cNvPr id="153" name="Text 134"/>
          <p:cNvSpPr/>
          <p:nvPr/>
        </p:nvSpPr>
        <p:spPr>
          <a:xfrm>
            <a:off x="7043261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</a:t>
            </a:r>
            <a:endParaRPr lang="en-US" sz="750" dirty="0"/>
          </a:p>
        </p:txBody>
      </p:sp>
      <p:sp>
        <p:nvSpPr>
          <p:cNvPr id="154" name="Text 135"/>
          <p:cNvSpPr/>
          <p:nvPr/>
        </p:nvSpPr>
        <p:spPr>
          <a:xfrm>
            <a:off x="7043261" y="4336256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25" dirty="0"/>
          </a:p>
        </p:txBody>
      </p:sp>
      <p:sp>
        <p:nvSpPr>
          <p:cNvPr id="155" name="Text 136"/>
          <p:cNvSpPr/>
          <p:nvPr/>
        </p:nvSpPr>
        <p:spPr>
          <a:xfrm>
            <a:off x="8015922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156" name="Text 137"/>
          <p:cNvSpPr/>
          <p:nvPr/>
        </p:nvSpPr>
        <p:spPr>
          <a:xfrm>
            <a:off x="8015922" y="4355306"/>
            <a:ext cx="9345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 ago</a:t>
            </a:r>
            <a:endParaRPr lang="en-US" sz="975" dirty="0"/>
          </a:p>
        </p:txBody>
      </p:sp>
      <p:sp>
        <p:nvSpPr>
          <p:cNvPr id="157" name="Shape 138"/>
          <p:cNvSpPr/>
          <p:nvPr/>
        </p:nvSpPr>
        <p:spPr>
          <a:xfrm>
            <a:off x="6070600" y="4745831"/>
            <a:ext cx="2803525" cy="5715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158" name="Shape 139"/>
          <p:cNvSpPr/>
          <p:nvPr/>
        </p:nvSpPr>
        <p:spPr>
          <a:xfrm>
            <a:off x="6070600" y="4745831"/>
            <a:ext cx="2803525" cy="5715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59" name="Shape 140"/>
          <p:cNvSpPr/>
          <p:nvPr/>
        </p:nvSpPr>
        <p:spPr>
          <a:xfrm>
            <a:off x="5918200" y="4974431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60" name="Text 141"/>
          <p:cNvSpPr/>
          <p:nvPr/>
        </p:nvSpPr>
        <p:spPr>
          <a:xfrm>
            <a:off x="6070600" y="5079206"/>
            <a:ext cx="61626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●healthy</a:t>
            </a:r>
            <a:endParaRPr lang="en-US" sz="788" dirty="0"/>
          </a:p>
        </p:txBody>
      </p:sp>
      <p:sp>
        <p:nvSpPr>
          <p:cNvPr id="161" name="Text 142"/>
          <p:cNvSpPr/>
          <p:nvPr/>
        </p:nvSpPr>
        <p:spPr>
          <a:xfrm>
            <a:off x="7853997" y="5079206"/>
            <a:ext cx="1096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memories →</a:t>
            </a:r>
            <a:endParaRPr lang="en-US" sz="788" dirty="0"/>
          </a:p>
        </p:txBody>
      </p:sp>
      <p:sp>
        <p:nvSpPr>
          <p:cNvPr id="162" name="Shape 143"/>
          <p:cNvSpPr/>
          <p:nvPr/>
        </p:nvSpPr>
        <p:spPr>
          <a:xfrm>
            <a:off x="9188450" y="3317081"/>
            <a:ext cx="3127375" cy="2016919"/>
          </a:xfrm>
          <a:prstGeom prst="roundRect">
            <a:avLst>
              <a:gd name="adj" fmla="val 56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63" name="Shape 144"/>
          <p:cNvSpPr/>
          <p:nvPr/>
        </p:nvSpPr>
        <p:spPr>
          <a:xfrm>
            <a:off x="9197975" y="3993356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64" name="Shape 145"/>
          <p:cNvSpPr/>
          <p:nvPr/>
        </p:nvSpPr>
        <p:spPr>
          <a:xfrm>
            <a:off x="9350375" y="3508693"/>
            <a:ext cx="85725" cy="95250"/>
          </a:xfrm>
          <a:prstGeom prst="rect">
            <a:avLst/>
          </a:prstGeom>
          <a:solidFill>
            <a:srgbClr val="E0A22E"/>
          </a:solidFill>
          <a:ln/>
        </p:spPr>
      </p:sp>
      <p:sp>
        <p:nvSpPr>
          <p:cNvPr id="165" name="Text 146"/>
          <p:cNvSpPr/>
          <p:nvPr/>
        </p:nvSpPr>
        <p:spPr>
          <a:xfrm>
            <a:off x="9512300" y="3459956"/>
            <a:ext cx="847725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1013" dirty="0"/>
          </a:p>
        </p:txBody>
      </p:sp>
      <p:sp>
        <p:nvSpPr>
          <p:cNvPr id="166" name="Text 147"/>
          <p:cNvSpPr/>
          <p:nvPr/>
        </p:nvSpPr>
        <p:spPr>
          <a:xfrm>
            <a:off x="9350375" y="3709988"/>
            <a:ext cx="10096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ap-south-1</a:t>
            </a:r>
            <a:endParaRPr lang="en-US" sz="788" dirty="0"/>
          </a:p>
        </p:txBody>
      </p:sp>
      <p:sp>
        <p:nvSpPr>
          <p:cNvPr id="167" name="Shape 148"/>
          <p:cNvSpPr/>
          <p:nvPr/>
        </p:nvSpPr>
        <p:spPr>
          <a:xfrm>
            <a:off x="11269980" y="3459956"/>
            <a:ext cx="883920" cy="226219"/>
          </a:xfrm>
          <a:prstGeom prst="roundRect">
            <a:avLst>
              <a:gd name="adj" fmla="val 1684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168" name="Shape 149"/>
          <p:cNvSpPr/>
          <p:nvPr/>
        </p:nvSpPr>
        <p:spPr>
          <a:xfrm>
            <a:off x="11365230" y="3544411"/>
            <a:ext cx="57150" cy="57150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169" name="Text 150"/>
          <p:cNvSpPr/>
          <p:nvPr/>
        </p:nvSpPr>
        <p:spPr>
          <a:xfrm>
            <a:off x="11498580" y="3506311"/>
            <a:ext cx="636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788" dirty="0"/>
          </a:p>
        </p:txBody>
      </p:sp>
      <p:sp>
        <p:nvSpPr>
          <p:cNvPr id="170" name="Text 151"/>
          <p:cNvSpPr/>
          <p:nvPr/>
        </p:nvSpPr>
        <p:spPr>
          <a:xfrm>
            <a:off x="9350375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171" name="Text 152"/>
          <p:cNvSpPr/>
          <p:nvPr/>
        </p:nvSpPr>
        <p:spPr>
          <a:xfrm>
            <a:off x="9350375" y="4336256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1,188</a:t>
            </a:r>
            <a:endParaRPr lang="en-US" sz="1125" dirty="0"/>
          </a:p>
        </p:txBody>
      </p:sp>
      <p:sp>
        <p:nvSpPr>
          <p:cNvPr id="172" name="Text 153"/>
          <p:cNvSpPr/>
          <p:nvPr/>
        </p:nvSpPr>
        <p:spPr>
          <a:xfrm>
            <a:off x="10323036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</a:t>
            </a:r>
            <a:endParaRPr lang="en-US" sz="750" dirty="0"/>
          </a:p>
        </p:txBody>
      </p:sp>
      <p:sp>
        <p:nvSpPr>
          <p:cNvPr id="173" name="Text 154"/>
          <p:cNvSpPr/>
          <p:nvPr/>
        </p:nvSpPr>
        <p:spPr>
          <a:xfrm>
            <a:off x="10323036" y="4336256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25" dirty="0"/>
          </a:p>
        </p:txBody>
      </p:sp>
      <p:sp>
        <p:nvSpPr>
          <p:cNvPr id="174" name="Text 155"/>
          <p:cNvSpPr/>
          <p:nvPr/>
        </p:nvSpPr>
        <p:spPr>
          <a:xfrm>
            <a:off x="11295698" y="4155281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175" name="Text 156"/>
          <p:cNvSpPr/>
          <p:nvPr/>
        </p:nvSpPr>
        <p:spPr>
          <a:xfrm>
            <a:off x="11295698" y="4355306"/>
            <a:ext cx="9345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975" dirty="0"/>
          </a:p>
        </p:txBody>
      </p:sp>
      <p:sp>
        <p:nvSpPr>
          <p:cNvPr id="176" name="Shape 157"/>
          <p:cNvSpPr/>
          <p:nvPr/>
        </p:nvSpPr>
        <p:spPr>
          <a:xfrm>
            <a:off x="9350375" y="4745831"/>
            <a:ext cx="2803525" cy="5715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177" name="Shape 158"/>
          <p:cNvSpPr/>
          <p:nvPr/>
        </p:nvSpPr>
        <p:spPr>
          <a:xfrm>
            <a:off x="9350375" y="4745831"/>
            <a:ext cx="639127" cy="5715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78" name="Shape 159"/>
          <p:cNvSpPr/>
          <p:nvPr/>
        </p:nvSpPr>
        <p:spPr>
          <a:xfrm>
            <a:off x="9197975" y="4974431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79" name="Text 160"/>
          <p:cNvSpPr/>
          <p:nvPr/>
        </p:nvSpPr>
        <p:spPr>
          <a:xfrm>
            <a:off x="9350375" y="5079206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●degraded</a:t>
            </a:r>
            <a:endParaRPr lang="en-US" sz="788" dirty="0"/>
          </a:p>
        </p:txBody>
      </p:sp>
      <p:sp>
        <p:nvSpPr>
          <p:cNvPr id="180" name="Text 161"/>
          <p:cNvSpPr/>
          <p:nvPr/>
        </p:nvSpPr>
        <p:spPr>
          <a:xfrm>
            <a:off x="11133773" y="5079206"/>
            <a:ext cx="1096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memories →</a:t>
            </a:r>
            <a:endParaRPr lang="en-US" sz="788" dirty="0"/>
          </a:p>
        </p:txBody>
      </p:sp>
      <p:sp>
        <p:nvSpPr>
          <p:cNvPr id="181" name="Shape 162"/>
          <p:cNvSpPr/>
          <p:nvPr/>
        </p:nvSpPr>
        <p:spPr>
          <a:xfrm>
            <a:off x="2628900" y="5486400"/>
            <a:ext cx="3127375" cy="2016919"/>
          </a:xfrm>
          <a:prstGeom prst="roundRect">
            <a:avLst>
              <a:gd name="adj" fmla="val 56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82" name="Shape 163"/>
          <p:cNvSpPr/>
          <p:nvPr/>
        </p:nvSpPr>
        <p:spPr>
          <a:xfrm>
            <a:off x="2638425" y="6162675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83" name="Shape 164"/>
          <p:cNvSpPr/>
          <p:nvPr/>
        </p:nvSpPr>
        <p:spPr>
          <a:xfrm>
            <a:off x="2790825" y="5678012"/>
            <a:ext cx="85725" cy="9525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184" name="Text 165"/>
          <p:cNvSpPr/>
          <p:nvPr/>
        </p:nvSpPr>
        <p:spPr>
          <a:xfrm>
            <a:off x="2952750" y="5629275"/>
            <a:ext cx="1233488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infra-terraform</a:t>
            </a:r>
            <a:endParaRPr lang="en-US" sz="1013" dirty="0"/>
          </a:p>
        </p:txBody>
      </p:sp>
      <p:sp>
        <p:nvSpPr>
          <p:cNvPr id="185" name="Text 166"/>
          <p:cNvSpPr/>
          <p:nvPr/>
        </p:nvSpPr>
        <p:spPr>
          <a:xfrm>
            <a:off x="2790825" y="5879306"/>
            <a:ext cx="139541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eu-west-1</a:t>
            </a:r>
            <a:endParaRPr lang="en-US" sz="788" dirty="0"/>
          </a:p>
        </p:txBody>
      </p:sp>
      <p:sp>
        <p:nvSpPr>
          <p:cNvPr id="186" name="Shape 167"/>
          <p:cNvSpPr/>
          <p:nvPr/>
        </p:nvSpPr>
        <p:spPr>
          <a:xfrm>
            <a:off x="4780439" y="5629275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87" name="Shape 168"/>
          <p:cNvSpPr/>
          <p:nvPr/>
        </p:nvSpPr>
        <p:spPr>
          <a:xfrm>
            <a:off x="4875689" y="5713730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88" name="Text 169"/>
          <p:cNvSpPr/>
          <p:nvPr/>
        </p:nvSpPr>
        <p:spPr>
          <a:xfrm>
            <a:off x="5009038" y="5675630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189" name="Text 170"/>
          <p:cNvSpPr/>
          <p:nvPr/>
        </p:nvSpPr>
        <p:spPr>
          <a:xfrm>
            <a:off x="2790825" y="6324600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190" name="Text 171"/>
          <p:cNvSpPr/>
          <p:nvPr/>
        </p:nvSpPr>
        <p:spPr>
          <a:xfrm>
            <a:off x="2790825" y="6505575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902</a:t>
            </a:r>
            <a:endParaRPr lang="en-US" sz="1125" dirty="0"/>
          </a:p>
        </p:txBody>
      </p:sp>
      <p:sp>
        <p:nvSpPr>
          <p:cNvPr id="191" name="Text 172"/>
          <p:cNvSpPr/>
          <p:nvPr/>
        </p:nvSpPr>
        <p:spPr>
          <a:xfrm>
            <a:off x="3763486" y="6324600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</a:t>
            </a:r>
            <a:endParaRPr lang="en-US" sz="750" dirty="0"/>
          </a:p>
        </p:txBody>
      </p:sp>
      <p:sp>
        <p:nvSpPr>
          <p:cNvPr id="192" name="Text 173"/>
          <p:cNvSpPr/>
          <p:nvPr/>
        </p:nvSpPr>
        <p:spPr>
          <a:xfrm>
            <a:off x="3763486" y="6505575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25" dirty="0"/>
          </a:p>
        </p:txBody>
      </p:sp>
      <p:sp>
        <p:nvSpPr>
          <p:cNvPr id="193" name="Text 174"/>
          <p:cNvSpPr/>
          <p:nvPr/>
        </p:nvSpPr>
        <p:spPr>
          <a:xfrm>
            <a:off x="4736148" y="6324600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194" name="Text 175"/>
          <p:cNvSpPr/>
          <p:nvPr/>
        </p:nvSpPr>
        <p:spPr>
          <a:xfrm>
            <a:off x="4736148" y="6524625"/>
            <a:ext cx="9345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51m ago</a:t>
            </a:r>
            <a:endParaRPr lang="en-US" sz="975" dirty="0"/>
          </a:p>
        </p:txBody>
      </p:sp>
      <p:sp>
        <p:nvSpPr>
          <p:cNvPr id="195" name="Shape 176"/>
          <p:cNvSpPr/>
          <p:nvPr/>
        </p:nvSpPr>
        <p:spPr>
          <a:xfrm>
            <a:off x="2790825" y="6915150"/>
            <a:ext cx="2803525" cy="5715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196" name="Shape 177"/>
          <p:cNvSpPr/>
          <p:nvPr/>
        </p:nvSpPr>
        <p:spPr>
          <a:xfrm>
            <a:off x="2790825" y="6915150"/>
            <a:ext cx="485299" cy="5715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97" name="Shape 178"/>
          <p:cNvSpPr/>
          <p:nvPr/>
        </p:nvSpPr>
        <p:spPr>
          <a:xfrm>
            <a:off x="2638425" y="7143750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98" name="Text 179"/>
          <p:cNvSpPr/>
          <p:nvPr/>
        </p:nvSpPr>
        <p:spPr>
          <a:xfrm>
            <a:off x="2790825" y="7248525"/>
            <a:ext cx="61626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●healthy</a:t>
            </a:r>
            <a:endParaRPr lang="en-US" sz="788" dirty="0"/>
          </a:p>
        </p:txBody>
      </p:sp>
      <p:sp>
        <p:nvSpPr>
          <p:cNvPr id="199" name="Text 180"/>
          <p:cNvSpPr/>
          <p:nvPr/>
        </p:nvSpPr>
        <p:spPr>
          <a:xfrm>
            <a:off x="4574223" y="7248525"/>
            <a:ext cx="109632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memories →</a:t>
            </a:r>
            <a:endParaRPr lang="en-US" sz="788" dirty="0"/>
          </a:p>
        </p:txBody>
      </p:sp>
      <p:sp>
        <p:nvSpPr>
          <p:cNvPr id="200" name="Shape 181"/>
          <p:cNvSpPr/>
          <p:nvPr/>
        </p:nvSpPr>
        <p:spPr>
          <a:xfrm>
            <a:off x="5908675" y="5486400"/>
            <a:ext cx="3127375" cy="2016919"/>
          </a:xfrm>
          <a:prstGeom prst="roundRect">
            <a:avLst>
              <a:gd name="adj" fmla="val 56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201" name="Shape 182"/>
          <p:cNvSpPr/>
          <p:nvPr/>
        </p:nvSpPr>
        <p:spPr>
          <a:xfrm>
            <a:off x="5918200" y="6162675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202" name="Shape 183"/>
          <p:cNvSpPr/>
          <p:nvPr/>
        </p:nvSpPr>
        <p:spPr>
          <a:xfrm>
            <a:off x="6070600" y="5678012"/>
            <a:ext cx="85725" cy="95250"/>
          </a:xfrm>
          <a:prstGeom prst="rect">
            <a:avLst/>
          </a:prstGeom>
          <a:solidFill>
            <a:srgbClr val="8B97A8"/>
          </a:solidFill>
          <a:ln/>
        </p:spPr>
      </p:sp>
      <p:sp>
        <p:nvSpPr>
          <p:cNvPr id="203" name="Text 184"/>
          <p:cNvSpPr/>
          <p:nvPr/>
        </p:nvSpPr>
        <p:spPr>
          <a:xfrm>
            <a:off x="6232525" y="5629275"/>
            <a:ext cx="1002030" cy="2309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1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1013" dirty="0"/>
          </a:p>
        </p:txBody>
      </p:sp>
      <p:sp>
        <p:nvSpPr>
          <p:cNvPr id="204" name="Text 185"/>
          <p:cNvSpPr/>
          <p:nvPr/>
        </p:nvSpPr>
        <p:spPr>
          <a:xfrm>
            <a:off x="6070600" y="5879306"/>
            <a:ext cx="116395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us-east-1</a:t>
            </a:r>
            <a:endParaRPr lang="en-US" sz="788" dirty="0"/>
          </a:p>
        </p:txBody>
      </p:sp>
      <p:sp>
        <p:nvSpPr>
          <p:cNvPr id="205" name="Shape 186"/>
          <p:cNvSpPr/>
          <p:nvPr/>
        </p:nvSpPr>
        <p:spPr>
          <a:xfrm>
            <a:off x="8060214" y="5629275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40000"/>
              </a:srgbClr>
            </a:solidFill>
            <a:prstDash val="solid"/>
          </a:ln>
        </p:spPr>
      </p:sp>
      <p:sp>
        <p:nvSpPr>
          <p:cNvPr id="206" name="Shape 187"/>
          <p:cNvSpPr/>
          <p:nvPr/>
        </p:nvSpPr>
        <p:spPr>
          <a:xfrm>
            <a:off x="8155464" y="5713730"/>
            <a:ext cx="57150" cy="57150"/>
          </a:xfrm>
          <a:prstGeom prst="ellipse">
            <a:avLst/>
          </a:prstGeom>
          <a:solidFill>
            <a:srgbClr val="8B97A8"/>
          </a:solidFill>
          <a:ln/>
        </p:spPr>
      </p:sp>
      <p:sp>
        <p:nvSpPr>
          <p:cNvPr id="207" name="Text 188"/>
          <p:cNvSpPr/>
          <p:nvPr/>
        </p:nvSpPr>
        <p:spPr>
          <a:xfrm>
            <a:off x="8288814" y="5675630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788" dirty="0"/>
          </a:p>
        </p:txBody>
      </p:sp>
      <p:sp>
        <p:nvSpPr>
          <p:cNvPr id="208" name="Text 189"/>
          <p:cNvSpPr/>
          <p:nvPr/>
        </p:nvSpPr>
        <p:spPr>
          <a:xfrm>
            <a:off x="6070600" y="6324600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209" name="Text 190"/>
          <p:cNvSpPr/>
          <p:nvPr/>
        </p:nvSpPr>
        <p:spPr>
          <a:xfrm>
            <a:off x="6070600" y="6505575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2,104</a:t>
            </a:r>
            <a:endParaRPr lang="en-US" sz="1125" dirty="0"/>
          </a:p>
        </p:txBody>
      </p:sp>
      <p:sp>
        <p:nvSpPr>
          <p:cNvPr id="210" name="Text 191"/>
          <p:cNvSpPr/>
          <p:nvPr/>
        </p:nvSpPr>
        <p:spPr>
          <a:xfrm>
            <a:off x="7043261" y="6324600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DEVS</a:t>
            </a:r>
            <a:endParaRPr lang="en-US" sz="750" dirty="0"/>
          </a:p>
        </p:txBody>
      </p:sp>
      <p:sp>
        <p:nvSpPr>
          <p:cNvPr id="211" name="Text 192"/>
          <p:cNvSpPr/>
          <p:nvPr/>
        </p:nvSpPr>
        <p:spPr>
          <a:xfrm>
            <a:off x="7043261" y="6505575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25" dirty="0"/>
          </a:p>
        </p:txBody>
      </p:sp>
      <p:sp>
        <p:nvSpPr>
          <p:cNvPr id="212" name="Text 193"/>
          <p:cNvSpPr/>
          <p:nvPr/>
        </p:nvSpPr>
        <p:spPr>
          <a:xfrm>
            <a:off x="8015922" y="6324600"/>
            <a:ext cx="93456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213" name="Text 194"/>
          <p:cNvSpPr/>
          <p:nvPr/>
        </p:nvSpPr>
        <p:spPr>
          <a:xfrm>
            <a:off x="8015922" y="6524625"/>
            <a:ext cx="93456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975" dirty="0"/>
          </a:p>
        </p:txBody>
      </p:sp>
      <p:sp>
        <p:nvSpPr>
          <p:cNvPr id="214" name="Shape 195"/>
          <p:cNvSpPr/>
          <p:nvPr/>
        </p:nvSpPr>
        <p:spPr>
          <a:xfrm>
            <a:off x="6070600" y="6915150"/>
            <a:ext cx="2803525" cy="5715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15" name="Shape 196"/>
          <p:cNvSpPr/>
          <p:nvPr/>
        </p:nvSpPr>
        <p:spPr>
          <a:xfrm>
            <a:off x="6070600" y="6915150"/>
            <a:ext cx="1132046" cy="5715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216" name="Shape 197"/>
          <p:cNvSpPr/>
          <p:nvPr/>
        </p:nvSpPr>
        <p:spPr>
          <a:xfrm>
            <a:off x="5918200" y="7143750"/>
            <a:ext cx="310832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217" name="Text 198"/>
          <p:cNvSpPr/>
          <p:nvPr/>
        </p:nvSpPr>
        <p:spPr>
          <a:xfrm>
            <a:off x="6070600" y="7248525"/>
            <a:ext cx="61626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●unknown</a:t>
            </a:r>
            <a:endParaRPr lang="en-US" sz="788" dirty="0"/>
          </a:p>
        </p:txBody>
      </p:sp>
      <p:sp>
        <p:nvSpPr>
          <p:cNvPr id="218" name="Text 199"/>
          <p:cNvSpPr/>
          <p:nvPr/>
        </p:nvSpPr>
        <p:spPr>
          <a:xfrm>
            <a:off x="7853997" y="7248525"/>
            <a:ext cx="109632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 memories →</a:t>
            </a:r>
            <a:endParaRPr lang="en-US" sz="788" dirty="0"/>
          </a:p>
        </p:txBody>
      </p:sp>
      <p:sp>
        <p:nvSpPr>
          <p:cNvPr id="219" name="Shape 200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20" name="Shape 201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21" name="Shape 202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2" name="Text 203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23" name="Text 204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24" name="Text 205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25" name="Shape 206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6" name="Text 207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27" name="Text 208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28" name="Shape 209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29" name="Shape 210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0" name="Shape 211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31" name="Shape 212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32" name="Text 213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33" name="Text 214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34" name="Shape 215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35" name="Text 216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36" name="Text 217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37" name="Text 218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38" name="Shape 219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39" name="Shape 220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0" name="Shape 221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41" name="Shape 222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42" name="Text 223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43" name="Text 224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44" name="Shape 225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45" name="Text 226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46" name="Text 227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47" name="Text 228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48" name="Shape 229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49" name="Shape 230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0" name="Shape 231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51" name="Shape 232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52" name="Text 233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53" name="Text 234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254" name="Shape 235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55" name="Text 236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56" name="Text 237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257" name="Text 238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258" name="Shape 239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9" name="Shape 240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260" name="Text 241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261" name="Text 242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262" name="Shape 243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63" name="Text 244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64" name="Text 245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265" name="Text 246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266" name="Shape 247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7" name="Shape 248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68" name="Text 249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269" name="Text 250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270" name="Shape 251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71" name="Text 252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72" name="Text 253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273" name="Text 254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274" name="Shape 255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5" name="Shape 256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276" name="Text 257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277" name="Text 258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278" name="Shape 259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79" name="Text 260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80" name="Text 261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281" name="Text 262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282" name="Shape 263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3" name="Shape 264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84" name="Text 265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285" name="Text 266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286" name="Shape 267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287" name="Text 268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288" name="Text 269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289" name="Text 270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sp>
        <p:nvSpPr>
          <p:cNvPr id="17" name="Shape 11"/>
          <p:cNvSpPr/>
          <p:nvPr/>
        </p:nvSpPr>
        <p:spPr>
          <a:xfrm>
            <a:off x="114300" y="1707356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114300" y="1783556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7" name="Text 17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82549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EXPLORE, FILTER &amp; EXPORT TEAM MEMORY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825496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Browser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pic>
        <p:nvPicPr>
          <p:cNvPr id="6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81300" y="995363"/>
            <a:ext cx="142875" cy="142875"/>
          </a:xfrm>
          <a:prstGeom prst="rect">
            <a:avLst/>
          </a:prstGeom>
        </p:spPr>
      </p:pic>
      <p:sp>
        <p:nvSpPr>
          <p:cNvPr id="66" name="Shape 46"/>
          <p:cNvSpPr/>
          <p:nvPr/>
        </p:nvSpPr>
        <p:spPr>
          <a:xfrm>
            <a:off x="2628900" y="838200"/>
            <a:ext cx="9686925" cy="457200"/>
          </a:xfrm>
          <a:prstGeom prst="roundRect">
            <a:avLst>
              <a:gd name="adj" fmla="val 1875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7" name="Shape 47"/>
          <p:cNvSpPr/>
          <p:nvPr/>
        </p:nvSpPr>
        <p:spPr>
          <a:xfrm>
            <a:off x="2628900" y="1447800"/>
            <a:ext cx="1229995" cy="309563"/>
          </a:xfrm>
          <a:prstGeom prst="roundRect">
            <a:avLst>
              <a:gd name="adj" fmla="val 18462"/>
            </a:avLst>
          </a:prstGeom>
          <a:solidFill>
            <a:srgbClr val="E0246F">
              <a:alpha val="13000"/>
            </a:srgbClr>
          </a:solidFill>
          <a:ln w="9525">
            <a:solidFill>
              <a:srgbClr val="E0246F">
                <a:alpha val="55000"/>
              </a:srgbClr>
            </a:solidFill>
            <a:prstDash val="solid"/>
          </a:ln>
        </p:spPr>
      </p:sp>
      <p:sp>
        <p:nvSpPr>
          <p:cNvPr id="68" name="Text 48"/>
          <p:cNvSpPr/>
          <p:nvPr/>
        </p:nvSpPr>
        <p:spPr>
          <a:xfrm>
            <a:off x="2714625" y="1524000"/>
            <a:ext cx="10585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CATEGORIES</a:t>
            </a:r>
            <a:endParaRPr lang="en-US" sz="825" dirty="0"/>
          </a:p>
        </p:txBody>
      </p:sp>
      <p:sp>
        <p:nvSpPr>
          <p:cNvPr id="69" name="Shape 49"/>
          <p:cNvSpPr/>
          <p:nvPr/>
        </p:nvSpPr>
        <p:spPr>
          <a:xfrm>
            <a:off x="3935095" y="1447800"/>
            <a:ext cx="1089660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0" name="Text 50"/>
          <p:cNvSpPr/>
          <p:nvPr/>
        </p:nvSpPr>
        <p:spPr>
          <a:xfrm>
            <a:off x="4020820" y="1524000"/>
            <a:ext cx="91821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71" name="Shape 51"/>
          <p:cNvSpPr/>
          <p:nvPr/>
        </p:nvSpPr>
        <p:spPr>
          <a:xfrm>
            <a:off x="5100955" y="1447800"/>
            <a:ext cx="668655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2" name="Text 52"/>
          <p:cNvSpPr/>
          <p:nvPr/>
        </p:nvSpPr>
        <p:spPr>
          <a:xfrm>
            <a:off x="5186680" y="1524000"/>
            <a:ext cx="49720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825" dirty="0"/>
          </a:p>
        </p:txBody>
      </p:sp>
      <p:sp>
        <p:nvSpPr>
          <p:cNvPr id="73" name="Shape 53"/>
          <p:cNvSpPr/>
          <p:nvPr/>
        </p:nvSpPr>
        <p:spPr>
          <a:xfrm>
            <a:off x="5845810" y="1447800"/>
            <a:ext cx="808990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4" name="Text 54"/>
          <p:cNvSpPr/>
          <p:nvPr/>
        </p:nvSpPr>
        <p:spPr>
          <a:xfrm>
            <a:off x="5931535" y="1524000"/>
            <a:ext cx="6375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25" dirty="0"/>
          </a:p>
        </p:txBody>
      </p:sp>
      <p:sp>
        <p:nvSpPr>
          <p:cNvPr id="75" name="Shape 55"/>
          <p:cNvSpPr/>
          <p:nvPr/>
        </p:nvSpPr>
        <p:spPr>
          <a:xfrm>
            <a:off x="6731000" y="1447800"/>
            <a:ext cx="879157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6" name="Text 56"/>
          <p:cNvSpPr/>
          <p:nvPr/>
        </p:nvSpPr>
        <p:spPr>
          <a:xfrm>
            <a:off x="6816725" y="1524000"/>
            <a:ext cx="70770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825" dirty="0"/>
          </a:p>
        </p:txBody>
      </p:sp>
      <p:sp>
        <p:nvSpPr>
          <p:cNvPr id="77" name="Shape 57"/>
          <p:cNvSpPr/>
          <p:nvPr/>
        </p:nvSpPr>
        <p:spPr>
          <a:xfrm>
            <a:off x="7686358" y="1447800"/>
            <a:ext cx="738823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8" name="Text 58"/>
          <p:cNvSpPr/>
          <p:nvPr/>
        </p:nvSpPr>
        <p:spPr>
          <a:xfrm>
            <a:off x="7772083" y="1524000"/>
            <a:ext cx="56737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825" dirty="0"/>
          </a:p>
        </p:txBody>
      </p:sp>
      <p:sp>
        <p:nvSpPr>
          <p:cNvPr id="79" name="Shape 59"/>
          <p:cNvSpPr/>
          <p:nvPr/>
        </p:nvSpPr>
        <p:spPr>
          <a:xfrm>
            <a:off x="8501380" y="1447800"/>
            <a:ext cx="668655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0" name="Text 60"/>
          <p:cNvSpPr/>
          <p:nvPr/>
        </p:nvSpPr>
        <p:spPr>
          <a:xfrm>
            <a:off x="8587105" y="1524000"/>
            <a:ext cx="49720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825" dirty="0"/>
          </a:p>
        </p:txBody>
      </p:sp>
      <p:sp>
        <p:nvSpPr>
          <p:cNvPr id="81" name="Shape 61"/>
          <p:cNvSpPr/>
          <p:nvPr/>
        </p:nvSpPr>
        <p:spPr>
          <a:xfrm>
            <a:off x="9246235" y="1447800"/>
            <a:ext cx="949325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2" name="Text 62"/>
          <p:cNvSpPr/>
          <p:nvPr/>
        </p:nvSpPr>
        <p:spPr>
          <a:xfrm>
            <a:off x="9331960" y="1524000"/>
            <a:ext cx="7778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825" dirty="0"/>
          </a:p>
        </p:txBody>
      </p:sp>
      <p:sp>
        <p:nvSpPr>
          <p:cNvPr id="83" name="Shape 63"/>
          <p:cNvSpPr/>
          <p:nvPr/>
        </p:nvSpPr>
        <p:spPr>
          <a:xfrm>
            <a:off x="10271760" y="1447800"/>
            <a:ext cx="1300163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4" name="Text 64"/>
          <p:cNvSpPr/>
          <p:nvPr/>
        </p:nvSpPr>
        <p:spPr>
          <a:xfrm>
            <a:off x="10357485" y="1524000"/>
            <a:ext cx="112871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825" dirty="0"/>
          </a:p>
        </p:txBody>
      </p:sp>
      <p:sp>
        <p:nvSpPr>
          <p:cNvPr id="85" name="Shape 65"/>
          <p:cNvSpPr/>
          <p:nvPr/>
        </p:nvSpPr>
        <p:spPr>
          <a:xfrm>
            <a:off x="2628900" y="1871663"/>
            <a:ext cx="146700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6" name="Text 66"/>
          <p:cNvSpPr/>
          <p:nvPr/>
        </p:nvSpPr>
        <p:spPr>
          <a:xfrm>
            <a:off x="3948112" y="1964531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87" name="Shape 67"/>
          <p:cNvSpPr/>
          <p:nvPr/>
        </p:nvSpPr>
        <p:spPr>
          <a:xfrm>
            <a:off x="4172109" y="1871663"/>
            <a:ext cx="119268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8" name="Text 68"/>
          <p:cNvSpPr/>
          <p:nvPr/>
        </p:nvSpPr>
        <p:spPr>
          <a:xfrm>
            <a:off x="5217001" y="1964531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89" name="Shape 69"/>
          <p:cNvSpPr/>
          <p:nvPr/>
        </p:nvSpPr>
        <p:spPr>
          <a:xfrm>
            <a:off x="5440998" y="1871663"/>
            <a:ext cx="98694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90" name="Text 70"/>
          <p:cNvSpPr/>
          <p:nvPr/>
        </p:nvSpPr>
        <p:spPr>
          <a:xfrm>
            <a:off x="6280150" y="1964531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91" name="Shape 71"/>
          <p:cNvSpPr/>
          <p:nvPr/>
        </p:nvSpPr>
        <p:spPr>
          <a:xfrm>
            <a:off x="6504146" y="1871663"/>
            <a:ext cx="139842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92" name="Text 72"/>
          <p:cNvSpPr/>
          <p:nvPr/>
        </p:nvSpPr>
        <p:spPr>
          <a:xfrm>
            <a:off x="7754779" y="1964531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93" name="Text 73"/>
          <p:cNvSpPr/>
          <p:nvPr/>
        </p:nvSpPr>
        <p:spPr>
          <a:xfrm>
            <a:off x="2628900" y="2456180"/>
            <a:ext cx="799147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</a:t>
            </a:r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863" dirty="0"/>
          </a:p>
        </p:txBody>
      </p:sp>
      <p:sp>
        <p:nvSpPr>
          <p:cNvPr id="94" name="Shape 74"/>
          <p:cNvSpPr/>
          <p:nvPr/>
        </p:nvSpPr>
        <p:spPr>
          <a:xfrm>
            <a:off x="10923270" y="2366963"/>
            <a:ext cx="1392555" cy="342900"/>
          </a:xfrm>
          <a:prstGeom prst="roundRect">
            <a:avLst>
              <a:gd name="adj" fmla="val 22222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pic>
        <p:nvPicPr>
          <p:cNvPr id="9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66145" y="2476500"/>
            <a:ext cx="123825" cy="123825"/>
          </a:xfrm>
          <a:prstGeom prst="rect">
            <a:avLst/>
          </a:prstGeom>
        </p:spPr>
      </p:pic>
      <p:sp>
        <p:nvSpPr>
          <p:cNvPr id="96" name="Text 75"/>
          <p:cNvSpPr/>
          <p:nvPr/>
        </p:nvSpPr>
        <p:spPr>
          <a:xfrm>
            <a:off x="11228070" y="2452688"/>
            <a:ext cx="6248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(</a:t>
            </a:r>
            <a:endParaRPr lang="en-US" sz="900" dirty="0"/>
          </a:p>
        </p:txBody>
      </p:sp>
      <p:sp>
        <p:nvSpPr>
          <p:cNvPr id="97" name="Text 76"/>
          <p:cNvSpPr/>
          <p:nvPr/>
        </p:nvSpPr>
        <p:spPr>
          <a:xfrm>
            <a:off x="11891010" y="2462213"/>
            <a:ext cx="213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900" dirty="0"/>
          </a:p>
        </p:txBody>
      </p:sp>
      <p:sp>
        <p:nvSpPr>
          <p:cNvPr id="98" name="Text 77"/>
          <p:cNvSpPr/>
          <p:nvPr/>
        </p:nvSpPr>
        <p:spPr>
          <a:xfrm>
            <a:off x="12066270" y="2452688"/>
            <a:ext cx="144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99" name="Shape 78"/>
          <p:cNvSpPr/>
          <p:nvPr/>
        </p:nvSpPr>
        <p:spPr>
          <a:xfrm>
            <a:off x="2628900" y="2862263"/>
            <a:ext cx="4786313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00" name="Text 79"/>
          <p:cNvSpPr/>
          <p:nvPr/>
        </p:nvSpPr>
        <p:spPr>
          <a:xfrm>
            <a:off x="2790825" y="3024188"/>
            <a:ext cx="286179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1050" dirty="0"/>
          </a:p>
        </p:txBody>
      </p:sp>
      <p:sp>
        <p:nvSpPr>
          <p:cNvPr id="101" name="Shape 80"/>
          <p:cNvSpPr/>
          <p:nvPr/>
        </p:nvSpPr>
        <p:spPr>
          <a:xfrm>
            <a:off x="6346507" y="3024188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02" name="Text 81"/>
          <p:cNvSpPr/>
          <p:nvPr/>
        </p:nvSpPr>
        <p:spPr>
          <a:xfrm>
            <a:off x="6422707" y="305752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03" name="Text 82"/>
          <p:cNvSpPr/>
          <p:nvPr/>
        </p:nvSpPr>
        <p:spPr>
          <a:xfrm>
            <a:off x="2790825" y="3309938"/>
            <a:ext cx="459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Moved all token verification to the API gateway. Downstream services trust a signed internal header and never re-validate. This collapses per-service auth code and gives one place to rotate keys.</a:t>
            </a:r>
            <a:endParaRPr lang="en-US" sz="900" dirty="0"/>
          </a:p>
        </p:txBody>
      </p:sp>
      <p:sp>
        <p:nvSpPr>
          <p:cNvPr id="104" name="Shape 83"/>
          <p:cNvSpPr/>
          <p:nvPr/>
        </p:nvSpPr>
        <p:spPr>
          <a:xfrm>
            <a:off x="2790825" y="3795713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05" name="Text 84"/>
          <p:cNvSpPr/>
          <p:nvPr/>
        </p:nvSpPr>
        <p:spPr>
          <a:xfrm>
            <a:off x="2857500" y="3824288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#security</a:t>
            </a:r>
            <a:endParaRPr lang="en-US" sz="750" dirty="0"/>
          </a:p>
        </p:txBody>
      </p:sp>
      <p:sp>
        <p:nvSpPr>
          <p:cNvPr id="106" name="Shape 85"/>
          <p:cNvSpPr/>
          <p:nvPr/>
        </p:nvSpPr>
        <p:spPr>
          <a:xfrm>
            <a:off x="3514725" y="3795713"/>
            <a:ext cx="5334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07" name="Text 86"/>
          <p:cNvSpPr/>
          <p:nvPr/>
        </p:nvSpPr>
        <p:spPr>
          <a:xfrm>
            <a:off x="3581400" y="3824288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#tokens</a:t>
            </a:r>
            <a:endParaRPr lang="en-US" sz="750" dirty="0"/>
          </a:p>
        </p:txBody>
      </p:sp>
      <p:sp>
        <p:nvSpPr>
          <p:cNvPr id="108" name="Shape 87"/>
          <p:cNvSpPr/>
          <p:nvPr/>
        </p:nvSpPr>
        <p:spPr>
          <a:xfrm>
            <a:off x="2790825" y="4090987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09" name="Text 88"/>
          <p:cNvSpPr/>
          <p:nvPr/>
        </p:nvSpPr>
        <p:spPr>
          <a:xfrm>
            <a:off x="2847181" y="4153853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510" dirty="0"/>
          </a:p>
        </p:txBody>
      </p:sp>
      <p:sp>
        <p:nvSpPr>
          <p:cNvPr id="110" name="Text 89"/>
          <p:cNvSpPr/>
          <p:nvPr/>
        </p:nvSpPr>
        <p:spPr>
          <a:xfrm>
            <a:off x="3057525" y="4111149"/>
            <a:ext cx="61626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788" dirty="0"/>
          </a:p>
        </p:txBody>
      </p:sp>
      <p:sp>
        <p:nvSpPr>
          <p:cNvPr id="111" name="Text 90"/>
          <p:cNvSpPr/>
          <p:nvPr/>
        </p:nvSpPr>
        <p:spPr>
          <a:xfrm>
            <a:off x="3673793" y="41111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12" name="Text 91"/>
          <p:cNvSpPr/>
          <p:nvPr/>
        </p:nvSpPr>
        <p:spPr>
          <a:xfrm>
            <a:off x="3810000" y="4111149"/>
            <a:ext cx="79629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788" dirty="0"/>
          </a:p>
        </p:txBody>
      </p:sp>
      <p:sp>
        <p:nvSpPr>
          <p:cNvPr id="113" name="Text 92"/>
          <p:cNvSpPr/>
          <p:nvPr/>
        </p:nvSpPr>
        <p:spPr>
          <a:xfrm>
            <a:off x="4606290" y="411114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14" name="Text 93"/>
          <p:cNvSpPr/>
          <p:nvPr/>
        </p:nvSpPr>
        <p:spPr>
          <a:xfrm>
            <a:off x="4742497" y="4111149"/>
            <a:ext cx="12163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Jun 2026 · 10:33</a:t>
            </a:r>
            <a:endParaRPr lang="en-US" sz="788" dirty="0"/>
          </a:p>
        </p:txBody>
      </p:sp>
      <p:sp>
        <p:nvSpPr>
          <p:cNvPr id="115" name="Shape 94"/>
          <p:cNvSpPr/>
          <p:nvPr/>
        </p:nvSpPr>
        <p:spPr>
          <a:xfrm>
            <a:off x="7529513" y="2862263"/>
            <a:ext cx="4786313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16" name="Text 95"/>
          <p:cNvSpPr/>
          <p:nvPr/>
        </p:nvSpPr>
        <p:spPr>
          <a:xfrm>
            <a:off x="7691438" y="3024188"/>
            <a:ext cx="2866865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1050" dirty="0"/>
          </a:p>
        </p:txBody>
      </p:sp>
      <p:sp>
        <p:nvSpPr>
          <p:cNvPr id="117" name="Shape 96"/>
          <p:cNvSpPr/>
          <p:nvPr/>
        </p:nvSpPr>
        <p:spPr>
          <a:xfrm>
            <a:off x="11247120" y="3024188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18" name="Text 97"/>
          <p:cNvSpPr/>
          <p:nvPr/>
        </p:nvSpPr>
        <p:spPr>
          <a:xfrm>
            <a:off x="11323320" y="305752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9" name="Text 98"/>
          <p:cNvSpPr/>
          <p:nvPr/>
        </p:nvSpPr>
        <p:spPr>
          <a:xfrm>
            <a:off x="7691438" y="3309938"/>
            <a:ext cx="459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central-store is the only writer for the HNSW index. Replicas in us-east-1 / ap-south-1 are strictly read paths. Writes fan out via logical replication; reads can lag ~400ms under load — acceptable.</a:t>
            </a:r>
            <a:endParaRPr lang="en-US" sz="900" dirty="0"/>
          </a:p>
        </p:txBody>
      </p:sp>
      <p:sp>
        <p:nvSpPr>
          <p:cNvPr id="120" name="Shape 99"/>
          <p:cNvSpPr/>
          <p:nvPr/>
        </p:nvSpPr>
        <p:spPr>
          <a:xfrm>
            <a:off x="7691438" y="3795713"/>
            <a:ext cx="4191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21" name="Text 100"/>
          <p:cNvSpPr/>
          <p:nvPr/>
        </p:nvSpPr>
        <p:spPr>
          <a:xfrm>
            <a:off x="7758113" y="3824288"/>
            <a:ext cx="361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#hnsw</a:t>
            </a:r>
            <a:endParaRPr lang="en-US" sz="750" dirty="0"/>
          </a:p>
        </p:txBody>
      </p:sp>
      <p:sp>
        <p:nvSpPr>
          <p:cNvPr id="122" name="Shape 101"/>
          <p:cNvSpPr/>
          <p:nvPr/>
        </p:nvSpPr>
        <p:spPr>
          <a:xfrm>
            <a:off x="8186738" y="3795713"/>
            <a:ext cx="81915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23" name="Text 102"/>
          <p:cNvSpPr/>
          <p:nvPr/>
        </p:nvSpPr>
        <p:spPr>
          <a:xfrm>
            <a:off x="8253412" y="3824288"/>
            <a:ext cx="7620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#replication</a:t>
            </a:r>
            <a:endParaRPr lang="en-US" sz="750" dirty="0"/>
          </a:p>
        </p:txBody>
      </p:sp>
      <p:sp>
        <p:nvSpPr>
          <p:cNvPr id="124" name="Shape 103"/>
          <p:cNvSpPr/>
          <p:nvPr/>
        </p:nvSpPr>
        <p:spPr>
          <a:xfrm>
            <a:off x="9082088" y="3795713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25" name="Text 104"/>
          <p:cNvSpPr/>
          <p:nvPr/>
        </p:nvSpPr>
        <p:spPr>
          <a:xfrm>
            <a:off x="9148762" y="3824288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#postgres</a:t>
            </a:r>
            <a:endParaRPr lang="en-US" sz="750" dirty="0"/>
          </a:p>
        </p:txBody>
      </p:sp>
      <p:sp>
        <p:nvSpPr>
          <p:cNvPr id="126" name="Shape 105"/>
          <p:cNvSpPr/>
          <p:nvPr/>
        </p:nvSpPr>
        <p:spPr>
          <a:xfrm>
            <a:off x="7691438" y="4090987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27" name="Text 106"/>
          <p:cNvSpPr/>
          <p:nvPr/>
        </p:nvSpPr>
        <p:spPr>
          <a:xfrm>
            <a:off x="7747794" y="4153853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510" dirty="0"/>
          </a:p>
        </p:txBody>
      </p:sp>
      <p:sp>
        <p:nvSpPr>
          <p:cNvPr id="128" name="Text 107"/>
          <p:cNvSpPr/>
          <p:nvPr/>
        </p:nvSpPr>
        <p:spPr>
          <a:xfrm>
            <a:off x="7958138" y="411114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</a:t>
            </a:r>
            <a:endParaRPr lang="en-US" sz="788" dirty="0"/>
          </a:p>
        </p:txBody>
      </p:sp>
      <p:sp>
        <p:nvSpPr>
          <p:cNvPr id="129" name="Text 108"/>
          <p:cNvSpPr/>
          <p:nvPr/>
        </p:nvSpPr>
        <p:spPr>
          <a:xfrm>
            <a:off x="8514398" y="41111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30" name="Text 109"/>
          <p:cNvSpPr/>
          <p:nvPr/>
        </p:nvSpPr>
        <p:spPr>
          <a:xfrm>
            <a:off x="8650605" y="411114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788" dirty="0"/>
          </a:p>
        </p:txBody>
      </p:sp>
      <p:sp>
        <p:nvSpPr>
          <p:cNvPr id="131" name="Text 110"/>
          <p:cNvSpPr/>
          <p:nvPr/>
        </p:nvSpPr>
        <p:spPr>
          <a:xfrm>
            <a:off x="9206865" y="411114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32" name="Text 111"/>
          <p:cNvSpPr/>
          <p:nvPr/>
        </p:nvSpPr>
        <p:spPr>
          <a:xfrm>
            <a:off x="9343073" y="4111149"/>
            <a:ext cx="12163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Jun 2026 · 01:37</a:t>
            </a:r>
            <a:endParaRPr lang="en-US" sz="788" dirty="0"/>
          </a:p>
        </p:txBody>
      </p:sp>
      <p:sp>
        <p:nvSpPr>
          <p:cNvPr id="133" name="Shape 112"/>
          <p:cNvSpPr/>
          <p:nvPr/>
        </p:nvSpPr>
        <p:spPr>
          <a:xfrm>
            <a:off x="2628900" y="4557713"/>
            <a:ext cx="4786313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34" name="Text 113"/>
          <p:cNvSpPr/>
          <p:nvPr/>
        </p:nvSpPr>
        <p:spPr>
          <a:xfrm>
            <a:off x="2790825" y="4719638"/>
            <a:ext cx="3318323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1050" dirty="0"/>
          </a:p>
        </p:txBody>
      </p:sp>
      <p:sp>
        <p:nvSpPr>
          <p:cNvPr id="135" name="Shape 114"/>
          <p:cNvSpPr/>
          <p:nvPr/>
        </p:nvSpPr>
        <p:spPr>
          <a:xfrm>
            <a:off x="6723698" y="4719638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36" name="Text 115"/>
          <p:cNvSpPr/>
          <p:nvPr/>
        </p:nvSpPr>
        <p:spPr>
          <a:xfrm>
            <a:off x="6799898" y="4752975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37" name="Text 116"/>
          <p:cNvSpPr/>
          <p:nvPr/>
        </p:nvSpPr>
        <p:spPr>
          <a:xfrm>
            <a:off x="2790825" y="5005388"/>
            <a:ext cx="459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 keys were evicted under memory pressure, causing cache stampedes. Switched to allkeys-lfu and raised maxmemory to 2.0GB; stampede rate dropped to ~0.</a:t>
            </a:r>
            <a:endParaRPr lang="en-US" sz="900" dirty="0"/>
          </a:p>
        </p:txBody>
      </p:sp>
      <p:sp>
        <p:nvSpPr>
          <p:cNvPr id="138" name="Shape 117"/>
          <p:cNvSpPr/>
          <p:nvPr/>
        </p:nvSpPr>
        <p:spPr>
          <a:xfrm>
            <a:off x="2790825" y="5491163"/>
            <a:ext cx="47625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39" name="Text 118"/>
          <p:cNvSpPr/>
          <p:nvPr/>
        </p:nvSpPr>
        <p:spPr>
          <a:xfrm>
            <a:off x="2857500" y="5519738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#redis</a:t>
            </a:r>
            <a:endParaRPr lang="en-US" sz="750" dirty="0"/>
          </a:p>
        </p:txBody>
      </p:sp>
      <p:sp>
        <p:nvSpPr>
          <p:cNvPr id="140" name="Shape 119"/>
          <p:cNvSpPr/>
          <p:nvPr/>
        </p:nvSpPr>
        <p:spPr>
          <a:xfrm>
            <a:off x="3343275" y="5491163"/>
            <a:ext cx="4191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41" name="Text 120"/>
          <p:cNvSpPr/>
          <p:nvPr/>
        </p:nvSpPr>
        <p:spPr>
          <a:xfrm>
            <a:off x="3409950" y="5519738"/>
            <a:ext cx="361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#perf</a:t>
            </a:r>
            <a:endParaRPr lang="en-US" sz="750" dirty="0"/>
          </a:p>
        </p:txBody>
      </p:sp>
      <p:sp>
        <p:nvSpPr>
          <p:cNvPr id="142" name="Shape 121"/>
          <p:cNvSpPr/>
          <p:nvPr/>
        </p:nvSpPr>
        <p:spPr>
          <a:xfrm>
            <a:off x="2790825" y="578643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43" name="Text 122"/>
          <p:cNvSpPr/>
          <p:nvPr/>
        </p:nvSpPr>
        <p:spPr>
          <a:xfrm>
            <a:off x="2847181" y="584930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510" dirty="0"/>
          </a:p>
        </p:txBody>
      </p:sp>
      <p:sp>
        <p:nvSpPr>
          <p:cNvPr id="144" name="Text 123"/>
          <p:cNvSpPr/>
          <p:nvPr/>
        </p:nvSpPr>
        <p:spPr>
          <a:xfrm>
            <a:off x="3057525" y="5806599"/>
            <a:ext cx="61626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788" dirty="0"/>
          </a:p>
        </p:txBody>
      </p:sp>
      <p:sp>
        <p:nvSpPr>
          <p:cNvPr id="145" name="Text 124"/>
          <p:cNvSpPr/>
          <p:nvPr/>
        </p:nvSpPr>
        <p:spPr>
          <a:xfrm>
            <a:off x="3673793" y="58065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46" name="Text 125"/>
          <p:cNvSpPr/>
          <p:nvPr/>
        </p:nvSpPr>
        <p:spPr>
          <a:xfrm>
            <a:off x="3810000" y="580659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788" dirty="0"/>
          </a:p>
        </p:txBody>
      </p:sp>
      <p:sp>
        <p:nvSpPr>
          <p:cNvPr id="147" name="Text 126"/>
          <p:cNvSpPr/>
          <p:nvPr/>
        </p:nvSpPr>
        <p:spPr>
          <a:xfrm>
            <a:off x="4366260" y="58065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48" name="Text 127"/>
          <p:cNvSpPr/>
          <p:nvPr/>
        </p:nvSpPr>
        <p:spPr>
          <a:xfrm>
            <a:off x="4502468" y="5806599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Jun 2026 · 21:57</a:t>
            </a:r>
            <a:endParaRPr lang="en-US" sz="788" dirty="0"/>
          </a:p>
        </p:txBody>
      </p:sp>
      <p:sp>
        <p:nvSpPr>
          <p:cNvPr id="149" name="Shape 128"/>
          <p:cNvSpPr/>
          <p:nvPr/>
        </p:nvSpPr>
        <p:spPr>
          <a:xfrm>
            <a:off x="7529513" y="4557713"/>
            <a:ext cx="4786313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50" name="Text 129"/>
          <p:cNvSpPr/>
          <p:nvPr/>
        </p:nvSpPr>
        <p:spPr>
          <a:xfrm>
            <a:off x="7691438" y="4719638"/>
            <a:ext cx="2656588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1050" dirty="0"/>
          </a:p>
        </p:txBody>
      </p:sp>
      <p:sp>
        <p:nvSpPr>
          <p:cNvPr id="151" name="Shape 130"/>
          <p:cNvSpPr/>
          <p:nvPr/>
        </p:nvSpPr>
        <p:spPr>
          <a:xfrm>
            <a:off x="11247120" y="4719638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52" name="Text 131"/>
          <p:cNvSpPr/>
          <p:nvPr/>
        </p:nvSpPr>
        <p:spPr>
          <a:xfrm>
            <a:off x="11323320" y="475297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53" name="Text 132"/>
          <p:cNvSpPr/>
          <p:nvPr/>
        </p:nvSpPr>
        <p:spPr>
          <a:xfrm>
            <a:off x="7691438" y="5005388"/>
            <a:ext cx="459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is now a worker process behind a queue; the gateway only accepts and acks. Backpressure lives in the queue, so a slow index never stalls the API.</a:t>
            </a:r>
            <a:endParaRPr lang="en-US" sz="900" dirty="0"/>
          </a:p>
        </p:txBody>
      </p:sp>
      <p:sp>
        <p:nvSpPr>
          <p:cNvPr id="154" name="Shape 133"/>
          <p:cNvSpPr/>
          <p:nvPr/>
        </p:nvSpPr>
        <p:spPr>
          <a:xfrm>
            <a:off x="7691438" y="5491163"/>
            <a:ext cx="4191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55" name="Text 134"/>
          <p:cNvSpPr/>
          <p:nvPr/>
        </p:nvSpPr>
        <p:spPr>
          <a:xfrm>
            <a:off x="7758113" y="5519738"/>
            <a:ext cx="361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#perf</a:t>
            </a:r>
            <a:endParaRPr lang="en-US" sz="750" dirty="0"/>
          </a:p>
        </p:txBody>
      </p:sp>
      <p:sp>
        <p:nvSpPr>
          <p:cNvPr id="156" name="Shape 135"/>
          <p:cNvSpPr/>
          <p:nvPr/>
        </p:nvSpPr>
        <p:spPr>
          <a:xfrm>
            <a:off x="8186738" y="5491163"/>
            <a:ext cx="93345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57" name="Text 136"/>
          <p:cNvSpPr/>
          <p:nvPr/>
        </p:nvSpPr>
        <p:spPr>
          <a:xfrm>
            <a:off x="8253412" y="5519738"/>
            <a:ext cx="876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#observability</a:t>
            </a:r>
            <a:endParaRPr lang="en-US" sz="750" dirty="0"/>
          </a:p>
        </p:txBody>
      </p:sp>
      <p:sp>
        <p:nvSpPr>
          <p:cNvPr id="158" name="Shape 137"/>
          <p:cNvSpPr/>
          <p:nvPr/>
        </p:nvSpPr>
        <p:spPr>
          <a:xfrm>
            <a:off x="7691438" y="578643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159" name="Text 138"/>
          <p:cNvSpPr/>
          <p:nvPr/>
        </p:nvSpPr>
        <p:spPr>
          <a:xfrm>
            <a:off x="7747794" y="584930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510" dirty="0"/>
          </a:p>
        </p:txBody>
      </p:sp>
      <p:sp>
        <p:nvSpPr>
          <p:cNvPr id="160" name="Text 139"/>
          <p:cNvSpPr/>
          <p:nvPr/>
        </p:nvSpPr>
        <p:spPr>
          <a:xfrm>
            <a:off x="7958138" y="580659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</a:t>
            </a:r>
            <a:endParaRPr lang="en-US" sz="788" dirty="0"/>
          </a:p>
        </p:txBody>
      </p:sp>
      <p:sp>
        <p:nvSpPr>
          <p:cNvPr id="161" name="Text 140"/>
          <p:cNvSpPr/>
          <p:nvPr/>
        </p:nvSpPr>
        <p:spPr>
          <a:xfrm>
            <a:off x="8514398" y="58065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62" name="Text 141"/>
          <p:cNvSpPr/>
          <p:nvPr/>
        </p:nvSpPr>
        <p:spPr>
          <a:xfrm>
            <a:off x="8650605" y="580659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788" dirty="0"/>
          </a:p>
        </p:txBody>
      </p:sp>
      <p:sp>
        <p:nvSpPr>
          <p:cNvPr id="163" name="Text 142"/>
          <p:cNvSpPr/>
          <p:nvPr/>
        </p:nvSpPr>
        <p:spPr>
          <a:xfrm>
            <a:off x="9326880" y="58065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64" name="Text 143"/>
          <p:cNvSpPr/>
          <p:nvPr/>
        </p:nvSpPr>
        <p:spPr>
          <a:xfrm>
            <a:off x="9463088" y="5806599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Jun 2026 · 20:44</a:t>
            </a:r>
            <a:endParaRPr lang="en-US" sz="788" dirty="0"/>
          </a:p>
        </p:txBody>
      </p:sp>
      <p:sp>
        <p:nvSpPr>
          <p:cNvPr id="165" name="Shape 144"/>
          <p:cNvSpPr/>
          <p:nvPr/>
        </p:nvSpPr>
        <p:spPr>
          <a:xfrm>
            <a:off x="2628900" y="6253163"/>
            <a:ext cx="4786313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66" name="Text 145"/>
          <p:cNvSpPr/>
          <p:nvPr/>
        </p:nvSpPr>
        <p:spPr>
          <a:xfrm>
            <a:off x="2790825" y="6415088"/>
            <a:ext cx="2707767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1050" dirty="0"/>
          </a:p>
        </p:txBody>
      </p:sp>
      <p:sp>
        <p:nvSpPr>
          <p:cNvPr id="167" name="Shape 146"/>
          <p:cNvSpPr/>
          <p:nvPr/>
        </p:nvSpPr>
        <p:spPr>
          <a:xfrm>
            <a:off x="6723698" y="6415088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68" name="Text 147"/>
          <p:cNvSpPr/>
          <p:nvPr/>
        </p:nvSpPr>
        <p:spPr>
          <a:xfrm>
            <a:off x="6799898" y="6448425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69" name="Text 148"/>
          <p:cNvSpPr/>
          <p:nvPr/>
        </p:nvSpPr>
        <p:spPr>
          <a:xfrm>
            <a:off x="2790825" y="6700838"/>
            <a:ext cx="459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requests racing the first refresh both minted tokens, invalidating each other. Fixed with a single-flight lock keyed by session id so only one refresh runs; others await its result.</a:t>
            </a:r>
            <a:endParaRPr lang="en-US" sz="900" dirty="0"/>
          </a:p>
        </p:txBody>
      </p:sp>
      <p:sp>
        <p:nvSpPr>
          <p:cNvPr id="170" name="Shape 149"/>
          <p:cNvSpPr/>
          <p:nvPr/>
        </p:nvSpPr>
        <p:spPr>
          <a:xfrm>
            <a:off x="2790825" y="7186613"/>
            <a:ext cx="5334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71" name="Text 150"/>
          <p:cNvSpPr/>
          <p:nvPr/>
        </p:nvSpPr>
        <p:spPr>
          <a:xfrm>
            <a:off x="2857500" y="7215188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#tokens</a:t>
            </a:r>
            <a:endParaRPr lang="en-US" sz="750" dirty="0"/>
          </a:p>
        </p:txBody>
      </p:sp>
      <p:sp>
        <p:nvSpPr>
          <p:cNvPr id="172" name="Shape 151"/>
          <p:cNvSpPr/>
          <p:nvPr/>
        </p:nvSpPr>
        <p:spPr>
          <a:xfrm>
            <a:off x="3400425" y="7186613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73" name="Text 152"/>
          <p:cNvSpPr/>
          <p:nvPr/>
        </p:nvSpPr>
        <p:spPr>
          <a:xfrm>
            <a:off x="3467100" y="7215188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#security</a:t>
            </a:r>
            <a:endParaRPr lang="en-US" sz="750" dirty="0"/>
          </a:p>
        </p:txBody>
      </p:sp>
      <p:sp>
        <p:nvSpPr>
          <p:cNvPr id="174" name="Shape 153"/>
          <p:cNvSpPr/>
          <p:nvPr/>
        </p:nvSpPr>
        <p:spPr>
          <a:xfrm>
            <a:off x="2790825" y="7481887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75" name="Text 154"/>
          <p:cNvSpPr/>
          <p:nvPr/>
        </p:nvSpPr>
        <p:spPr>
          <a:xfrm>
            <a:off x="2847181" y="754475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510" dirty="0"/>
          </a:p>
        </p:txBody>
      </p:sp>
      <p:sp>
        <p:nvSpPr>
          <p:cNvPr id="176" name="Text 155"/>
          <p:cNvSpPr/>
          <p:nvPr/>
        </p:nvSpPr>
        <p:spPr>
          <a:xfrm>
            <a:off x="3057525" y="7502049"/>
            <a:ext cx="73628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788" dirty="0"/>
          </a:p>
        </p:txBody>
      </p:sp>
      <p:sp>
        <p:nvSpPr>
          <p:cNvPr id="177" name="Text 156"/>
          <p:cNvSpPr/>
          <p:nvPr/>
        </p:nvSpPr>
        <p:spPr>
          <a:xfrm>
            <a:off x="3793807" y="75020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78" name="Text 157"/>
          <p:cNvSpPr/>
          <p:nvPr/>
        </p:nvSpPr>
        <p:spPr>
          <a:xfrm>
            <a:off x="3930015" y="7502049"/>
            <a:ext cx="79629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788" dirty="0"/>
          </a:p>
        </p:txBody>
      </p:sp>
      <p:sp>
        <p:nvSpPr>
          <p:cNvPr id="179" name="Text 158"/>
          <p:cNvSpPr/>
          <p:nvPr/>
        </p:nvSpPr>
        <p:spPr>
          <a:xfrm>
            <a:off x="4726305" y="75020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80" name="Text 159"/>
          <p:cNvSpPr/>
          <p:nvPr/>
        </p:nvSpPr>
        <p:spPr>
          <a:xfrm>
            <a:off x="4862513" y="7502049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Jun 2026 · 17:48</a:t>
            </a:r>
            <a:endParaRPr lang="en-US" sz="788" dirty="0"/>
          </a:p>
        </p:txBody>
      </p:sp>
      <p:sp>
        <p:nvSpPr>
          <p:cNvPr id="181" name="Text 160"/>
          <p:cNvSpPr/>
          <p:nvPr/>
        </p:nvSpPr>
        <p:spPr>
          <a:xfrm>
            <a:off x="6078855" y="75020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82" name="Text 161"/>
          <p:cNvSpPr/>
          <p:nvPr/>
        </p:nvSpPr>
        <p:spPr>
          <a:xfrm>
            <a:off x="6215063" y="750204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3versions</a:t>
            </a:r>
            <a:endParaRPr lang="en-US" sz="788" dirty="0"/>
          </a:p>
        </p:txBody>
      </p:sp>
      <p:sp>
        <p:nvSpPr>
          <p:cNvPr id="183" name="Shape 162"/>
          <p:cNvSpPr/>
          <p:nvPr/>
        </p:nvSpPr>
        <p:spPr>
          <a:xfrm>
            <a:off x="7529513" y="6253163"/>
            <a:ext cx="4786313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84" name="Text 163"/>
          <p:cNvSpPr/>
          <p:nvPr/>
        </p:nvSpPr>
        <p:spPr>
          <a:xfrm>
            <a:off x="7691438" y="6415088"/>
            <a:ext cx="2302351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1050" dirty="0"/>
          </a:p>
        </p:txBody>
      </p:sp>
      <p:sp>
        <p:nvSpPr>
          <p:cNvPr id="185" name="Shape 164"/>
          <p:cNvSpPr/>
          <p:nvPr/>
        </p:nvSpPr>
        <p:spPr>
          <a:xfrm>
            <a:off x="11247120" y="6415088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86" name="Text 165"/>
          <p:cNvSpPr/>
          <p:nvPr/>
        </p:nvSpPr>
        <p:spPr>
          <a:xfrm>
            <a:off x="11323320" y="644842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87" name="Text 166"/>
          <p:cNvSpPr/>
          <p:nvPr/>
        </p:nvSpPr>
        <p:spPr>
          <a:xfrm>
            <a:off x="7691438" y="6700838"/>
            <a:ext cx="459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daemon keeps a local op-log. On reconnect we replay against a last-writer-wins CRDT keyed by topic_key + logical clock. Conflicts that can't auto-resolve surface to the conflict viewer.</a:t>
            </a:r>
            <a:endParaRPr lang="en-US" sz="900" dirty="0"/>
          </a:p>
        </p:txBody>
      </p:sp>
      <p:sp>
        <p:nvSpPr>
          <p:cNvPr id="188" name="Shape 167"/>
          <p:cNvSpPr/>
          <p:nvPr/>
        </p:nvSpPr>
        <p:spPr>
          <a:xfrm>
            <a:off x="7691438" y="7186613"/>
            <a:ext cx="4191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89" name="Text 168"/>
          <p:cNvSpPr/>
          <p:nvPr/>
        </p:nvSpPr>
        <p:spPr>
          <a:xfrm>
            <a:off x="7758113" y="7215188"/>
            <a:ext cx="361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#crdt</a:t>
            </a:r>
            <a:endParaRPr lang="en-US" sz="750" dirty="0"/>
          </a:p>
        </p:txBody>
      </p:sp>
      <p:sp>
        <p:nvSpPr>
          <p:cNvPr id="190" name="Shape 169"/>
          <p:cNvSpPr/>
          <p:nvPr/>
        </p:nvSpPr>
        <p:spPr>
          <a:xfrm>
            <a:off x="8186738" y="7186613"/>
            <a:ext cx="93345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91" name="Text 170"/>
          <p:cNvSpPr/>
          <p:nvPr/>
        </p:nvSpPr>
        <p:spPr>
          <a:xfrm>
            <a:off x="8253412" y="7215188"/>
            <a:ext cx="8763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#offline-first</a:t>
            </a:r>
            <a:endParaRPr lang="en-US" sz="750" dirty="0"/>
          </a:p>
        </p:txBody>
      </p:sp>
      <p:sp>
        <p:nvSpPr>
          <p:cNvPr id="192" name="Shape 171"/>
          <p:cNvSpPr/>
          <p:nvPr/>
        </p:nvSpPr>
        <p:spPr>
          <a:xfrm>
            <a:off x="9196388" y="7186613"/>
            <a:ext cx="81915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93" name="Text 172"/>
          <p:cNvSpPr/>
          <p:nvPr/>
        </p:nvSpPr>
        <p:spPr>
          <a:xfrm>
            <a:off x="9263062" y="7215188"/>
            <a:ext cx="7620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#replication</a:t>
            </a:r>
            <a:endParaRPr lang="en-US" sz="750" dirty="0"/>
          </a:p>
        </p:txBody>
      </p:sp>
      <p:sp>
        <p:nvSpPr>
          <p:cNvPr id="194" name="Shape 173"/>
          <p:cNvSpPr/>
          <p:nvPr/>
        </p:nvSpPr>
        <p:spPr>
          <a:xfrm>
            <a:off x="7691438" y="7481887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195" name="Text 174"/>
          <p:cNvSpPr/>
          <p:nvPr/>
        </p:nvSpPr>
        <p:spPr>
          <a:xfrm>
            <a:off x="7747794" y="754475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510" dirty="0"/>
          </a:p>
        </p:txBody>
      </p:sp>
      <p:sp>
        <p:nvSpPr>
          <p:cNvPr id="196" name="Text 175"/>
          <p:cNvSpPr/>
          <p:nvPr/>
        </p:nvSpPr>
        <p:spPr>
          <a:xfrm>
            <a:off x="7958138" y="750204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788" dirty="0"/>
          </a:p>
        </p:txBody>
      </p:sp>
      <p:sp>
        <p:nvSpPr>
          <p:cNvPr id="197" name="Text 176"/>
          <p:cNvSpPr/>
          <p:nvPr/>
        </p:nvSpPr>
        <p:spPr>
          <a:xfrm>
            <a:off x="8514398" y="75020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98" name="Text 177"/>
          <p:cNvSpPr/>
          <p:nvPr/>
        </p:nvSpPr>
        <p:spPr>
          <a:xfrm>
            <a:off x="8650605" y="7502049"/>
            <a:ext cx="85629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788" dirty="0"/>
          </a:p>
        </p:txBody>
      </p:sp>
      <p:sp>
        <p:nvSpPr>
          <p:cNvPr id="199" name="Text 178"/>
          <p:cNvSpPr/>
          <p:nvPr/>
        </p:nvSpPr>
        <p:spPr>
          <a:xfrm>
            <a:off x="9506902" y="750204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00" name="Text 179"/>
          <p:cNvSpPr/>
          <p:nvPr/>
        </p:nvSpPr>
        <p:spPr>
          <a:xfrm>
            <a:off x="9643110" y="7502049"/>
            <a:ext cx="12163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Jun 2026 · 16:39</a:t>
            </a:r>
            <a:endParaRPr lang="en-US" sz="788" dirty="0"/>
          </a:p>
        </p:txBody>
      </p:sp>
      <p:sp>
        <p:nvSpPr>
          <p:cNvPr id="201" name="Text 180"/>
          <p:cNvSpPr/>
          <p:nvPr/>
        </p:nvSpPr>
        <p:spPr>
          <a:xfrm>
            <a:off x="10859452" y="750204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02" name="Text 181"/>
          <p:cNvSpPr/>
          <p:nvPr/>
        </p:nvSpPr>
        <p:spPr>
          <a:xfrm>
            <a:off x="10995660" y="750204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3versions</a:t>
            </a:r>
            <a:endParaRPr lang="en-US" sz="788" dirty="0"/>
          </a:p>
        </p:txBody>
      </p:sp>
      <p:sp>
        <p:nvSpPr>
          <p:cNvPr id="203" name="Shape 182"/>
          <p:cNvSpPr/>
          <p:nvPr/>
        </p:nvSpPr>
        <p:spPr>
          <a:xfrm>
            <a:off x="2628900" y="7948613"/>
            <a:ext cx="4786313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204" name="Text 183"/>
          <p:cNvSpPr/>
          <p:nvPr/>
        </p:nvSpPr>
        <p:spPr>
          <a:xfrm>
            <a:off x="2790825" y="8110537"/>
            <a:ext cx="2214404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1050" dirty="0"/>
          </a:p>
        </p:txBody>
      </p:sp>
      <p:sp>
        <p:nvSpPr>
          <p:cNvPr id="205" name="Shape 184"/>
          <p:cNvSpPr/>
          <p:nvPr/>
        </p:nvSpPr>
        <p:spPr>
          <a:xfrm>
            <a:off x="6723698" y="8110537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206" name="Text 185"/>
          <p:cNvSpPr/>
          <p:nvPr/>
        </p:nvSpPr>
        <p:spPr>
          <a:xfrm>
            <a:off x="6799898" y="8143875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207" name="Text 186"/>
          <p:cNvSpPr/>
          <p:nvPr/>
        </p:nvSpPr>
        <p:spPr>
          <a:xfrm>
            <a:off x="2790825" y="8396288"/>
            <a:ext cx="459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 dimension is pinned at 1536 to match the model. Changing it requires a full reindex of 22.7M vectors. Hard-coded with a startup assertion.</a:t>
            </a:r>
            <a:endParaRPr lang="en-US" sz="900" dirty="0"/>
          </a:p>
        </p:txBody>
      </p:sp>
      <p:sp>
        <p:nvSpPr>
          <p:cNvPr id="208" name="Shape 187"/>
          <p:cNvSpPr/>
          <p:nvPr/>
        </p:nvSpPr>
        <p:spPr>
          <a:xfrm>
            <a:off x="2790825" y="8882063"/>
            <a:ext cx="4191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209" name="Text 188"/>
          <p:cNvSpPr/>
          <p:nvPr/>
        </p:nvSpPr>
        <p:spPr>
          <a:xfrm>
            <a:off x="2857500" y="8910638"/>
            <a:ext cx="361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#hnsw</a:t>
            </a:r>
            <a:endParaRPr lang="en-US" sz="750" dirty="0"/>
          </a:p>
        </p:txBody>
      </p:sp>
      <p:sp>
        <p:nvSpPr>
          <p:cNvPr id="210" name="Shape 189"/>
          <p:cNvSpPr/>
          <p:nvPr/>
        </p:nvSpPr>
        <p:spPr>
          <a:xfrm>
            <a:off x="2790825" y="917733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11" name="Text 190"/>
          <p:cNvSpPr/>
          <p:nvPr/>
        </p:nvSpPr>
        <p:spPr>
          <a:xfrm>
            <a:off x="2847181" y="924020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510" dirty="0"/>
          </a:p>
        </p:txBody>
      </p:sp>
      <p:sp>
        <p:nvSpPr>
          <p:cNvPr id="212" name="Text 191"/>
          <p:cNvSpPr/>
          <p:nvPr/>
        </p:nvSpPr>
        <p:spPr>
          <a:xfrm>
            <a:off x="3057525" y="919749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788" dirty="0"/>
          </a:p>
        </p:txBody>
      </p:sp>
      <p:sp>
        <p:nvSpPr>
          <p:cNvPr id="213" name="Text 192"/>
          <p:cNvSpPr/>
          <p:nvPr/>
        </p:nvSpPr>
        <p:spPr>
          <a:xfrm>
            <a:off x="3613785" y="91974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14" name="Text 193"/>
          <p:cNvSpPr/>
          <p:nvPr/>
        </p:nvSpPr>
        <p:spPr>
          <a:xfrm>
            <a:off x="3749993" y="919749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788" dirty="0"/>
          </a:p>
        </p:txBody>
      </p:sp>
      <p:sp>
        <p:nvSpPr>
          <p:cNvPr id="215" name="Text 194"/>
          <p:cNvSpPr/>
          <p:nvPr/>
        </p:nvSpPr>
        <p:spPr>
          <a:xfrm>
            <a:off x="4306253" y="919749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16" name="Text 195"/>
          <p:cNvSpPr/>
          <p:nvPr/>
        </p:nvSpPr>
        <p:spPr>
          <a:xfrm>
            <a:off x="4442460" y="9197499"/>
            <a:ext cx="12163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Jun 2026 · 16:13</a:t>
            </a:r>
            <a:endParaRPr lang="en-US" sz="788" dirty="0"/>
          </a:p>
        </p:txBody>
      </p:sp>
      <p:sp>
        <p:nvSpPr>
          <p:cNvPr id="217" name="Shape 196"/>
          <p:cNvSpPr/>
          <p:nvPr/>
        </p:nvSpPr>
        <p:spPr>
          <a:xfrm>
            <a:off x="7529513" y="7948613"/>
            <a:ext cx="4786313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218" name="Text 197"/>
          <p:cNvSpPr/>
          <p:nvPr/>
        </p:nvSpPr>
        <p:spPr>
          <a:xfrm>
            <a:off x="7691438" y="8110537"/>
            <a:ext cx="3132245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resolve last-writer-wins, never silent drop</a:t>
            </a:r>
            <a:endParaRPr lang="en-US" sz="1050" dirty="0"/>
          </a:p>
        </p:txBody>
      </p:sp>
      <p:sp>
        <p:nvSpPr>
          <p:cNvPr id="219" name="Shape 198"/>
          <p:cNvSpPr/>
          <p:nvPr/>
        </p:nvSpPr>
        <p:spPr>
          <a:xfrm>
            <a:off x="11498580" y="8110537"/>
            <a:ext cx="65532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34000"/>
              </a:srgbClr>
            </a:solidFill>
            <a:prstDash val="solid"/>
          </a:ln>
        </p:spPr>
      </p:sp>
      <p:sp>
        <p:nvSpPr>
          <p:cNvPr id="220" name="Text 199"/>
          <p:cNvSpPr/>
          <p:nvPr/>
        </p:nvSpPr>
        <p:spPr>
          <a:xfrm>
            <a:off x="11574780" y="8143875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221" name="Text 200"/>
          <p:cNvSpPr/>
          <p:nvPr/>
        </p:nvSpPr>
        <p:spPr>
          <a:xfrm>
            <a:off x="7691438" y="8396288"/>
            <a:ext cx="459633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Decision: when CRDT can't merge, the later write wins but the losing version is preserved and shown in the conflict viewer with a one-click restore. No data is silently lost.</a:t>
            </a:r>
            <a:endParaRPr lang="en-US" sz="900" dirty="0"/>
          </a:p>
        </p:txBody>
      </p:sp>
      <p:sp>
        <p:nvSpPr>
          <p:cNvPr id="222" name="Shape 201"/>
          <p:cNvSpPr/>
          <p:nvPr/>
        </p:nvSpPr>
        <p:spPr>
          <a:xfrm>
            <a:off x="7691438" y="8882063"/>
            <a:ext cx="4191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223" name="Text 202"/>
          <p:cNvSpPr/>
          <p:nvPr/>
        </p:nvSpPr>
        <p:spPr>
          <a:xfrm>
            <a:off x="7758113" y="8910638"/>
            <a:ext cx="361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#crdt</a:t>
            </a:r>
            <a:endParaRPr lang="en-US" sz="750" dirty="0"/>
          </a:p>
        </p:txBody>
      </p:sp>
      <p:sp>
        <p:nvSpPr>
          <p:cNvPr id="224" name="Shape 203"/>
          <p:cNvSpPr/>
          <p:nvPr/>
        </p:nvSpPr>
        <p:spPr>
          <a:xfrm>
            <a:off x="8186738" y="8882063"/>
            <a:ext cx="81915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225" name="Text 204"/>
          <p:cNvSpPr/>
          <p:nvPr/>
        </p:nvSpPr>
        <p:spPr>
          <a:xfrm>
            <a:off x="8253412" y="8910638"/>
            <a:ext cx="7620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#replication</a:t>
            </a:r>
            <a:endParaRPr lang="en-US" sz="750" dirty="0"/>
          </a:p>
        </p:txBody>
      </p:sp>
      <p:sp>
        <p:nvSpPr>
          <p:cNvPr id="226" name="Shape 205"/>
          <p:cNvSpPr/>
          <p:nvPr/>
        </p:nvSpPr>
        <p:spPr>
          <a:xfrm>
            <a:off x="7691438" y="917733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227" name="Text 206"/>
          <p:cNvSpPr/>
          <p:nvPr/>
        </p:nvSpPr>
        <p:spPr>
          <a:xfrm>
            <a:off x="7747794" y="924020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510" dirty="0"/>
          </a:p>
        </p:txBody>
      </p:sp>
      <p:sp>
        <p:nvSpPr>
          <p:cNvPr id="228" name="Text 207"/>
          <p:cNvSpPr/>
          <p:nvPr/>
        </p:nvSpPr>
        <p:spPr>
          <a:xfrm>
            <a:off x="7958138" y="919749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788" dirty="0"/>
          </a:p>
        </p:txBody>
      </p:sp>
      <p:sp>
        <p:nvSpPr>
          <p:cNvPr id="229" name="Text 208"/>
          <p:cNvSpPr/>
          <p:nvPr/>
        </p:nvSpPr>
        <p:spPr>
          <a:xfrm>
            <a:off x="8514398" y="91974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30" name="Text 209"/>
          <p:cNvSpPr/>
          <p:nvPr/>
        </p:nvSpPr>
        <p:spPr>
          <a:xfrm>
            <a:off x="8650605" y="9197499"/>
            <a:ext cx="85629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788" dirty="0"/>
          </a:p>
        </p:txBody>
      </p:sp>
      <p:sp>
        <p:nvSpPr>
          <p:cNvPr id="231" name="Text 210"/>
          <p:cNvSpPr/>
          <p:nvPr/>
        </p:nvSpPr>
        <p:spPr>
          <a:xfrm>
            <a:off x="9506902" y="919749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32" name="Text 211"/>
          <p:cNvSpPr/>
          <p:nvPr/>
        </p:nvSpPr>
        <p:spPr>
          <a:xfrm>
            <a:off x="9643110" y="9197499"/>
            <a:ext cx="12163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Jun 2026 · 12:24</a:t>
            </a:r>
            <a:endParaRPr lang="en-US" sz="788" dirty="0"/>
          </a:p>
        </p:txBody>
      </p:sp>
      <p:sp>
        <p:nvSpPr>
          <p:cNvPr id="233" name="Text 212"/>
          <p:cNvSpPr/>
          <p:nvPr/>
        </p:nvSpPr>
        <p:spPr>
          <a:xfrm>
            <a:off x="10859452" y="919749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34" name="Text 213"/>
          <p:cNvSpPr/>
          <p:nvPr/>
        </p:nvSpPr>
        <p:spPr>
          <a:xfrm>
            <a:off x="10995660" y="919749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3versions</a:t>
            </a:r>
            <a:endParaRPr lang="en-US" sz="788" dirty="0"/>
          </a:p>
        </p:txBody>
      </p:sp>
      <p:sp>
        <p:nvSpPr>
          <p:cNvPr id="235" name="Shape 214"/>
          <p:cNvSpPr/>
          <p:nvPr/>
        </p:nvSpPr>
        <p:spPr>
          <a:xfrm>
            <a:off x="6207443" y="9758363"/>
            <a:ext cx="621030" cy="285750"/>
          </a:xfrm>
          <a:prstGeom prst="roundRect">
            <a:avLst>
              <a:gd name="adj" fmla="val 20000"/>
            </a:avLst>
          </a:prstGeom>
          <a:ln w="9525">
            <a:solidFill>
              <a:srgbClr val="232C3C">
                <a:alpha val="30000"/>
              </a:srgbClr>
            </a:solidFill>
            <a:prstDash val="solid"/>
          </a:ln>
        </p:spPr>
      </p:sp>
      <p:sp>
        <p:nvSpPr>
          <p:cNvPr id="236" name="Text 215"/>
          <p:cNvSpPr/>
          <p:nvPr/>
        </p:nvSpPr>
        <p:spPr>
          <a:xfrm>
            <a:off x="6274118" y="9767888"/>
            <a:ext cx="487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>
                    <a:alpha val="3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prev</a:t>
            </a:r>
            <a:endParaRPr lang="en-US" sz="900" dirty="0"/>
          </a:p>
        </p:txBody>
      </p:sp>
      <p:sp>
        <p:nvSpPr>
          <p:cNvPr id="237" name="Shape 216"/>
          <p:cNvSpPr/>
          <p:nvPr/>
        </p:nvSpPr>
        <p:spPr>
          <a:xfrm>
            <a:off x="6885623" y="975836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3B82E8">
              <a:alpha val="14000"/>
            </a:srgbClr>
          </a:solidFill>
          <a:ln w="9525">
            <a:solidFill>
              <a:srgbClr val="3B82E8">
                <a:alpha val="55000"/>
              </a:srgbClr>
            </a:solidFill>
            <a:prstDash val="solid"/>
          </a:ln>
        </p:spPr>
      </p:sp>
      <p:sp>
        <p:nvSpPr>
          <p:cNvPr id="238" name="Text 217"/>
          <p:cNvSpPr/>
          <p:nvPr/>
        </p:nvSpPr>
        <p:spPr>
          <a:xfrm>
            <a:off x="6857048" y="9767888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239" name="Shape 218"/>
          <p:cNvSpPr/>
          <p:nvPr/>
        </p:nvSpPr>
        <p:spPr>
          <a:xfrm>
            <a:off x="7228523" y="9758363"/>
            <a:ext cx="285750" cy="28575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240" name="Text 219"/>
          <p:cNvSpPr/>
          <p:nvPr/>
        </p:nvSpPr>
        <p:spPr>
          <a:xfrm>
            <a:off x="7199948" y="9767888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241" name="Text 220"/>
          <p:cNvSpPr/>
          <p:nvPr/>
        </p:nvSpPr>
        <p:spPr>
          <a:xfrm>
            <a:off x="7609523" y="9815513"/>
            <a:ext cx="144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900" dirty="0"/>
          </a:p>
        </p:txBody>
      </p:sp>
      <p:sp>
        <p:nvSpPr>
          <p:cNvPr id="242" name="Shape 221"/>
          <p:cNvSpPr/>
          <p:nvPr/>
        </p:nvSpPr>
        <p:spPr>
          <a:xfrm>
            <a:off x="7773352" y="9758363"/>
            <a:ext cx="285750" cy="28575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243" name="Text 222"/>
          <p:cNvSpPr/>
          <p:nvPr/>
        </p:nvSpPr>
        <p:spPr>
          <a:xfrm>
            <a:off x="7744777" y="9767888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244" name="Shape 223"/>
          <p:cNvSpPr/>
          <p:nvPr/>
        </p:nvSpPr>
        <p:spPr>
          <a:xfrm>
            <a:off x="8116252" y="9758363"/>
            <a:ext cx="621030" cy="28575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245" name="Text 224"/>
          <p:cNvSpPr/>
          <p:nvPr/>
        </p:nvSpPr>
        <p:spPr>
          <a:xfrm>
            <a:off x="8182927" y="9767888"/>
            <a:ext cx="4876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→</a:t>
            </a:r>
            <a:endParaRPr lang="en-US" sz="900" dirty="0"/>
          </a:p>
        </p:txBody>
      </p:sp>
      <p:sp>
        <p:nvSpPr>
          <p:cNvPr id="246" name="Shape 225"/>
          <p:cNvSpPr/>
          <p:nvPr/>
        </p:nvSpPr>
        <p:spPr>
          <a:xfrm>
            <a:off x="12315825" y="838200"/>
            <a:ext cx="6286500" cy="9205913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47" name="Shape 226"/>
          <p:cNvSpPr/>
          <p:nvPr/>
        </p:nvSpPr>
        <p:spPr>
          <a:xfrm>
            <a:off x="12315825" y="838200"/>
            <a:ext cx="9525" cy="9205913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48" name="Shape 227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49" name="Shape 228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50" name="Shape 229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1" name="Text 230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52" name="Text 231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53" name="Text 232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54" name="Shape 233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5" name="Text 234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56" name="Text 235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57" name="Shape 236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58" name="Shape 237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9" name="Shape 238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60" name="Shape 239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61" name="Text 240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62" name="Text 241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63" name="Shape 242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64" name="Text 243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65" name="Text 244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66" name="Text 245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67" name="Shape 246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68" name="Shape 247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9" name="Shape 248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70" name="Shape 249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71" name="Text 250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72" name="Text 251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73" name="Shape 252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74" name="Text 253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75" name="Text 254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76" name="Text 255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77" name="Shape 256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78" name="Shape 257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9" name="Shape 258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80" name="Shape 259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81" name="Text 260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82" name="Text 261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283" name="Shape 262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84" name="Text 263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85" name="Text 264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286" name="Text 265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287" name="Shape 266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8" name="Shape 267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289" name="Text 268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290" name="Text 269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291" name="Shape 270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92" name="Text 271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93" name="Text 272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294" name="Text 273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295" name="Shape 274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96" name="Shape 275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97" name="Text 276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298" name="Text 277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299" name="Shape 278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300" name="Text 279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301" name="Text 280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302" name="Text 281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303" name="Shape 282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04" name="Shape 283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305" name="Text 284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306" name="Text 285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307" name="Shape 286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308" name="Text 287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09" name="Text 288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310" name="Text 289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311" name="Shape 290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12" name="Shape 291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313" name="Text 292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314" name="Text 293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315" name="Shape 294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316" name="Text 295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317" name="Text 296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318" name="Text 297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sp>
        <p:nvSpPr>
          <p:cNvPr id="19" name="Shape 12"/>
          <p:cNvSpPr/>
          <p:nvPr/>
        </p:nvSpPr>
        <p:spPr>
          <a:xfrm>
            <a:off x="114300" y="2069306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20" name="Shape 13"/>
          <p:cNvSpPr/>
          <p:nvPr/>
        </p:nvSpPr>
        <p:spPr>
          <a:xfrm>
            <a:off x="114300" y="2145506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7" name="Text 17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74701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EVERY MEMORY ACROSS THE HIVE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747010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Search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38200"/>
            <a:ext cx="9686925" cy="1852612"/>
          </a:xfrm>
          <a:prstGeom prst="roundRect">
            <a:avLst>
              <a:gd name="adj" fmla="val 617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pic>
        <p:nvPicPr>
          <p:cNvPr id="6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81325" y="1219200"/>
            <a:ext cx="171450" cy="171450"/>
          </a:xfrm>
          <a:prstGeom prst="rect">
            <a:avLst/>
          </a:prstGeom>
        </p:spPr>
      </p:pic>
      <p:sp>
        <p:nvSpPr>
          <p:cNvPr id="67" name="Shape 47"/>
          <p:cNvSpPr/>
          <p:nvPr/>
        </p:nvSpPr>
        <p:spPr>
          <a:xfrm>
            <a:off x="2828925" y="1038225"/>
            <a:ext cx="9286875" cy="533400"/>
          </a:xfrm>
          <a:prstGeom prst="roundRect">
            <a:avLst>
              <a:gd name="adj" fmla="val 16071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3B82E8">
                <a:alpha val="70000"/>
              </a:srgbClr>
            </a:solidFill>
            <a:prstDash val="solid"/>
          </a:ln>
        </p:spPr>
      </p:sp>
      <p:sp>
        <p:nvSpPr>
          <p:cNvPr id="68" name="Shape 48"/>
          <p:cNvSpPr/>
          <p:nvPr/>
        </p:nvSpPr>
        <p:spPr>
          <a:xfrm>
            <a:off x="2828925" y="1724025"/>
            <a:ext cx="1229995" cy="309563"/>
          </a:xfrm>
          <a:prstGeom prst="roundRect">
            <a:avLst>
              <a:gd name="adj" fmla="val 18462"/>
            </a:avLst>
          </a:prstGeom>
          <a:solidFill>
            <a:srgbClr val="E0246F">
              <a:alpha val="13000"/>
            </a:srgbClr>
          </a:solidFill>
          <a:ln w="9525">
            <a:solidFill>
              <a:srgbClr val="E0246F">
                <a:alpha val="55000"/>
              </a:srgbClr>
            </a:solidFill>
            <a:prstDash val="solid"/>
          </a:ln>
        </p:spPr>
      </p:sp>
      <p:sp>
        <p:nvSpPr>
          <p:cNvPr id="69" name="Text 49"/>
          <p:cNvSpPr/>
          <p:nvPr/>
        </p:nvSpPr>
        <p:spPr>
          <a:xfrm>
            <a:off x="2914650" y="1800225"/>
            <a:ext cx="10585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CATEGORIES</a:t>
            </a:r>
            <a:endParaRPr lang="en-US" sz="825" dirty="0"/>
          </a:p>
        </p:txBody>
      </p:sp>
      <p:sp>
        <p:nvSpPr>
          <p:cNvPr id="70" name="Shape 50"/>
          <p:cNvSpPr/>
          <p:nvPr/>
        </p:nvSpPr>
        <p:spPr>
          <a:xfrm>
            <a:off x="4135120" y="1724025"/>
            <a:ext cx="1089660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1" name="Text 51"/>
          <p:cNvSpPr/>
          <p:nvPr/>
        </p:nvSpPr>
        <p:spPr>
          <a:xfrm>
            <a:off x="4220845" y="1800225"/>
            <a:ext cx="91821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25" dirty="0"/>
          </a:p>
        </p:txBody>
      </p:sp>
      <p:sp>
        <p:nvSpPr>
          <p:cNvPr id="72" name="Shape 52"/>
          <p:cNvSpPr/>
          <p:nvPr/>
        </p:nvSpPr>
        <p:spPr>
          <a:xfrm>
            <a:off x="5300980" y="1724025"/>
            <a:ext cx="668655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3" name="Text 53"/>
          <p:cNvSpPr/>
          <p:nvPr/>
        </p:nvSpPr>
        <p:spPr>
          <a:xfrm>
            <a:off x="5386705" y="1800225"/>
            <a:ext cx="49720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825" dirty="0"/>
          </a:p>
        </p:txBody>
      </p:sp>
      <p:sp>
        <p:nvSpPr>
          <p:cNvPr id="74" name="Shape 54"/>
          <p:cNvSpPr/>
          <p:nvPr/>
        </p:nvSpPr>
        <p:spPr>
          <a:xfrm>
            <a:off x="6045835" y="1724025"/>
            <a:ext cx="808990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5" name="Text 55"/>
          <p:cNvSpPr/>
          <p:nvPr/>
        </p:nvSpPr>
        <p:spPr>
          <a:xfrm>
            <a:off x="6131560" y="1800225"/>
            <a:ext cx="6375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25" dirty="0"/>
          </a:p>
        </p:txBody>
      </p:sp>
      <p:sp>
        <p:nvSpPr>
          <p:cNvPr id="76" name="Shape 56"/>
          <p:cNvSpPr/>
          <p:nvPr/>
        </p:nvSpPr>
        <p:spPr>
          <a:xfrm>
            <a:off x="6931025" y="1724025"/>
            <a:ext cx="879157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7" name="Text 57"/>
          <p:cNvSpPr/>
          <p:nvPr/>
        </p:nvSpPr>
        <p:spPr>
          <a:xfrm>
            <a:off x="7016750" y="1800225"/>
            <a:ext cx="70770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825" dirty="0"/>
          </a:p>
        </p:txBody>
      </p:sp>
      <p:sp>
        <p:nvSpPr>
          <p:cNvPr id="78" name="Shape 58"/>
          <p:cNvSpPr/>
          <p:nvPr/>
        </p:nvSpPr>
        <p:spPr>
          <a:xfrm>
            <a:off x="7886383" y="1724025"/>
            <a:ext cx="738823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9" name="Text 59"/>
          <p:cNvSpPr/>
          <p:nvPr/>
        </p:nvSpPr>
        <p:spPr>
          <a:xfrm>
            <a:off x="7972108" y="1800225"/>
            <a:ext cx="56737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825" dirty="0"/>
          </a:p>
        </p:txBody>
      </p:sp>
      <p:sp>
        <p:nvSpPr>
          <p:cNvPr id="80" name="Shape 60"/>
          <p:cNvSpPr/>
          <p:nvPr/>
        </p:nvSpPr>
        <p:spPr>
          <a:xfrm>
            <a:off x="8701405" y="1724025"/>
            <a:ext cx="668655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1" name="Text 61"/>
          <p:cNvSpPr/>
          <p:nvPr/>
        </p:nvSpPr>
        <p:spPr>
          <a:xfrm>
            <a:off x="8787130" y="1800225"/>
            <a:ext cx="49720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825" dirty="0"/>
          </a:p>
        </p:txBody>
      </p:sp>
      <p:sp>
        <p:nvSpPr>
          <p:cNvPr id="82" name="Shape 62"/>
          <p:cNvSpPr/>
          <p:nvPr/>
        </p:nvSpPr>
        <p:spPr>
          <a:xfrm>
            <a:off x="9446260" y="1724025"/>
            <a:ext cx="949325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3" name="Text 63"/>
          <p:cNvSpPr/>
          <p:nvPr/>
        </p:nvSpPr>
        <p:spPr>
          <a:xfrm>
            <a:off x="9531985" y="1800225"/>
            <a:ext cx="7778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825" dirty="0"/>
          </a:p>
        </p:txBody>
      </p:sp>
      <p:sp>
        <p:nvSpPr>
          <p:cNvPr id="84" name="Shape 64"/>
          <p:cNvSpPr/>
          <p:nvPr/>
        </p:nvSpPr>
        <p:spPr>
          <a:xfrm>
            <a:off x="10471785" y="1724025"/>
            <a:ext cx="1300163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5" name="Text 65"/>
          <p:cNvSpPr/>
          <p:nvPr/>
        </p:nvSpPr>
        <p:spPr>
          <a:xfrm>
            <a:off x="10557510" y="1800225"/>
            <a:ext cx="112871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825" dirty="0"/>
          </a:p>
        </p:txBody>
      </p:sp>
      <p:sp>
        <p:nvSpPr>
          <p:cNvPr id="86" name="Shape 66"/>
          <p:cNvSpPr/>
          <p:nvPr/>
        </p:nvSpPr>
        <p:spPr>
          <a:xfrm>
            <a:off x="2828925" y="2147888"/>
            <a:ext cx="146700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7" name="Text 67"/>
          <p:cNvSpPr/>
          <p:nvPr/>
        </p:nvSpPr>
        <p:spPr>
          <a:xfrm>
            <a:off x="4148137" y="2240756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88" name="Shape 68"/>
          <p:cNvSpPr/>
          <p:nvPr/>
        </p:nvSpPr>
        <p:spPr>
          <a:xfrm>
            <a:off x="4372134" y="2147888"/>
            <a:ext cx="119268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9" name="Text 69"/>
          <p:cNvSpPr/>
          <p:nvPr/>
        </p:nvSpPr>
        <p:spPr>
          <a:xfrm>
            <a:off x="5417026" y="2240756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90" name="Shape 70"/>
          <p:cNvSpPr/>
          <p:nvPr/>
        </p:nvSpPr>
        <p:spPr>
          <a:xfrm>
            <a:off x="5641023" y="2147888"/>
            <a:ext cx="98694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91" name="Text 71"/>
          <p:cNvSpPr/>
          <p:nvPr/>
        </p:nvSpPr>
        <p:spPr>
          <a:xfrm>
            <a:off x="6480175" y="2240756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92" name="Shape 72"/>
          <p:cNvSpPr/>
          <p:nvPr/>
        </p:nvSpPr>
        <p:spPr>
          <a:xfrm>
            <a:off x="6704171" y="2147888"/>
            <a:ext cx="139842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93" name="Text 73"/>
          <p:cNvSpPr/>
          <p:nvPr/>
        </p:nvSpPr>
        <p:spPr>
          <a:xfrm>
            <a:off x="7954804" y="2240756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94" name="Text 74"/>
          <p:cNvSpPr/>
          <p:nvPr/>
        </p:nvSpPr>
        <p:spPr>
          <a:xfrm>
            <a:off x="2628900" y="2970530"/>
            <a:ext cx="733425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863" dirty="0"/>
          </a:p>
        </p:txBody>
      </p:sp>
      <p:sp>
        <p:nvSpPr>
          <p:cNvPr id="95" name="Text 75"/>
          <p:cNvSpPr/>
          <p:nvPr/>
        </p:nvSpPr>
        <p:spPr>
          <a:xfrm>
            <a:off x="3400425" y="2938463"/>
            <a:ext cx="1258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96" name="Shape 76"/>
          <p:cNvSpPr/>
          <p:nvPr/>
        </p:nvSpPr>
        <p:spPr>
          <a:xfrm>
            <a:off x="3564414" y="2900363"/>
            <a:ext cx="1217295" cy="304800"/>
          </a:xfrm>
          <a:prstGeom prst="roundRect">
            <a:avLst>
              <a:gd name="adj" fmla="val 1875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9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69189" y="2995613"/>
            <a:ext cx="114300" cy="114300"/>
          </a:xfrm>
          <a:prstGeom prst="rect">
            <a:avLst/>
          </a:prstGeom>
        </p:spPr>
      </p:pic>
      <p:sp>
        <p:nvSpPr>
          <p:cNvPr id="98" name="Text 77"/>
          <p:cNvSpPr/>
          <p:nvPr/>
        </p:nvSpPr>
        <p:spPr>
          <a:xfrm>
            <a:off x="3859689" y="2986088"/>
            <a:ext cx="8934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filters</a:t>
            </a:r>
            <a:endParaRPr lang="en-US" sz="825" dirty="0"/>
          </a:p>
        </p:txBody>
      </p:sp>
      <p:sp>
        <p:nvSpPr>
          <p:cNvPr id="99" name="Text 78"/>
          <p:cNvSpPr/>
          <p:nvPr/>
        </p:nvSpPr>
        <p:spPr>
          <a:xfrm>
            <a:off x="4857909" y="2974181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 all</a:t>
            </a:r>
            <a:endParaRPr lang="en-US" sz="825" dirty="0"/>
          </a:p>
        </p:txBody>
      </p:sp>
      <p:sp>
        <p:nvSpPr>
          <p:cNvPr id="100" name="Shape 79"/>
          <p:cNvSpPr/>
          <p:nvPr/>
        </p:nvSpPr>
        <p:spPr>
          <a:xfrm>
            <a:off x="10991850" y="2881313"/>
            <a:ext cx="1323975" cy="342900"/>
          </a:xfrm>
          <a:prstGeom prst="roundRect">
            <a:avLst>
              <a:gd name="adj" fmla="val 22222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pic>
        <p:nvPicPr>
          <p:cNvPr id="10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34725" y="2990850"/>
            <a:ext cx="123825" cy="123825"/>
          </a:xfrm>
          <a:prstGeom prst="rect">
            <a:avLst/>
          </a:prstGeom>
        </p:spPr>
      </p:pic>
      <p:sp>
        <p:nvSpPr>
          <p:cNvPr id="102" name="Text 80"/>
          <p:cNvSpPr/>
          <p:nvPr/>
        </p:nvSpPr>
        <p:spPr>
          <a:xfrm>
            <a:off x="11296650" y="2967038"/>
            <a:ext cx="6248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(</a:t>
            </a:r>
            <a:endParaRPr lang="en-US" sz="900" dirty="0"/>
          </a:p>
        </p:txBody>
      </p:sp>
      <p:sp>
        <p:nvSpPr>
          <p:cNvPr id="103" name="Text 81"/>
          <p:cNvSpPr/>
          <p:nvPr/>
        </p:nvSpPr>
        <p:spPr>
          <a:xfrm>
            <a:off x="11959590" y="2976563"/>
            <a:ext cx="1447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104" name="Text 82"/>
          <p:cNvSpPr/>
          <p:nvPr/>
        </p:nvSpPr>
        <p:spPr>
          <a:xfrm>
            <a:off x="12066270" y="2967038"/>
            <a:ext cx="144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05" name="Shape 83"/>
          <p:cNvSpPr/>
          <p:nvPr/>
        </p:nvSpPr>
        <p:spPr>
          <a:xfrm>
            <a:off x="2628900" y="3414713"/>
            <a:ext cx="9686925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06" name="Text 84"/>
          <p:cNvSpPr/>
          <p:nvPr/>
        </p:nvSpPr>
        <p:spPr>
          <a:xfrm>
            <a:off x="2790825" y="3576638"/>
            <a:ext cx="2861796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1050" dirty="0"/>
          </a:p>
        </p:txBody>
      </p:sp>
      <p:sp>
        <p:nvSpPr>
          <p:cNvPr id="107" name="Shape 85"/>
          <p:cNvSpPr/>
          <p:nvPr/>
        </p:nvSpPr>
        <p:spPr>
          <a:xfrm>
            <a:off x="11247120" y="3576638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08" name="Text 86"/>
          <p:cNvSpPr/>
          <p:nvPr/>
        </p:nvSpPr>
        <p:spPr>
          <a:xfrm>
            <a:off x="11323320" y="360997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09" name="Text 87"/>
          <p:cNvSpPr/>
          <p:nvPr/>
        </p:nvSpPr>
        <p:spPr>
          <a:xfrm>
            <a:off x="2790825" y="3862387"/>
            <a:ext cx="96439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Moved all </a:t>
            </a:r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F2D69A"/>
                </a:solidFill>
                <a:highlight>
                  <a:srgbClr val="E0A2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</a:t>
            </a:r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to the API gateway. Downstream services trust a signed internal header and never re-validate. This collapses per-service auth code and gives one place to rotate keys.</a:t>
            </a:r>
            <a:endParaRPr lang="en-US" sz="900" dirty="0"/>
          </a:p>
        </p:txBody>
      </p:sp>
      <p:sp>
        <p:nvSpPr>
          <p:cNvPr id="110" name="Shape 88"/>
          <p:cNvSpPr/>
          <p:nvPr/>
        </p:nvSpPr>
        <p:spPr>
          <a:xfrm>
            <a:off x="2790825" y="4348163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11" name="Text 89"/>
          <p:cNvSpPr/>
          <p:nvPr/>
        </p:nvSpPr>
        <p:spPr>
          <a:xfrm>
            <a:off x="2857500" y="4376738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#security</a:t>
            </a:r>
            <a:endParaRPr lang="en-US" sz="750" dirty="0"/>
          </a:p>
        </p:txBody>
      </p:sp>
      <p:sp>
        <p:nvSpPr>
          <p:cNvPr id="112" name="Shape 90"/>
          <p:cNvSpPr/>
          <p:nvPr/>
        </p:nvSpPr>
        <p:spPr>
          <a:xfrm>
            <a:off x="3514725" y="4348163"/>
            <a:ext cx="5334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13" name="Text 91"/>
          <p:cNvSpPr/>
          <p:nvPr/>
        </p:nvSpPr>
        <p:spPr>
          <a:xfrm>
            <a:off x="3581400" y="4376738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#tokens</a:t>
            </a:r>
            <a:endParaRPr lang="en-US" sz="750" dirty="0"/>
          </a:p>
        </p:txBody>
      </p:sp>
      <p:sp>
        <p:nvSpPr>
          <p:cNvPr id="114" name="Shape 92"/>
          <p:cNvSpPr/>
          <p:nvPr/>
        </p:nvSpPr>
        <p:spPr>
          <a:xfrm>
            <a:off x="2790825" y="464343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15" name="Text 93"/>
          <p:cNvSpPr/>
          <p:nvPr/>
        </p:nvSpPr>
        <p:spPr>
          <a:xfrm>
            <a:off x="2847181" y="4706303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510" dirty="0"/>
          </a:p>
        </p:txBody>
      </p:sp>
      <p:sp>
        <p:nvSpPr>
          <p:cNvPr id="116" name="Text 94"/>
          <p:cNvSpPr/>
          <p:nvPr/>
        </p:nvSpPr>
        <p:spPr>
          <a:xfrm>
            <a:off x="3057525" y="4663599"/>
            <a:ext cx="61626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788" dirty="0"/>
          </a:p>
        </p:txBody>
      </p:sp>
      <p:sp>
        <p:nvSpPr>
          <p:cNvPr id="117" name="Text 95"/>
          <p:cNvSpPr/>
          <p:nvPr/>
        </p:nvSpPr>
        <p:spPr>
          <a:xfrm>
            <a:off x="3673793" y="46635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18" name="Text 96"/>
          <p:cNvSpPr/>
          <p:nvPr/>
        </p:nvSpPr>
        <p:spPr>
          <a:xfrm>
            <a:off x="3810000" y="4663599"/>
            <a:ext cx="79629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788" dirty="0"/>
          </a:p>
        </p:txBody>
      </p:sp>
      <p:sp>
        <p:nvSpPr>
          <p:cNvPr id="119" name="Text 97"/>
          <p:cNvSpPr/>
          <p:nvPr/>
        </p:nvSpPr>
        <p:spPr>
          <a:xfrm>
            <a:off x="4606290" y="466359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20" name="Text 98"/>
          <p:cNvSpPr/>
          <p:nvPr/>
        </p:nvSpPr>
        <p:spPr>
          <a:xfrm>
            <a:off x="4742497" y="4663599"/>
            <a:ext cx="12163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Jun 2026 · 10:33</a:t>
            </a:r>
            <a:endParaRPr lang="en-US" sz="788" dirty="0"/>
          </a:p>
        </p:txBody>
      </p:sp>
      <p:sp>
        <p:nvSpPr>
          <p:cNvPr id="121" name="Shape 99"/>
          <p:cNvSpPr/>
          <p:nvPr/>
        </p:nvSpPr>
        <p:spPr>
          <a:xfrm>
            <a:off x="2628900" y="5110163"/>
            <a:ext cx="9686925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22" name="Text 100"/>
          <p:cNvSpPr/>
          <p:nvPr/>
        </p:nvSpPr>
        <p:spPr>
          <a:xfrm>
            <a:off x="2790825" y="5272088"/>
            <a:ext cx="2727389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</a:t>
            </a:r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F2D69A"/>
                </a:solidFill>
                <a:highlight>
                  <a:srgbClr val="E0A22E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token </a:t>
            </a:r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on cold start</a:t>
            </a:r>
            <a:endParaRPr lang="en-US" sz="1050" dirty="0"/>
          </a:p>
        </p:txBody>
      </p:sp>
      <p:sp>
        <p:nvSpPr>
          <p:cNvPr id="123" name="Shape 101"/>
          <p:cNvSpPr/>
          <p:nvPr/>
        </p:nvSpPr>
        <p:spPr>
          <a:xfrm>
            <a:off x="11624310" y="5272088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24" name="Text 102"/>
          <p:cNvSpPr/>
          <p:nvPr/>
        </p:nvSpPr>
        <p:spPr>
          <a:xfrm>
            <a:off x="11700510" y="5305425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25" name="Text 103"/>
          <p:cNvSpPr/>
          <p:nvPr/>
        </p:nvSpPr>
        <p:spPr>
          <a:xfrm>
            <a:off x="2790825" y="5557838"/>
            <a:ext cx="96439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requests racing the first refresh both minted </a:t>
            </a:r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F2D69A"/>
                </a:solidFill>
                <a:highlight>
                  <a:srgbClr val="E0A2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</a:t>
            </a:r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s, invalidating each other. Fixed with a single-flight lock keyed by session id so only one refresh runs; others await its result.</a:t>
            </a:r>
            <a:endParaRPr lang="en-US" sz="900" dirty="0"/>
          </a:p>
        </p:txBody>
      </p:sp>
      <p:sp>
        <p:nvSpPr>
          <p:cNvPr id="126" name="Shape 104"/>
          <p:cNvSpPr/>
          <p:nvPr/>
        </p:nvSpPr>
        <p:spPr>
          <a:xfrm>
            <a:off x="2790825" y="6043613"/>
            <a:ext cx="5334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27" name="Text 105"/>
          <p:cNvSpPr/>
          <p:nvPr/>
        </p:nvSpPr>
        <p:spPr>
          <a:xfrm>
            <a:off x="2857500" y="6072188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#tokens</a:t>
            </a:r>
            <a:endParaRPr lang="en-US" sz="750" dirty="0"/>
          </a:p>
        </p:txBody>
      </p:sp>
      <p:sp>
        <p:nvSpPr>
          <p:cNvPr id="128" name="Shape 106"/>
          <p:cNvSpPr/>
          <p:nvPr/>
        </p:nvSpPr>
        <p:spPr>
          <a:xfrm>
            <a:off x="3400425" y="6043613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29" name="Text 107"/>
          <p:cNvSpPr/>
          <p:nvPr/>
        </p:nvSpPr>
        <p:spPr>
          <a:xfrm>
            <a:off x="3467100" y="6072188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#security</a:t>
            </a:r>
            <a:endParaRPr lang="en-US" sz="750" dirty="0"/>
          </a:p>
        </p:txBody>
      </p:sp>
      <p:sp>
        <p:nvSpPr>
          <p:cNvPr id="130" name="Shape 108"/>
          <p:cNvSpPr/>
          <p:nvPr/>
        </p:nvSpPr>
        <p:spPr>
          <a:xfrm>
            <a:off x="2790825" y="633888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31" name="Text 109"/>
          <p:cNvSpPr/>
          <p:nvPr/>
        </p:nvSpPr>
        <p:spPr>
          <a:xfrm>
            <a:off x="2847181" y="640175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510" dirty="0"/>
          </a:p>
        </p:txBody>
      </p:sp>
      <p:sp>
        <p:nvSpPr>
          <p:cNvPr id="132" name="Text 110"/>
          <p:cNvSpPr/>
          <p:nvPr/>
        </p:nvSpPr>
        <p:spPr>
          <a:xfrm>
            <a:off x="3057525" y="6359049"/>
            <a:ext cx="73628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788" dirty="0"/>
          </a:p>
        </p:txBody>
      </p:sp>
      <p:sp>
        <p:nvSpPr>
          <p:cNvPr id="133" name="Text 111"/>
          <p:cNvSpPr/>
          <p:nvPr/>
        </p:nvSpPr>
        <p:spPr>
          <a:xfrm>
            <a:off x="3793807" y="63590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34" name="Text 112"/>
          <p:cNvSpPr/>
          <p:nvPr/>
        </p:nvSpPr>
        <p:spPr>
          <a:xfrm>
            <a:off x="3930015" y="6359049"/>
            <a:ext cx="79629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788" dirty="0"/>
          </a:p>
        </p:txBody>
      </p:sp>
      <p:sp>
        <p:nvSpPr>
          <p:cNvPr id="135" name="Text 113"/>
          <p:cNvSpPr/>
          <p:nvPr/>
        </p:nvSpPr>
        <p:spPr>
          <a:xfrm>
            <a:off x="4726305" y="63590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36" name="Text 114"/>
          <p:cNvSpPr/>
          <p:nvPr/>
        </p:nvSpPr>
        <p:spPr>
          <a:xfrm>
            <a:off x="4862513" y="6359049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Jun 2026 · 17:48</a:t>
            </a:r>
            <a:endParaRPr lang="en-US" sz="788" dirty="0"/>
          </a:p>
        </p:txBody>
      </p:sp>
      <p:sp>
        <p:nvSpPr>
          <p:cNvPr id="137" name="Text 115"/>
          <p:cNvSpPr/>
          <p:nvPr/>
        </p:nvSpPr>
        <p:spPr>
          <a:xfrm>
            <a:off x="6078855" y="63590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38" name="Text 116"/>
          <p:cNvSpPr/>
          <p:nvPr/>
        </p:nvSpPr>
        <p:spPr>
          <a:xfrm>
            <a:off x="6215063" y="635904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3versions</a:t>
            </a:r>
            <a:endParaRPr lang="en-US" sz="788" dirty="0"/>
          </a:p>
        </p:txBody>
      </p:sp>
      <p:sp>
        <p:nvSpPr>
          <p:cNvPr id="139" name="Shape 117"/>
          <p:cNvSpPr/>
          <p:nvPr/>
        </p:nvSpPr>
        <p:spPr>
          <a:xfrm>
            <a:off x="2628900" y="6805613"/>
            <a:ext cx="9686925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40" name="Text 118"/>
          <p:cNvSpPr/>
          <p:nvPr/>
        </p:nvSpPr>
        <p:spPr>
          <a:xfrm>
            <a:off x="2790825" y="6967538"/>
            <a:ext cx="2839395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/v2/users silently ignores empty arrays</a:t>
            </a:r>
            <a:endParaRPr lang="en-US" sz="1050" dirty="0"/>
          </a:p>
        </p:txBody>
      </p:sp>
      <p:sp>
        <p:nvSpPr>
          <p:cNvPr id="141" name="Shape 119"/>
          <p:cNvSpPr/>
          <p:nvPr/>
        </p:nvSpPr>
        <p:spPr>
          <a:xfrm>
            <a:off x="11435715" y="6967538"/>
            <a:ext cx="718185" cy="209550"/>
          </a:xfrm>
          <a:prstGeom prst="roundRect">
            <a:avLst>
              <a:gd name="adj" fmla="val 1818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34000"/>
              </a:srgbClr>
            </a:solidFill>
            <a:prstDash val="solid"/>
          </a:ln>
        </p:spPr>
      </p:sp>
      <p:sp>
        <p:nvSpPr>
          <p:cNvPr id="142" name="Text 120"/>
          <p:cNvSpPr/>
          <p:nvPr/>
        </p:nvSpPr>
        <p:spPr>
          <a:xfrm>
            <a:off x="11511915" y="7000875"/>
            <a:ext cx="6419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750" dirty="0"/>
          </a:p>
        </p:txBody>
      </p:sp>
      <p:sp>
        <p:nvSpPr>
          <p:cNvPr id="143" name="Text 121"/>
          <p:cNvSpPr/>
          <p:nvPr/>
        </p:nvSpPr>
        <p:spPr>
          <a:xfrm>
            <a:off x="2790825" y="7253288"/>
            <a:ext cx="96439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Sending an empty scopes array on PATCH /v2/users is a no-op, not a clear. You must send an explicit sentinel to clear. Documented so nobody loses an hour to it again.</a:t>
            </a:r>
            <a:endParaRPr lang="en-US" sz="900" dirty="0"/>
          </a:p>
        </p:txBody>
      </p:sp>
      <p:sp>
        <p:nvSpPr>
          <p:cNvPr id="144" name="Shape 122"/>
          <p:cNvSpPr/>
          <p:nvPr/>
        </p:nvSpPr>
        <p:spPr>
          <a:xfrm>
            <a:off x="2790825" y="7739062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45" name="Text 123"/>
          <p:cNvSpPr/>
          <p:nvPr/>
        </p:nvSpPr>
        <p:spPr>
          <a:xfrm>
            <a:off x="2857500" y="7767637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#security</a:t>
            </a:r>
            <a:endParaRPr lang="en-US" sz="750" dirty="0"/>
          </a:p>
        </p:txBody>
      </p:sp>
      <p:sp>
        <p:nvSpPr>
          <p:cNvPr id="146" name="Shape 124"/>
          <p:cNvSpPr/>
          <p:nvPr/>
        </p:nvSpPr>
        <p:spPr>
          <a:xfrm>
            <a:off x="3514725" y="7739062"/>
            <a:ext cx="5334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47" name="Text 125"/>
          <p:cNvSpPr/>
          <p:nvPr/>
        </p:nvSpPr>
        <p:spPr>
          <a:xfrm>
            <a:off x="3581400" y="7767637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#tokens</a:t>
            </a:r>
            <a:endParaRPr lang="en-US" sz="750" dirty="0"/>
          </a:p>
        </p:txBody>
      </p:sp>
      <p:sp>
        <p:nvSpPr>
          <p:cNvPr id="148" name="Shape 126"/>
          <p:cNvSpPr/>
          <p:nvPr/>
        </p:nvSpPr>
        <p:spPr>
          <a:xfrm>
            <a:off x="2790825" y="803433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49" name="Text 127"/>
          <p:cNvSpPr/>
          <p:nvPr/>
        </p:nvSpPr>
        <p:spPr>
          <a:xfrm>
            <a:off x="2847181" y="809720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510" dirty="0"/>
          </a:p>
        </p:txBody>
      </p:sp>
      <p:sp>
        <p:nvSpPr>
          <p:cNvPr id="150" name="Text 128"/>
          <p:cNvSpPr/>
          <p:nvPr/>
        </p:nvSpPr>
        <p:spPr>
          <a:xfrm>
            <a:off x="3057525" y="8054499"/>
            <a:ext cx="61626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788" dirty="0"/>
          </a:p>
        </p:txBody>
      </p:sp>
      <p:sp>
        <p:nvSpPr>
          <p:cNvPr id="151" name="Text 129"/>
          <p:cNvSpPr/>
          <p:nvPr/>
        </p:nvSpPr>
        <p:spPr>
          <a:xfrm>
            <a:off x="3673793" y="80544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52" name="Text 130"/>
          <p:cNvSpPr/>
          <p:nvPr/>
        </p:nvSpPr>
        <p:spPr>
          <a:xfrm>
            <a:off x="3810000" y="805449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788" dirty="0"/>
          </a:p>
        </p:txBody>
      </p:sp>
      <p:sp>
        <p:nvSpPr>
          <p:cNvPr id="153" name="Text 131"/>
          <p:cNvSpPr/>
          <p:nvPr/>
        </p:nvSpPr>
        <p:spPr>
          <a:xfrm>
            <a:off x="4366260" y="80544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54" name="Text 132"/>
          <p:cNvSpPr/>
          <p:nvPr/>
        </p:nvSpPr>
        <p:spPr>
          <a:xfrm>
            <a:off x="4502468" y="8054499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Jun 2026 · 16:36</a:t>
            </a:r>
            <a:endParaRPr lang="en-US" sz="788" dirty="0"/>
          </a:p>
        </p:txBody>
      </p:sp>
      <p:sp>
        <p:nvSpPr>
          <p:cNvPr id="155" name="Shape 133"/>
          <p:cNvSpPr/>
          <p:nvPr/>
        </p:nvSpPr>
        <p:spPr>
          <a:xfrm>
            <a:off x="2628900" y="8501063"/>
            <a:ext cx="9686925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56" name="Text 134"/>
          <p:cNvSpPr/>
          <p:nvPr/>
        </p:nvSpPr>
        <p:spPr>
          <a:xfrm>
            <a:off x="2790825" y="8662988"/>
            <a:ext cx="2839395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/v2/users silently ignores empty arrays</a:t>
            </a:r>
            <a:endParaRPr lang="en-US" sz="1050" dirty="0"/>
          </a:p>
        </p:txBody>
      </p:sp>
      <p:sp>
        <p:nvSpPr>
          <p:cNvPr id="157" name="Shape 135"/>
          <p:cNvSpPr/>
          <p:nvPr/>
        </p:nvSpPr>
        <p:spPr>
          <a:xfrm>
            <a:off x="11435715" y="8662988"/>
            <a:ext cx="718185" cy="209550"/>
          </a:xfrm>
          <a:prstGeom prst="roundRect">
            <a:avLst>
              <a:gd name="adj" fmla="val 1818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34000"/>
              </a:srgbClr>
            </a:solidFill>
            <a:prstDash val="solid"/>
          </a:ln>
        </p:spPr>
      </p:sp>
      <p:sp>
        <p:nvSpPr>
          <p:cNvPr id="158" name="Text 136"/>
          <p:cNvSpPr/>
          <p:nvPr/>
        </p:nvSpPr>
        <p:spPr>
          <a:xfrm>
            <a:off x="11511915" y="8696325"/>
            <a:ext cx="6419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750" dirty="0"/>
          </a:p>
        </p:txBody>
      </p:sp>
      <p:sp>
        <p:nvSpPr>
          <p:cNvPr id="159" name="Text 137"/>
          <p:cNvSpPr/>
          <p:nvPr/>
        </p:nvSpPr>
        <p:spPr>
          <a:xfrm>
            <a:off x="2790825" y="8948738"/>
            <a:ext cx="96439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Sending an empty scopes array on PATCH /v2/users is a no-op, not a clear. You must send an explicit sentinel to clear. Documented so nobody loses an hour to it again.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2790825" y="9434513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61" name="Text 139"/>
          <p:cNvSpPr/>
          <p:nvPr/>
        </p:nvSpPr>
        <p:spPr>
          <a:xfrm>
            <a:off x="2857500" y="9463088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#security</a:t>
            </a:r>
            <a:endParaRPr lang="en-US" sz="750" dirty="0"/>
          </a:p>
        </p:txBody>
      </p:sp>
      <p:sp>
        <p:nvSpPr>
          <p:cNvPr id="162" name="Shape 140"/>
          <p:cNvSpPr/>
          <p:nvPr/>
        </p:nvSpPr>
        <p:spPr>
          <a:xfrm>
            <a:off x="3514725" y="9434513"/>
            <a:ext cx="5334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63" name="Text 141"/>
          <p:cNvSpPr/>
          <p:nvPr/>
        </p:nvSpPr>
        <p:spPr>
          <a:xfrm>
            <a:off x="3581400" y="9463088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#tokens</a:t>
            </a:r>
            <a:endParaRPr lang="en-US" sz="750" dirty="0"/>
          </a:p>
        </p:txBody>
      </p:sp>
      <p:sp>
        <p:nvSpPr>
          <p:cNvPr id="164" name="Shape 142"/>
          <p:cNvSpPr/>
          <p:nvPr/>
        </p:nvSpPr>
        <p:spPr>
          <a:xfrm>
            <a:off x="2790825" y="972978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165" name="Text 143"/>
          <p:cNvSpPr/>
          <p:nvPr/>
        </p:nvSpPr>
        <p:spPr>
          <a:xfrm>
            <a:off x="2847181" y="979265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510" dirty="0"/>
          </a:p>
        </p:txBody>
      </p:sp>
      <p:sp>
        <p:nvSpPr>
          <p:cNvPr id="166" name="Text 144"/>
          <p:cNvSpPr/>
          <p:nvPr/>
        </p:nvSpPr>
        <p:spPr>
          <a:xfrm>
            <a:off x="3057525" y="974994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788" dirty="0"/>
          </a:p>
        </p:txBody>
      </p:sp>
      <p:sp>
        <p:nvSpPr>
          <p:cNvPr id="167" name="Text 145"/>
          <p:cNvSpPr/>
          <p:nvPr/>
        </p:nvSpPr>
        <p:spPr>
          <a:xfrm>
            <a:off x="3733800" y="97499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68" name="Text 146"/>
          <p:cNvSpPr/>
          <p:nvPr/>
        </p:nvSpPr>
        <p:spPr>
          <a:xfrm>
            <a:off x="3870007" y="974994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788" dirty="0"/>
          </a:p>
        </p:txBody>
      </p:sp>
      <p:sp>
        <p:nvSpPr>
          <p:cNvPr id="169" name="Text 147"/>
          <p:cNvSpPr/>
          <p:nvPr/>
        </p:nvSpPr>
        <p:spPr>
          <a:xfrm>
            <a:off x="4426268" y="97499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70" name="Text 148"/>
          <p:cNvSpPr/>
          <p:nvPr/>
        </p:nvSpPr>
        <p:spPr>
          <a:xfrm>
            <a:off x="4562475" y="9749949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May 2026 · 19:37</a:t>
            </a:r>
            <a:endParaRPr lang="en-US" sz="788" dirty="0"/>
          </a:p>
        </p:txBody>
      </p:sp>
      <p:sp>
        <p:nvSpPr>
          <p:cNvPr id="171" name="Shape 149"/>
          <p:cNvSpPr/>
          <p:nvPr/>
        </p:nvSpPr>
        <p:spPr>
          <a:xfrm>
            <a:off x="2628900" y="10196513"/>
            <a:ext cx="9686925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72" name="Text 150"/>
          <p:cNvSpPr/>
          <p:nvPr/>
        </p:nvSpPr>
        <p:spPr>
          <a:xfrm>
            <a:off x="2790825" y="10358438"/>
            <a:ext cx="2884524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traced &amp; fixed the cold-start auth race</a:t>
            </a:r>
            <a:endParaRPr lang="en-US" sz="1050" dirty="0"/>
          </a:p>
        </p:txBody>
      </p:sp>
      <p:sp>
        <p:nvSpPr>
          <p:cNvPr id="173" name="Shape 151"/>
          <p:cNvSpPr/>
          <p:nvPr/>
        </p:nvSpPr>
        <p:spPr>
          <a:xfrm>
            <a:off x="11058525" y="10358438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174" name="Text 152"/>
          <p:cNvSpPr/>
          <p:nvPr/>
        </p:nvSpPr>
        <p:spPr>
          <a:xfrm>
            <a:off x="11134725" y="10391775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175" name="Text 153"/>
          <p:cNvSpPr/>
          <p:nvPr/>
        </p:nvSpPr>
        <p:spPr>
          <a:xfrm>
            <a:off x="2790825" y="10644188"/>
            <a:ext cx="96439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45-min session pairing with agent-07. Reproduced the refresh race under load, added single-flight lock, verified with a 200-conn soak. Wrote follow-up memory on the gateway boundary.</a:t>
            </a:r>
            <a:endParaRPr lang="en-US" sz="900" dirty="0"/>
          </a:p>
        </p:txBody>
      </p:sp>
      <p:sp>
        <p:nvSpPr>
          <p:cNvPr id="176" name="Shape 154"/>
          <p:cNvSpPr/>
          <p:nvPr/>
        </p:nvSpPr>
        <p:spPr>
          <a:xfrm>
            <a:off x="2790825" y="11129963"/>
            <a:ext cx="5334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77" name="Text 155"/>
          <p:cNvSpPr/>
          <p:nvPr/>
        </p:nvSpPr>
        <p:spPr>
          <a:xfrm>
            <a:off x="2857500" y="11158538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#tokens</a:t>
            </a:r>
            <a:endParaRPr lang="en-US" sz="750" dirty="0"/>
          </a:p>
        </p:txBody>
      </p:sp>
      <p:sp>
        <p:nvSpPr>
          <p:cNvPr id="178" name="Shape 156"/>
          <p:cNvSpPr/>
          <p:nvPr/>
        </p:nvSpPr>
        <p:spPr>
          <a:xfrm>
            <a:off x="3400425" y="11129963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79" name="Text 157"/>
          <p:cNvSpPr/>
          <p:nvPr/>
        </p:nvSpPr>
        <p:spPr>
          <a:xfrm>
            <a:off x="3467100" y="11158538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#security</a:t>
            </a:r>
            <a:endParaRPr lang="en-US" sz="750" dirty="0"/>
          </a:p>
        </p:txBody>
      </p:sp>
      <p:sp>
        <p:nvSpPr>
          <p:cNvPr id="180" name="Shape 158"/>
          <p:cNvSpPr/>
          <p:nvPr/>
        </p:nvSpPr>
        <p:spPr>
          <a:xfrm>
            <a:off x="2790825" y="1142523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181" name="Text 159"/>
          <p:cNvSpPr/>
          <p:nvPr/>
        </p:nvSpPr>
        <p:spPr>
          <a:xfrm>
            <a:off x="2847181" y="1148810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510" dirty="0"/>
          </a:p>
        </p:txBody>
      </p:sp>
      <p:sp>
        <p:nvSpPr>
          <p:cNvPr id="182" name="Text 160"/>
          <p:cNvSpPr/>
          <p:nvPr/>
        </p:nvSpPr>
        <p:spPr>
          <a:xfrm>
            <a:off x="3057525" y="1144539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788" dirty="0"/>
          </a:p>
        </p:txBody>
      </p:sp>
      <p:sp>
        <p:nvSpPr>
          <p:cNvPr id="183" name="Text 161"/>
          <p:cNvSpPr/>
          <p:nvPr/>
        </p:nvSpPr>
        <p:spPr>
          <a:xfrm>
            <a:off x="3733800" y="114453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84" name="Text 162"/>
          <p:cNvSpPr/>
          <p:nvPr/>
        </p:nvSpPr>
        <p:spPr>
          <a:xfrm>
            <a:off x="3870007" y="11445399"/>
            <a:ext cx="79629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788" dirty="0"/>
          </a:p>
        </p:txBody>
      </p:sp>
      <p:sp>
        <p:nvSpPr>
          <p:cNvPr id="185" name="Text 163"/>
          <p:cNvSpPr/>
          <p:nvPr/>
        </p:nvSpPr>
        <p:spPr>
          <a:xfrm>
            <a:off x="4666297" y="114453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86" name="Text 164"/>
          <p:cNvSpPr/>
          <p:nvPr/>
        </p:nvSpPr>
        <p:spPr>
          <a:xfrm>
            <a:off x="4802505" y="11445399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May 2026 · 04:30</a:t>
            </a:r>
            <a:endParaRPr lang="en-US" sz="788" dirty="0"/>
          </a:p>
        </p:txBody>
      </p:sp>
      <p:sp>
        <p:nvSpPr>
          <p:cNvPr id="187" name="Text 165"/>
          <p:cNvSpPr/>
          <p:nvPr/>
        </p:nvSpPr>
        <p:spPr>
          <a:xfrm>
            <a:off x="6018848" y="1144539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188" name="Text 166"/>
          <p:cNvSpPr/>
          <p:nvPr/>
        </p:nvSpPr>
        <p:spPr>
          <a:xfrm>
            <a:off x="6155055" y="1144539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3versions</a:t>
            </a:r>
            <a:endParaRPr lang="en-US" sz="788" dirty="0"/>
          </a:p>
        </p:txBody>
      </p:sp>
      <p:sp>
        <p:nvSpPr>
          <p:cNvPr id="189" name="Shape 167"/>
          <p:cNvSpPr/>
          <p:nvPr/>
        </p:nvSpPr>
        <p:spPr>
          <a:xfrm>
            <a:off x="2628900" y="11891963"/>
            <a:ext cx="9686925" cy="1581150"/>
          </a:xfrm>
          <a:prstGeom prst="roundRect">
            <a:avLst>
              <a:gd name="adj" fmla="val 7229"/>
            </a:avLst>
          </a:prstGeom>
          <a:solidFill>
            <a:srgbClr val="0B0F18">
              <a:alpha val="50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90" name="Text 168"/>
          <p:cNvSpPr/>
          <p:nvPr/>
        </p:nvSpPr>
        <p:spPr>
          <a:xfrm>
            <a:off x="2790825" y="12053888"/>
            <a:ext cx="2884524" cy="221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traced &amp; fixed the cold-start auth race</a:t>
            </a:r>
            <a:endParaRPr lang="en-US" sz="1050" dirty="0"/>
          </a:p>
        </p:txBody>
      </p:sp>
      <p:sp>
        <p:nvSpPr>
          <p:cNvPr id="191" name="Shape 169"/>
          <p:cNvSpPr/>
          <p:nvPr/>
        </p:nvSpPr>
        <p:spPr>
          <a:xfrm>
            <a:off x="11058525" y="12053888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192" name="Text 170"/>
          <p:cNvSpPr/>
          <p:nvPr/>
        </p:nvSpPr>
        <p:spPr>
          <a:xfrm>
            <a:off x="11134725" y="12087225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193" name="Text 171"/>
          <p:cNvSpPr/>
          <p:nvPr/>
        </p:nvSpPr>
        <p:spPr>
          <a:xfrm>
            <a:off x="2790825" y="12339638"/>
            <a:ext cx="964396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45-min session pairing with agent-07. Reproduced the refresh race under load, added single-flight lock, verified with a 200-conn soak. Wrote follow-up memory on the gateway boundary.</a:t>
            </a:r>
            <a:endParaRPr lang="en-US" sz="900" dirty="0"/>
          </a:p>
        </p:txBody>
      </p:sp>
      <p:sp>
        <p:nvSpPr>
          <p:cNvPr id="194" name="Shape 172"/>
          <p:cNvSpPr/>
          <p:nvPr/>
        </p:nvSpPr>
        <p:spPr>
          <a:xfrm>
            <a:off x="2790825" y="12825413"/>
            <a:ext cx="5334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95" name="Text 173"/>
          <p:cNvSpPr/>
          <p:nvPr/>
        </p:nvSpPr>
        <p:spPr>
          <a:xfrm>
            <a:off x="2857500" y="12853988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#tokens</a:t>
            </a:r>
            <a:endParaRPr lang="en-US" sz="750" dirty="0"/>
          </a:p>
        </p:txBody>
      </p:sp>
      <p:sp>
        <p:nvSpPr>
          <p:cNvPr id="196" name="Shape 174"/>
          <p:cNvSpPr/>
          <p:nvPr/>
        </p:nvSpPr>
        <p:spPr>
          <a:xfrm>
            <a:off x="3400425" y="12825413"/>
            <a:ext cx="647700" cy="200025"/>
          </a:xfrm>
          <a:prstGeom prst="roundRect">
            <a:avLst>
              <a:gd name="adj" fmla="val 1904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97" name="Text 175"/>
          <p:cNvSpPr/>
          <p:nvPr/>
        </p:nvSpPr>
        <p:spPr>
          <a:xfrm>
            <a:off x="3467100" y="12853988"/>
            <a:ext cx="5905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#security</a:t>
            </a:r>
            <a:endParaRPr lang="en-US" sz="750" dirty="0"/>
          </a:p>
        </p:txBody>
      </p:sp>
      <p:sp>
        <p:nvSpPr>
          <p:cNvPr id="198" name="Shape 176"/>
          <p:cNvSpPr/>
          <p:nvPr/>
        </p:nvSpPr>
        <p:spPr>
          <a:xfrm>
            <a:off x="2790825" y="13120688"/>
            <a:ext cx="190500" cy="1905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99" name="Text 177"/>
          <p:cNvSpPr/>
          <p:nvPr/>
        </p:nvSpPr>
        <p:spPr>
          <a:xfrm>
            <a:off x="2847181" y="13183552"/>
            <a:ext cx="153987" cy="102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510" dirty="0"/>
          </a:p>
        </p:txBody>
      </p:sp>
      <p:sp>
        <p:nvSpPr>
          <p:cNvPr id="200" name="Text 178"/>
          <p:cNvSpPr/>
          <p:nvPr/>
        </p:nvSpPr>
        <p:spPr>
          <a:xfrm>
            <a:off x="3057525" y="13140849"/>
            <a:ext cx="61626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788" dirty="0"/>
          </a:p>
        </p:txBody>
      </p:sp>
      <p:sp>
        <p:nvSpPr>
          <p:cNvPr id="201" name="Text 179"/>
          <p:cNvSpPr/>
          <p:nvPr/>
        </p:nvSpPr>
        <p:spPr>
          <a:xfrm>
            <a:off x="3673793" y="13140849"/>
            <a:ext cx="13620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02" name="Text 180"/>
          <p:cNvSpPr/>
          <p:nvPr/>
        </p:nvSpPr>
        <p:spPr>
          <a:xfrm>
            <a:off x="3810000" y="13140849"/>
            <a:ext cx="79629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E6EDF3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788" dirty="0"/>
          </a:p>
        </p:txBody>
      </p:sp>
      <p:sp>
        <p:nvSpPr>
          <p:cNvPr id="203" name="Text 181"/>
          <p:cNvSpPr/>
          <p:nvPr/>
        </p:nvSpPr>
        <p:spPr>
          <a:xfrm>
            <a:off x="4606290" y="1314084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04" name="Text 182"/>
          <p:cNvSpPr/>
          <p:nvPr/>
        </p:nvSpPr>
        <p:spPr>
          <a:xfrm>
            <a:off x="4742497" y="13140849"/>
            <a:ext cx="121634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May 2026 · 07:55</a:t>
            </a:r>
            <a:endParaRPr lang="en-US" sz="788" dirty="0"/>
          </a:p>
        </p:txBody>
      </p:sp>
      <p:sp>
        <p:nvSpPr>
          <p:cNvPr id="205" name="Text 183"/>
          <p:cNvSpPr/>
          <p:nvPr/>
        </p:nvSpPr>
        <p:spPr>
          <a:xfrm>
            <a:off x="5958840" y="13140849"/>
            <a:ext cx="136207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788" dirty="0"/>
          </a:p>
        </p:txBody>
      </p:sp>
      <p:sp>
        <p:nvSpPr>
          <p:cNvPr id="206" name="Text 184"/>
          <p:cNvSpPr/>
          <p:nvPr/>
        </p:nvSpPr>
        <p:spPr>
          <a:xfrm>
            <a:off x="6095048" y="13140849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3versions</a:t>
            </a:r>
            <a:endParaRPr lang="en-US" sz="788" dirty="0"/>
          </a:p>
        </p:txBody>
      </p:sp>
      <p:sp>
        <p:nvSpPr>
          <p:cNvPr id="207" name="Shape 185"/>
          <p:cNvSpPr/>
          <p:nvPr/>
        </p:nvSpPr>
        <p:spPr>
          <a:xfrm>
            <a:off x="12315825" y="838200"/>
            <a:ext cx="6286500" cy="12634913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08" name="Shape 186"/>
          <p:cNvSpPr/>
          <p:nvPr/>
        </p:nvSpPr>
        <p:spPr>
          <a:xfrm>
            <a:off x="12315825" y="838200"/>
            <a:ext cx="9525" cy="12634913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09" name="Shape 187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10" name="Shape 188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11" name="Shape 189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12" name="Text 190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13" name="Text 191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14" name="Text 192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15" name="Shape 193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16" name="Text 194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17" name="Text 195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18" name="Shape 196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19" name="Shape 197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0" name="Shape 198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21" name="Shape 199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22" name="Text 200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23" name="Text 201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24" name="Shape 202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25" name="Text 203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6" name="Text 204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27" name="Text 205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28" name="Shape 206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29" name="Shape 207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0" name="Shape 208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31" name="Shape 209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32" name="Text 210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33" name="Text 211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34" name="Shape 212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35" name="Text 213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36" name="Text 214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37" name="Text 215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38" name="Shape 216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39" name="Shape 217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0" name="Shape 218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41" name="Shape 219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42" name="Text 220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43" name="Text 221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244" name="Shape 222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45" name="Text 223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46" name="Text 224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247" name="Text 225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248" name="Shape 226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9" name="Shape 227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250" name="Text 228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251" name="Text 229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252" name="Shape 230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53" name="Text 231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54" name="Text 232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255" name="Text 233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256" name="Shape 234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7" name="Shape 235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58" name="Text 236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259" name="Text 237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260" name="Shape 238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61" name="Text 239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62" name="Text 240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263" name="Text 241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264" name="Shape 242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5" name="Shape 243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266" name="Text 244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267" name="Text 245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268" name="Shape 246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69" name="Text 247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70" name="Text 248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271" name="Text 249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272" name="Shape 250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3" name="Shape 251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74" name="Text 252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275" name="Text 253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276" name="Shape 254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277" name="Text 255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278" name="Text 256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279" name="Text 257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sp>
        <p:nvSpPr>
          <p:cNvPr id="21" name="Shape 13"/>
          <p:cNvSpPr/>
          <p:nvPr/>
        </p:nvSpPr>
        <p:spPr>
          <a:xfrm>
            <a:off x="114300" y="2431256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114300" y="2507456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7" name="Text 17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66852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 LINKED BY TOPIC &amp; PROJECT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668524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Graph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67886"/>
            <a:ext cx="1062990" cy="283369"/>
          </a:xfrm>
          <a:prstGeom prst="roundRect">
            <a:avLst>
              <a:gd name="adj" fmla="val 13445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50000"/>
              </a:srgbClr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2714625" y="976154"/>
            <a:ext cx="66675" cy="66675"/>
          </a:xfrm>
          <a:prstGeom prst="roundRect">
            <a:avLst>
              <a:gd name="adj" fmla="val 28571"/>
            </a:avLst>
          </a:prstGeom>
          <a:solidFill>
            <a:srgbClr val="3B82E8"/>
          </a:solidFill>
          <a:ln/>
        </p:spPr>
      </p:sp>
      <p:sp>
        <p:nvSpPr>
          <p:cNvPr id="67" name="Text 48"/>
          <p:cNvSpPr/>
          <p:nvPr/>
        </p:nvSpPr>
        <p:spPr>
          <a:xfrm>
            <a:off x="2838450" y="942816"/>
            <a:ext cx="8439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88" dirty="0"/>
          </a:p>
        </p:txBody>
      </p:sp>
      <p:sp>
        <p:nvSpPr>
          <p:cNvPr id="68" name="Shape 49"/>
          <p:cNvSpPr/>
          <p:nvPr/>
        </p:nvSpPr>
        <p:spPr>
          <a:xfrm>
            <a:off x="3768090" y="867886"/>
            <a:ext cx="679132" cy="283369"/>
          </a:xfrm>
          <a:prstGeom prst="roundRect">
            <a:avLst>
              <a:gd name="adj" fmla="val 13445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69" name="Shape 50"/>
          <p:cNvSpPr/>
          <p:nvPr/>
        </p:nvSpPr>
        <p:spPr>
          <a:xfrm>
            <a:off x="3853815" y="976154"/>
            <a:ext cx="66675" cy="66675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/>
        </p:spPr>
      </p:sp>
      <p:sp>
        <p:nvSpPr>
          <p:cNvPr id="70" name="Text 51"/>
          <p:cNvSpPr/>
          <p:nvPr/>
        </p:nvSpPr>
        <p:spPr>
          <a:xfrm>
            <a:off x="3977640" y="942816"/>
            <a:ext cx="4600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88" dirty="0"/>
          </a:p>
        </p:txBody>
      </p:sp>
      <p:sp>
        <p:nvSpPr>
          <p:cNvPr id="71" name="Shape 52"/>
          <p:cNvSpPr/>
          <p:nvPr/>
        </p:nvSpPr>
        <p:spPr>
          <a:xfrm>
            <a:off x="4523422" y="867886"/>
            <a:ext cx="807085" cy="283369"/>
          </a:xfrm>
          <a:prstGeom prst="roundRect">
            <a:avLst>
              <a:gd name="adj" fmla="val 13445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50000"/>
              </a:srgbClr>
            </a:solidFill>
            <a:prstDash val="solid"/>
          </a:ln>
        </p:spPr>
      </p:sp>
      <p:sp>
        <p:nvSpPr>
          <p:cNvPr id="72" name="Shape 53"/>
          <p:cNvSpPr/>
          <p:nvPr/>
        </p:nvSpPr>
        <p:spPr>
          <a:xfrm>
            <a:off x="4609147" y="976154"/>
            <a:ext cx="66675" cy="66675"/>
          </a:xfrm>
          <a:prstGeom prst="roundRect">
            <a:avLst>
              <a:gd name="adj" fmla="val 28571"/>
            </a:avLst>
          </a:prstGeom>
          <a:solidFill>
            <a:srgbClr val="E0246F"/>
          </a:solidFill>
          <a:ln/>
        </p:spPr>
      </p:sp>
      <p:sp>
        <p:nvSpPr>
          <p:cNvPr id="73" name="Text 54"/>
          <p:cNvSpPr/>
          <p:nvPr/>
        </p:nvSpPr>
        <p:spPr>
          <a:xfrm>
            <a:off x="4732972" y="942816"/>
            <a:ext cx="5880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88" dirty="0"/>
          </a:p>
        </p:txBody>
      </p:sp>
      <p:sp>
        <p:nvSpPr>
          <p:cNvPr id="74" name="Shape 55"/>
          <p:cNvSpPr/>
          <p:nvPr/>
        </p:nvSpPr>
        <p:spPr>
          <a:xfrm>
            <a:off x="5406707" y="867886"/>
            <a:ext cx="871061" cy="283369"/>
          </a:xfrm>
          <a:prstGeom prst="roundRect">
            <a:avLst>
              <a:gd name="adj" fmla="val 13445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50000"/>
              </a:srgbClr>
            </a:solidFill>
            <a:prstDash val="solid"/>
          </a:ln>
        </p:spPr>
      </p:sp>
      <p:sp>
        <p:nvSpPr>
          <p:cNvPr id="75" name="Shape 56"/>
          <p:cNvSpPr/>
          <p:nvPr/>
        </p:nvSpPr>
        <p:spPr>
          <a:xfrm>
            <a:off x="5492432" y="976154"/>
            <a:ext cx="66675" cy="66675"/>
          </a:xfrm>
          <a:prstGeom prst="roundRect">
            <a:avLst>
              <a:gd name="adj" fmla="val 28571"/>
            </a:avLst>
          </a:prstGeom>
          <a:solidFill>
            <a:srgbClr val="E0A22E"/>
          </a:solidFill>
          <a:ln/>
        </p:spPr>
      </p:sp>
      <p:sp>
        <p:nvSpPr>
          <p:cNvPr id="76" name="Text 57"/>
          <p:cNvSpPr/>
          <p:nvPr/>
        </p:nvSpPr>
        <p:spPr>
          <a:xfrm>
            <a:off x="5616257" y="942816"/>
            <a:ext cx="6519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788" dirty="0"/>
          </a:p>
        </p:txBody>
      </p:sp>
      <p:sp>
        <p:nvSpPr>
          <p:cNvPr id="77" name="Shape 58"/>
          <p:cNvSpPr/>
          <p:nvPr/>
        </p:nvSpPr>
        <p:spPr>
          <a:xfrm>
            <a:off x="6353969" y="867886"/>
            <a:ext cx="743109" cy="283369"/>
          </a:xfrm>
          <a:prstGeom prst="roundRect">
            <a:avLst>
              <a:gd name="adj" fmla="val 13445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78" name="Shape 59"/>
          <p:cNvSpPr/>
          <p:nvPr/>
        </p:nvSpPr>
        <p:spPr>
          <a:xfrm>
            <a:off x="6439694" y="976154"/>
            <a:ext cx="66675" cy="66675"/>
          </a:xfrm>
          <a:prstGeom prst="roundRect">
            <a:avLst>
              <a:gd name="adj" fmla="val 28571"/>
            </a:avLst>
          </a:prstGeom>
          <a:solidFill>
            <a:srgbClr val="A78BFA"/>
          </a:solidFill>
          <a:ln/>
        </p:spPr>
      </p:sp>
      <p:sp>
        <p:nvSpPr>
          <p:cNvPr id="79" name="Text 60"/>
          <p:cNvSpPr/>
          <p:nvPr/>
        </p:nvSpPr>
        <p:spPr>
          <a:xfrm>
            <a:off x="6563519" y="942816"/>
            <a:ext cx="5240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88" dirty="0"/>
          </a:p>
        </p:txBody>
      </p:sp>
      <p:sp>
        <p:nvSpPr>
          <p:cNvPr id="80" name="Shape 61"/>
          <p:cNvSpPr/>
          <p:nvPr/>
        </p:nvSpPr>
        <p:spPr>
          <a:xfrm>
            <a:off x="7173277" y="867886"/>
            <a:ext cx="679132" cy="283369"/>
          </a:xfrm>
          <a:prstGeom prst="roundRect">
            <a:avLst>
              <a:gd name="adj" fmla="val 13445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50000"/>
              </a:srgbClr>
            </a:solidFill>
            <a:prstDash val="solid"/>
          </a:ln>
        </p:spPr>
      </p:sp>
      <p:sp>
        <p:nvSpPr>
          <p:cNvPr id="81" name="Shape 62"/>
          <p:cNvSpPr/>
          <p:nvPr/>
        </p:nvSpPr>
        <p:spPr>
          <a:xfrm>
            <a:off x="7259002" y="976154"/>
            <a:ext cx="66675" cy="66675"/>
          </a:xfrm>
          <a:prstGeom prst="roundRect">
            <a:avLst>
              <a:gd name="adj" fmla="val 28571"/>
            </a:avLst>
          </a:prstGeom>
          <a:solidFill>
            <a:srgbClr val="8B97A8"/>
          </a:solidFill>
          <a:ln/>
        </p:spPr>
      </p:sp>
      <p:sp>
        <p:nvSpPr>
          <p:cNvPr id="82" name="Text 63"/>
          <p:cNvSpPr/>
          <p:nvPr/>
        </p:nvSpPr>
        <p:spPr>
          <a:xfrm>
            <a:off x="7382827" y="942816"/>
            <a:ext cx="4600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88" dirty="0"/>
          </a:p>
        </p:txBody>
      </p:sp>
      <p:sp>
        <p:nvSpPr>
          <p:cNvPr id="83" name="Shape 64"/>
          <p:cNvSpPr/>
          <p:nvPr/>
        </p:nvSpPr>
        <p:spPr>
          <a:xfrm>
            <a:off x="7928610" y="867886"/>
            <a:ext cx="935038" cy="283369"/>
          </a:xfrm>
          <a:prstGeom prst="roundRect">
            <a:avLst>
              <a:gd name="adj" fmla="val 13445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50000"/>
              </a:srgbClr>
            </a:solidFill>
            <a:prstDash val="solid"/>
          </a:ln>
        </p:spPr>
      </p:sp>
      <p:sp>
        <p:nvSpPr>
          <p:cNvPr id="84" name="Shape 65"/>
          <p:cNvSpPr/>
          <p:nvPr/>
        </p:nvSpPr>
        <p:spPr>
          <a:xfrm>
            <a:off x="8014335" y="976154"/>
            <a:ext cx="66675" cy="66675"/>
          </a:xfrm>
          <a:prstGeom prst="roundRect">
            <a:avLst>
              <a:gd name="adj" fmla="val 28571"/>
            </a:avLst>
          </a:prstGeom>
          <a:solidFill>
            <a:srgbClr val="2DD4BF"/>
          </a:solidFill>
          <a:ln/>
        </p:spPr>
      </p:sp>
      <p:sp>
        <p:nvSpPr>
          <p:cNvPr id="85" name="Text 66"/>
          <p:cNvSpPr/>
          <p:nvPr/>
        </p:nvSpPr>
        <p:spPr>
          <a:xfrm>
            <a:off x="8138160" y="942816"/>
            <a:ext cx="715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788" dirty="0"/>
          </a:p>
        </p:txBody>
      </p:sp>
      <p:sp>
        <p:nvSpPr>
          <p:cNvPr id="86" name="Shape 67"/>
          <p:cNvSpPr/>
          <p:nvPr/>
        </p:nvSpPr>
        <p:spPr>
          <a:xfrm>
            <a:off x="8939847" y="867886"/>
            <a:ext cx="1254919" cy="283369"/>
          </a:xfrm>
          <a:prstGeom prst="roundRect">
            <a:avLst>
              <a:gd name="adj" fmla="val 13445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50000"/>
              </a:srgbClr>
            </a:solidFill>
            <a:prstDash val="solid"/>
          </a:ln>
        </p:spPr>
      </p:sp>
      <p:sp>
        <p:nvSpPr>
          <p:cNvPr id="87" name="Shape 68"/>
          <p:cNvSpPr/>
          <p:nvPr/>
        </p:nvSpPr>
        <p:spPr>
          <a:xfrm>
            <a:off x="9025572" y="976154"/>
            <a:ext cx="66675" cy="66675"/>
          </a:xfrm>
          <a:prstGeom prst="roundRect">
            <a:avLst>
              <a:gd name="adj" fmla="val 28571"/>
            </a:avLst>
          </a:prstGeom>
          <a:solidFill>
            <a:srgbClr val="22B85C"/>
          </a:solidFill>
          <a:ln/>
        </p:spPr>
      </p:sp>
      <p:sp>
        <p:nvSpPr>
          <p:cNvPr id="88" name="Text 69"/>
          <p:cNvSpPr/>
          <p:nvPr/>
        </p:nvSpPr>
        <p:spPr>
          <a:xfrm>
            <a:off x="9149397" y="942816"/>
            <a:ext cx="10358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88" dirty="0"/>
          </a:p>
        </p:txBody>
      </p:sp>
      <p:sp>
        <p:nvSpPr>
          <p:cNvPr id="89" name="Shape 70"/>
          <p:cNvSpPr/>
          <p:nvPr/>
        </p:nvSpPr>
        <p:spPr>
          <a:xfrm>
            <a:off x="10848817" y="838200"/>
            <a:ext cx="146700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90" name="Text 71"/>
          <p:cNvSpPr/>
          <p:nvPr/>
        </p:nvSpPr>
        <p:spPr>
          <a:xfrm>
            <a:off x="12168029" y="931069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91" name="Shape 72"/>
          <p:cNvSpPr/>
          <p:nvPr/>
        </p:nvSpPr>
        <p:spPr>
          <a:xfrm>
            <a:off x="2628900" y="1333500"/>
            <a:ext cx="9686925" cy="5524500"/>
          </a:xfrm>
          <a:prstGeom prst="roundRect">
            <a:avLst>
              <a:gd name="adj" fmla="val 2069"/>
            </a:avLst>
          </a:prstGeom>
          <a:solidFill>
            <a:srgbClr val="3B82E8">
              <a:alpha val="4000"/>
            </a:srgbClr>
          </a:solidFill>
          <a:ln w="9525">
            <a:solidFill>
              <a:srgbClr val="1E2735"/>
            </a:solidFill>
            <a:prstDash val="solid"/>
          </a:ln>
        </p:spPr>
      </p:sp>
      <p:pic>
        <p:nvPicPr>
          <p:cNvPr id="9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38425" y="1343025"/>
            <a:ext cx="9667875" cy="5505450"/>
          </a:xfrm>
          <a:prstGeom prst="rect">
            <a:avLst/>
          </a:prstGeom>
        </p:spPr>
      </p:pic>
      <p:sp>
        <p:nvSpPr>
          <p:cNvPr id="93" name="Shape 73"/>
          <p:cNvSpPr/>
          <p:nvPr/>
        </p:nvSpPr>
        <p:spPr>
          <a:xfrm>
            <a:off x="2752725" y="1457325"/>
            <a:ext cx="1577816" cy="792956"/>
          </a:xfrm>
          <a:prstGeom prst="roundRect">
            <a:avLst>
              <a:gd name="adj" fmla="val 9610"/>
            </a:avLst>
          </a:prstGeom>
          <a:solidFill>
            <a:srgbClr val="080A10">
              <a:alpha val="70000"/>
            </a:srgbClr>
          </a:solidFill>
          <a:ln w="9525">
            <a:solidFill>
              <a:srgbClr val="1C2532"/>
            </a:solidFill>
            <a:prstDash val="solid"/>
          </a:ln>
        </p:spPr>
      </p:sp>
      <p:sp>
        <p:nvSpPr>
          <p:cNvPr id="94" name="Text 74"/>
          <p:cNvSpPr/>
          <p:nvPr/>
        </p:nvSpPr>
        <p:spPr>
          <a:xfrm>
            <a:off x="2876550" y="1562100"/>
            <a:ext cx="1406366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41NODES ·33LINKS</a:t>
            </a:r>
            <a:endParaRPr lang="en-US" sz="788" dirty="0"/>
          </a:p>
        </p:txBody>
      </p:sp>
      <p:sp>
        <p:nvSpPr>
          <p:cNvPr id="95" name="Shape 75"/>
          <p:cNvSpPr/>
          <p:nvPr/>
        </p:nvSpPr>
        <p:spPr>
          <a:xfrm>
            <a:off x="2876550" y="1858486"/>
            <a:ext cx="133350" cy="952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96" name="Text 76"/>
          <p:cNvSpPr/>
          <p:nvPr/>
        </p:nvSpPr>
        <p:spPr>
          <a:xfrm>
            <a:off x="3086100" y="1788319"/>
            <a:ext cx="91630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topic_key</a:t>
            </a:r>
            <a:endParaRPr lang="en-US" sz="788" dirty="0"/>
          </a:p>
        </p:txBody>
      </p:sp>
      <p:sp>
        <p:nvSpPr>
          <p:cNvPr id="97" name="Shape 77"/>
          <p:cNvSpPr/>
          <p:nvPr/>
        </p:nvSpPr>
        <p:spPr>
          <a:xfrm>
            <a:off x="2876550" y="2065655"/>
            <a:ext cx="133350" cy="9525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98" name="Text 78"/>
          <p:cNvSpPr/>
          <p:nvPr/>
        </p:nvSpPr>
        <p:spPr>
          <a:xfrm>
            <a:off x="3086100" y="1995487"/>
            <a:ext cx="79629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project</a:t>
            </a:r>
            <a:endParaRPr lang="en-US" sz="788" dirty="0"/>
          </a:p>
        </p:txBody>
      </p:sp>
      <p:sp>
        <p:nvSpPr>
          <p:cNvPr id="99" name="Shape 79"/>
          <p:cNvSpPr/>
          <p:nvPr/>
        </p:nvSpPr>
        <p:spPr>
          <a:xfrm>
            <a:off x="11849100" y="55911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80A10">
              <a:alpha val="80000"/>
            </a:srgbClr>
          </a:solidFill>
          <a:ln w="9525">
            <a:solidFill>
              <a:srgbClr val="2A3346"/>
            </a:solidFill>
            <a:prstDash val="solid"/>
          </a:ln>
        </p:spPr>
      </p:sp>
      <p:sp>
        <p:nvSpPr>
          <p:cNvPr id="100" name="Text 80"/>
          <p:cNvSpPr/>
          <p:nvPr/>
        </p:nvSpPr>
        <p:spPr>
          <a:xfrm>
            <a:off x="11820525" y="5600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9AA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125" dirty="0"/>
          </a:p>
        </p:txBody>
      </p:sp>
      <p:sp>
        <p:nvSpPr>
          <p:cNvPr id="101" name="Shape 81"/>
          <p:cNvSpPr/>
          <p:nvPr/>
        </p:nvSpPr>
        <p:spPr>
          <a:xfrm>
            <a:off x="11849100" y="599122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80A10">
              <a:alpha val="80000"/>
            </a:srgbClr>
          </a:solidFill>
          <a:ln w="9525">
            <a:solidFill>
              <a:srgbClr val="2A3346"/>
            </a:solidFill>
            <a:prstDash val="solid"/>
          </a:ln>
        </p:spPr>
      </p:sp>
      <p:sp>
        <p:nvSpPr>
          <p:cNvPr id="102" name="Text 82"/>
          <p:cNvSpPr/>
          <p:nvPr/>
        </p:nvSpPr>
        <p:spPr>
          <a:xfrm>
            <a:off x="11820525" y="60007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9AA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1125" dirty="0"/>
          </a:p>
        </p:txBody>
      </p:sp>
      <p:sp>
        <p:nvSpPr>
          <p:cNvPr id="103" name="Shape 83"/>
          <p:cNvSpPr/>
          <p:nvPr/>
        </p:nvSpPr>
        <p:spPr>
          <a:xfrm>
            <a:off x="11849100" y="63912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80A10">
              <a:alpha val="80000"/>
            </a:srgbClr>
          </a:solidFill>
          <a:ln w="9525">
            <a:solidFill>
              <a:srgbClr val="2A3346"/>
            </a:solidFill>
            <a:prstDash val="solid"/>
          </a:ln>
        </p:spPr>
      </p:sp>
      <p:sp>
        <p:nvSpPr>
          <p:cNvPr id="104" name="Text 84"/>
          <p:cNvSpPr/>
          <p:nvPr/>
        </p:nvSpPr>
        <p:spPr>
          <a:xfrm>
            <a:off x="11820525" y="64008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9AA6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⌖</a:t>
            </a:r>
            <a:endParaRPr lang="en-US" sz="1125" dirty="0"/>
          </a:p>
        </p:txBody>
      </p:sp>
      <p:sp>
        <p:nvSpPr>
          <p:cNvPr id="105" name="Text 85"/>
          <p:cNvSpPr/>
          <p:nvPr/>
        </p:nvSpPr>
        <p:spPr>
          <a:xfrm>
            <a:off x="2752725" y="6591300"/>
            <a:ext cx="500348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 node to reposition · scroll to zoom · drag canvas to pan · click node for detail</a:t>
            </a:r>
            <a:endParaRPr lang="en-US" sz="750" dirty="0"/>
          </a:p>
        </p:txBody>
      </p:sp>
      <p:sp>
        <p:nvSpPr>
          <p:cNvPr id="106" name="Shape 86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107" name="Shape 87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108" name="Shape 88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09" name="Text 89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110" name="Text 90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111" name="Text 91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112" name="Shape 92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3" name="Text 93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114" name="Text 94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115" name="Shape 95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116" name="Shape 96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7" name="Shape 97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118" name="Shape 98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19" name="Text 99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120" name="Text 100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121" name="Shape 101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22" name="Text 102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23" name="Text 103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124" name="Text 104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125" name="Shape 105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126" name="Shape 106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27" name="Shape 107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128" name="Shape 108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29" name="Text 109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130" name="Text 110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131" name="Shape 111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32" name="Text 112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33" name="Text 113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134" name="Text 114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135" name="Shape 115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136" name="Shape 116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37" name="Shape 117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138" name="Shape 118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39" name="Text 119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140" name="Text 120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141" name="Shape 121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42" name="Text 122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43" name="Text 123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144" name="Text 124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145" name="Shape 125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46" name="Shape 126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147" name="Text 127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148" name="Text 128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149" name="Shape 129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50" name="Text 130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51" name="Text 131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152" name="Text 132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153" name="Shape 133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54" name="Shape 134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55" name="Text 135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156" name="Text 136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157" name="Shape 137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58" name="Text 138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59" name="Text 139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160" name="Text 140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161" name="Shape 141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62" name="Shape 142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163" name="Text 143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164" name="Text 144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165" name="Shape 145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66" name="Text 146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67" name="Text 147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168" name="Text 148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169" name="Shape 149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70" name="Shape 150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71" name="Text 151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172" name="Text 152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173" name="Shape 153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174" name="Text 154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175" name="Text 155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176" name="Text 156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sp>
        <p:nvSpPr>
          <p:cNvPr id="23" name="Shape 14"/>
          <p:cNvSpPr/>
          <p:nvPr/>
        </p:nvSpPr>
        <p:spPr>
          <a:xfrm>
            <a:off x="114300" y="2793206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24" name="Shape 15"/>
          <p:cNvSpPr/>
          <p:nvPr/>
        </p:nvSpPr>
        <p:spPr>
          <a:xfrm>
            <a:off x="114300" y="2869406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7" name="Text 17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90398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RECENTLY SAVED MEMORY ACROSS THE TEAM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903982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 Feed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38200"/>
            <a:ext cx="1476534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3938588" y="950119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67" name="Shape 48"/>
          <p:cNvSpPr/>
          <p:nvPr/>
        </p:nvSpPr>
        <p:spPr>
          <a:xfrm>
            <a:off x="4219734" y="838200"/>
            <a:ext cx="1547971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8" name="Text 49"/>
          <p:cNvSpPr/>
          <p:nvPr/>
        </p:nvSpPr>
        <p:spPr>
          <a:xfrm>
            <a:off x="5600859" y="950119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69" name="Shape 50"/>
          <p:cNvSpPr/>
          <p:nvPr/>
        </p:nvSpPr>
        <p:spPr>
          <a:xfrm>
            <a:off x="11014710" y="838200"/>
            <a:ext cx="1301115" cy="381000"/>
          </a:xfrm>
          <a:prstGeom prst="roundRect">
            <a:avLst>
              <a:gd name="adj" fmla="val 20000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11138535" y="1000125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71" name="Shape 52"/>
          <p:cNvSpPr/>
          <p:nvPr/>
        </p:nvSpPr>
        <p:spPr>
          <a:xfrm>
            <a:off x="11109960" y="971550"/>
            <a:ext cx="114300" cy="114300"/>
          </a:xfrm>
          <a:prstGeom prst="ellipse">
            <a:avLst/>
          </a:prstGeom>
          <a:ln w="9525">
            <a:solidFill>
              <a:srgbClr val="22B85C">
                <a:alpha val="92000"/>
              </a:srgbClr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11271885" y="957104"/>
            <a:ext cx="9963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polling</a:t>
            </a:r>
            <a:endParaRPr lang="en-US" sz="863" dirty="0"/>
          </a:p>
        </p:txBody>
      </p:sp>
      <p:sp>
        <p:nvSpPr>
          <p:cNvPr id="73" name="Text 54"/>
          <p:cNvSpPr/>
          <p:nvPr/>
        </p:nvSpPr>
        <p:spPr>
          <a:xfrm>
            <a:off x="2628900" y="1371600"/>
            <a:ext cx="4635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825" dirty="0"/>
          </a:p>
        </p:txBody>
      </p:sp>
      <p:sp>
        <p:nvSpPr>
          <p:cNvPr id="74" name="Text 55"/>
          <p:cNvSpPr/>
          <p:nvPr/>
        </p:nvSpPr>
        <p:spPr>
          <a:xfrm>
            <a:off x="3130550" y="1375093"/>
            <a:ext cx="73628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memories</a:t>
            </a:r>
            <a:endParaRPr lang="en-US" sz="788" dirty="0"/>
          </a:p>
        </p:txBody>
      </p:sp>
      <p:sp>
        <p:nvSpPr>
          <p:cNvPr id="75" name="Shape 56"/>
          <p:cNvSpPr/>
          <p:nvPr/>
        </p:nvSpPr>
        <p:spPr>
          <a:xfrm>
            <a:off x="3904933" y="1445419"/>
            <a:ext cx="8410892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6" name="Shape 57"/>
          <p:cNvSpPr/>
          <p:nvPr/>
        </p:nvSpPr>
        <p:spPr>
          <a:xfrm>
            <a:off x="2714625" y="1681163"/>
            <a:ext cx="9525" cy="9336881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77" name="Shape 58"/>
          <p:cNvSpPr/>
          <p:nvPr/>
        </p:nvSpPr>
        <p:spPr>
          <a:xfrm>
            <a:off x="2686050" y="1795463"/>
            <a:ext cx="85725" cy="85725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78" name="Shape 59"/>
          <p:cNvSpPr/>
          <p:nvPr/>
        </p:nvSpPr>
        <p:spPr>
          <a:xfrm>
            <a:off x="3028950" y="1738313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79" name="Text 60"/>
          <p:cNvSpPr/>
          <p:nvPr/>
        </p:nvSpPr>
        <p:spPr>
          <a:xfrm>
            <a:off x="3113564" y="183261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80" name="Text 61"/>
          <p:cNvSpPr/>
          <p:nvPr/>
        </p:nvSpPr>
        <p:spPr>
          <a:xfrm>
            <a:off x="3429000" y="1738313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75" dirty="0"/>
          </a:p>
        </p:txBody>
      </p:sp>
      <p:sp>
        <p:nvSpPr>
          <p:cNvPr id="81" name="Text 62"/>
          <p:cNvSpPr/>
          <p:nvPr/>
        </p:nvSpPr>
        <p:spPr>
          <a:xfrm>
            <a:off x="3429000" y="1991995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82" name="Text 63"/>
          <p:cNvSpPr/>
          <p:nvPr/>
        </p:nvSpPr>
        <p:spPr>
          <a:xfrm>
            <a:off x="4070985" y="1995487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83" name="Text 64"/>
          <p:cNvSpPr/>
          <p:nvPr/>
        </p:nvSpPr>
        <p:spPr>
          <a:xfrm>
            <a:off x="4627245" y="1991995"/>
            <a:ext cx="8305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825" dirty="0"/>
          </a:p>
        </p:txBody>
      </p:sp>
      <p:sp>
        <p:nvSpPr>
          <p:cNvPr id="84" name="Shape 65"/>
          <p:cNvSpPr/>
          <p:nvPr/>
        </p:nvSpPr>
        <p:spPr>
          <a:xfrm>
            <a:off x="5457825" y="196580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85" name="Text 66"/>
          <p:cNvSpPr/>
          <p:nvPr/>
        </p:nvSpPr>
        <p:spPr>
          <a:xfrm>
            <a:off x="5534025" y="199913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86" name="Text 67"/>
          <p:cNvSpPr/>
          <p:nvPr/>
        </p:nvSpPr>
        <p:spPr>
          <a:xfrm>
            <a:off x="11841480" y="1757363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 ago</a:t>
            </a:r>
            <a:endParaRPr lang="en-US" sz="788" dirty="0"/>
          </a:p>
        </p:txBody>
      </p:sp>
      <p:sp>
        <p:nvSpPr>
          <p:cNvPr id="87" name="Shape 68"/>
          <p:cNvSpPr/>
          <p:nvPr/>
        </p:nvSpPr>
        <p:spPr>
          <a:xfrm>
            <a:off x="2686050" y="2423001"/>
            <a:ext cx="85725" cy="85725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88" name="Shape 69"/>
          <p:cNvSpPr/>
          <p:nvPr/>
        </p:nvSpPr>
        <p:spPr>
          <a:xfrm>
            <a:off x="3028950" y="2365851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89" name="Text 70"/>
          <p:cNvSpPr/>
          <p:nvPr/>
        </p:nvSpPr>
        <p:spPr>
          <a:xfrm>
            <a:off x="3113564" y="2460149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65" dirty="0"/>
          </a:p>
        </p:txBody>
      </p:sp>
      <p:sp>
        <p:nvSpPr>
          <p:cNvPr id="90" name="Text 71"/>
          <p:cNvSpPr/>
          <p:nvPr/>
        </p:nvSpPr>
        <p:spPr>
          <a:xfrm>
            <a:off x="3429000" y="2365851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75" dirty="0"/>
          </a:p>
        </p:txBody>
      </p:sp>
      <p:sp>
        <p:nvSpPr>
          <p:cNvPr id="91" name="Text 72"/>
          <p:cNvSpPr/>
          <p:nvPr/>
        </p:nvSpPr>
        <p:spPr>
          <a:xfrm>
            <a:off x="3429000" y="2619534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</a:t>
            </a:r>
            <a:endParaRPr lang="en-US" sz="825" dirty="0"/>
          </a:p>
        </p:txBody>
      </p:sp>
      <p:sp>
        <p:nvSpPr>
          <p:cNvPr id="92" name="Text 73"/>
          <p:cNvSpPr/>
          <p:nvPr/>
        </p:nvSpPr>
        <p:spPr>
          <a:xfrm>
            <a:off x="4008120" y="2623026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93" name="Text 74"/>
          <p:cNvSpPr/>
          <p:nvPr/>
        </p:nvSpPr>
        <p:spPr>
          <a:xfrm>
            <a:off x="4564380" y="2619534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94" name="Shape 75"/>
          <p:cNvSpPr/>
          <p:nvPr/>
        </p:nvSpPr>
        <p:spPr>
          <a:xfrm>
            <a:off x="5143500" y="259334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95" name="Text 76"/>
          <p:cNvSpPr/>
          <p:nvPr/>
        </p:nvSpPr>
        <p:spPr>
          <a:xfrm>
            <a:off x="5219700" y="2626677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96" name="Text 77"/>
          <p:cNvSpPr/>
          <p:nvPr/>
        </p:nvSpPr>
        <p:spPr>
          <a:xfrm>
            <a:off x="11841480" y="2384901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88" dirty="0"/>
          </a:p>
        </p:txBody>
      </p:sp>
      <p:sp>
        <p:nvSpPr>
          <p:cNvPr id="97" name="Shape 78"/>
          <p:cNvSpPr/>
          <p:nvPr/>
        </p:nvSpPr>
        <p:spPr>
          <a:xfrm>
            <a:off x="2686050" y="3050540"/>
            <a:ext cx="85725" cy="85725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98" name="Shape 79"/>
          <p:cNvSpPr/>
          <p:nvPr/>
        </p:nvSpPr>
        <p:spPr>
          <a:xfrm>
            <a:off x="3028950" y="299339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99" name="Text 80"/>
          <p:cNvSpPr/>
          <p:nvPr/>
        </p:nvSpPr>
        <p:spPr>
          <a:xfrm>
            <a:off x="3113564" y="3087688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100" name="Text 81"/>
          <p:cNvSpPr/>
          <p:nvPr/>
        </p:nvSpPr>
        <p:spPr>
          <a:xfrm>
            <a:off x="3429000" y="299339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resolve last-writer-wins, never silent drop</a:t>
            </a:r>
            <a:endParaRPr lang="en-US" sz="975" dirty="0"/>
          </a:p>
        </p:txBody>
      </p:sp>
      <p:sp>
        <p:nvSpPr>
          <p:cNvPr id="101" name="Text 82"/>
          <p:cNvSpPr/>
          <p:nvPr/>
        </p:nvSpPr>
        <p:spPr>
          <a:xfrm>
            <a:off x="3429000" y="3247072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25" dirty="0"/>
          </a:p>
        </p:txBody>
      </p:sp>
      <p:sp>
        <p:nvSpPr>
          <p:cNvPr id="102" name="Text 83"/>
          <p:cNvSpPr/>
          <p:nvPr/>
        </p:nvSpPr>
        <p:spPr>
          <a:xfrm>
            <a:off x="4008120" y="3250565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03" name="Text 84"/>
          <p:cNvSpPr/>
          <p:nvPr/>
        </p:nvSpPr>
        <p:spPr>
          <a:xfrm>
            <a:off x="4564380" y="3247072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104" name="Shape 85"/>
          <p:cNvSpPr/>
          <p:nvPr/>
        </p:nvSpPr>
        <p:spPr>
          <a:xfrm>
            <a:off x="5457825" y="3220879"/>
            <a:ext cx="65532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34000"/>
              </a:srgbClr>
            </a:solidFill>
            <a:prstDash val="solid"/>
          </a:ln>
        </p:spPr>
      </p:sp>
      <p:sp>
        <p:nvSpPr>
          <p:cNvPr id="105" name="Text 86"/>
          <p:cNvSpPr/>
          <p:nvPr/>
        </p:nvSpPr>
        <p:spPr>
          <a:xfrm>
            <a:off x="5534025" y="3254216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106" name="Text 87"/>
          <p:cNvSpPr/>
          <p:nvPr/>
        </p:nvSpPr>
        <p:spPr>
          <a:xfrm>
            <a:off x="11841480" y="301244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88" dirty="0"/>
          </a:p>
        </p:txBody>
      </p:sp>
      <p:sp>
        <p:nvSpPr>
          <p:cNvPr id="107" name="Shape 88"/>
          <p:cNvSpPr/>
          <p:nvPr/>
        </p:nvSpPr>
        <p:spPr>
          <a:xfrm>
            <a:off x="2686050" y="3678079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08" name="Shape 89"/>
          <p:cNvSpPr/>
          <p:nvPr/>
        </p:nvSpPr>
        <p:spPr>
          <a:xfrm>
            <a:off x="3028950" y="3620929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09" name="Text 90"/>
          <p:cNvSpPr/>
          <p:nvPr/>
        </p:nvSpPr>
        <p:spPr>
          <a:xfrm>
            <a:off x="3113564" y="3715226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110" name="Text 91"/>
          <p:cNvSpPr/>
          <p:nvPr/>
        </p:nvSpPr>
        <p:spPr>
          <a:xfrm>
            <a:off x="3429000" y="3620929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75" dirty="0"/>
          </a:p>
        </p:txBody>
      </p:sp>
      <p:sp>
        <p:nvSpPr>
          <p:cNvPr id="111" name="Text 92"/>
          <p:cNvSpPr/>
          <p:nvPr/>
        </p:nvSpPr>
        <p:spPr>
          <a:xfrm>
            <a:off x="3429000" y="3874611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112" name="Text 93"/>
          <p:cNvSpPr/>
          <p:nvPr/>
        </p:nvSpPr>
        <p:spPr>
          <a:xfrm>
            <a:off x="4070985" y="3878104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13" name="Text 94"/>
          <p:cNvSpPr/>
          <p:nvPr/>
        </p:nvSpPr>
        <p:spPr>
          <a:xfrm>
            <a:off x="4627245" y="3874611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114" name="Shape 95"/>
          <p:cNvSpPr/>
          <p:nvPr/>
        </p:nvSpPr>
        <p:spPr>
          <a:xfrm>
            <a:off x="5206365" y="3848417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15" name="Text 96"/>
          <p:cNvSpPr/>
          <p:nvPr/>
        </p:nvSpPr>
        <p:spPr>
          <a:xfrm>
            <a:off x="5282565" y="3881755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16" name="Text 97"/>
          <p:cNvSpPr/>
          <p:nvPr/>
        </p:nvSpPr>
        <p:spPr>
          <a:xfrm>
            <a:off x="11841480" y="3639979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88" dirty="0"/>
          </a:p>
        </p:txBody>
      </p:sp>
      <p:sp>
        <p:nvSpPr>
          <p:cNvPr id="117" name="Shape 98"/>
          <p:cNvSpPr/>
          <p:nvPr/>
        </p:nvSpPr>
        <p:spPr>
          <a:xfrm>
            <a:off x="2686050" y="4305617"/>
            <a:ext cx="85725" cy="85725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18" name="Shape 99"/>
          <p:cNvSpPr/>
          <p:nvPr/>
        </p:nvSpPr>
        <p:spPr>
          <a:xfrm>
            <a:off x="3028950" y="424846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119" name="Text 100"/>
          <p:cNvSpPr/>
          <p:nvPr/>
        </p:nvSpPr>
        <p:spPr>
          <a:xfrm>
            <a:off x="3113564" y="4342765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65" dirty="0"/>
          </a:p>
        </p:txBody>
      </p:sp>
      <p:sp>
        <p:nvSpPr>
          <p:cNvPr id="120" name="Text 101"/>
          <p:cNvSpPr/>
          <p:nvPr/>
        </p:nvSpPr>
        <p:spPr>
          <a:xfrm>
            <a:off x="3429000" y="4248467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75" dirty="0"/>
          </a:p>
        </p:txBody>
      </p:sp>
      <p:sp>
        <p:nvSpPr>
          <p:cNvPr id="121" name="Text 102"/>
          <p:cNvSpPr/>
          <p:nvPr/>
        </p:nvSpPr>
        <p:spPr>
          <a:xfrm>
            <a:off x="3429000" y="450215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</a:t>
            </a:r>
            <a:endParaRPr lang="en-US" sz="825" dirty="0"/>
          </a:p>
        </p:txBody>
      </p:sp>
      <p:sp>
        <p:nvSpPr>
          <p:cNvPr id="122" name="Text 103"/>
          <p:cNvSpPr/>
          <p:nvPr/>
        </p:nvSpPr>
        <p:spPr>
          <a:xfrm>
            <a:off x="4008120" y="4505642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23" name="Text 104"/>
          <p:cNvSpPr/>
          <p:nvPr/>
        </p:nvSpPr>
        <p:spPr>
          <a:xfrm>
            <a:off x="4564380" y="4502150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825" dirty="0"/>
          </a:p>
        </p:txBody>
      </p:sp>
      <p:sp>
        <p:nvSpPr>
          <p:cNvPr id="124" name="Shape 105"/>
          <p:cNvSpPr/>
          <p:nvPr/>
        </p:nvSpPr>
        <p:spPr>
          <a:xfrm>
            <a:off x="5269230" y="447595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25" name="Text 106"/>
          <p:cNvSpPr/>
          <p:nvPr/>
        </p:nvSpPr>
        <p:spPr>
          <a:xfrm>
            <a:off x="5345430" y="450929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26" name="Text 107"/>
          <p:cNvSpPr/>
          <p:nvPr/>
        </p:nvSpPr>
        <p:spPr>
          <a:xfrm>
            <a:off x="11841480" y="4267517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88" dirty="0"/>
          </a:p>
        </p:txBody>
      </p:sp>
      <p:sp>
        <p:nvSpPr>
          <p:cNvPr id="127" name="Shape 108"/>
          <p:cNvSpPr/>
          <p:nvPr/>
        </p:nvSpPr>
        <p:spPr>
          <a:xfrm>
            <a:off x="2686050" y="4933156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28" name="Shape 109"/>
          <p:cNvSpPr/>
          <p:nvPr/>
        </p:nvSpPr>
        <p:spPr>
          <a:xfrm>
            <a:off x="3028950" y="4876006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29" name="Text 110"/>
          <p:cNvSpPr/>
          <p:nvPr/>
        </p:nvSpPr>
        <p:spPr>
          <a:xfrm>
            <a:off x="3113564" y="497030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65" dirty="0"/>
          </a:p>
        </p:txBody>
      </p:sp>
      <p:sp>
        <p:nvSpPr>
          <p:cNvPr id="130" name="Text 111"/>
          <p:cNvSpPr/>
          <p:nvPr/>
        </p:nvSpPr>
        <p:spPr>
          <a:xfrm>
            <a:off x="3429000" y="4876006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pool exhausted under burst — pinned max to 20</a:t>
            </a:r>
            <a:endParaRPr lang="en-US" sz="975" dirty="0"/>
          </a:p>
        </p:txBody>
      </p:sp>
      <p:sp>
        <p:nvSpPr>
          <p:cNvPr id="131" name="Text 112"/>
          <p:cNvSpPr/>
          <p:nvPr/>
        </p:nvSpPr>
        <p:spPr>
          <a:xfrm>
            <a:off x="3429000" y="5129689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25" dirty="0"/>
          </a:p>
        </p:txBody>
      </p:sp>
      <p:sp>
        <p:nvSpPr>
          <p:cNvPr id="132" name="Text 113"/>
          <p:cNvSpPr/>
          <p:nvPr/>
        </p:nvSpPr>
        <p:spPr>
          <a:xfrm>
            <a:off x="4008120" y="5133181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33" name="Text 114"/>
          <p:cNvSpPr/>
          <p:nvPr/>
        </p:nvSpPr>
        <p:spPr>
          <a:xfrm>
            <a:off x="4564380" y="5129689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134" name="Shape 115"/>
          <p:cNvSpPr/>
          <p:nvPr/>
        </p:nvSpPr>
        <p:spPr>
          <a:xfrm>
            <a:off x="5143500" y="5103495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35" name="Text 116"/>
          <p:cNvSpPr/>
          <p:nvPr/>
        </p:nvSpPr>
        <p:spPr>
          <a:xfrm>
            <a:off x="5219700" y="5136832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36" name="Text 117"/>
          <p:cNvSpPr/>
          <p:nvPr/>
        </p:nvSpPr>
        <p:spPr>
          <a:xfrm>
            <a:off x="11841480" y="4895056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5h ago</a:t>
            </a:r>
            <a:endParaRPr lang="en-US" sz="788" dirty="0"/>
          </a:p>
        </p:txBody>
      </p:sp>
      <p:sp>
        <p:nvSpPr>
          <p:cNvPr id="137" name="Shape 118"/>
          <p:cNvSpPr/>
          <p:nvPr/>
        </p:nvSpPr>
        <p:spPr>
          <a:xfrm>
            <a:off x="2686050" y="5560695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38" name="Shape 119"/>
          <p:cNvSpPr/>
          <p:nvPr/>
        </p:nvSpPr>
        <p:spPr>
          <a:xfrm>
            <a:off x="3028950" y="5503545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39" name="Text 120"/>
          <p:cNvSpPr/>
          <p:nvPr/>
        </p:nvSpPr>
        <p:spPr>
          <a:xfrm>
            <a:off x="3113564" y="5597843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65" dirty="0"/>
          </a:p>
        </p:txBody>
      </p:sp>
      <p:sp>
        <p:nvSpPr>
          <p:cNvPr id="140" name="Text 121"/>
          <p:cNvSpPr/>
          <p:nvPr/>
        </p:nvSpPr>
        <p:spPr>
          <a:xfrm>
            <a:off x="3429000" y="5503545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75" dirty="0"/>
          </a:p>
        </p:txBody>
      </p:sp>
      <p:sp>
        <p:nvSpPr>
          <p:cNvPr id="141" name="Text 122"/>
          <p:cNvSpPr/>
          <p:nvPr/>
        </p:nvSpPr>
        <p:spPr>
          <a:xfrm>
            <a:off x="3429000" y="5757228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825" dirty="0"/>
          </a:p>
        </p:txBody>
      </p:sp>
      <p:sp>
        <p:nvSpPr>
          <p:cNvPr id="142" name="Text 123"/>
          <p:cNvSpPr/>
          <p:nvPr/>
        </p:nvSpPr>
        <p:spPr>
          <a:xfrm>
            <a:off x="4196715" y="576072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43" name="Text 124"/>
          <p:cNvSpPr/>
          <p:nvPr/>
        </p:nvSpPr>
        <p:spPr>
          <a:xfrm>
            <a:off x="4752975" y="5757228"/>
            <a:ext cx="8305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825" dirty="0"/>
          </a:p>
        </p:txBody>
      </p:sp>
      <p:sp>
        <p:nvSpPr>
          <p:cNvPr id="144" name="Shape 125"/>
          <p:cNvSpPr/>
          <p:nvPr/>
        </p:nvSpPr>
        <p:spPr>
          <a:xfrm>
            <a:off x="5583555" y="573103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45" name="Text 126"/>
          <p:cNvSpPr/>
          <p:nvPr/>
        </p:nvSpPr>
        <p:spPr>
          <a:xfrm>
            <a:off x="5659755" y="576437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46" name="Text 127"/>
          <p:cNvSpPr/>
          <p:nvPr/>
        </p:nvSpPr>
        <p:spPr>
          <a:xfrm>
            <a:off x="11841480" y="5522595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6h ago</a:t>
            </a:r>
            <a:endParaRPr lang="en-US" sz="788" dirty="0"/>
          </a:p>
        </p:txBody>
      </p:sp>
      <p:sp>
        <p:nvSpPr>
          <p:cNvPr id="147" name="Shape 128"/>
          <p:cNvSpPr/>
          <p:nvPr/>
        </p:nvSpPr>
        <p:spPr>
          <a:xfrm>
            <a:off x="2686050" y="6188234"/>
            <a:ext cx="85725" cy="85725"/>
          </a:xfrm>
          <a:prstGeom prst="ellipse">
            <a:avLst/>
          </a:prstGeom>
          <a:solidFill>
            <a:srgbClr val="2DD4B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48" name="Shape 129"/>
          <p:cNvSpPr/>
          <p:nvPr/>
        </p:nvSpPr>
        <p:spPr>
          <a:xfrm>
            <a:off x="3028950" y="6131084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49" name="Text 130"/>
          <p:cNvSpPr/>
          <p:nvPr/>
        </p:nvSpPr>
        <p:spPr>
          <a:xfrm>
            <a:off x="3113564" y="6225381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65" dirty="0"/>
          </a:p>
        </p:txBody>
      </p:sp>
      <p:sp>
        <p:nvSpPr>
          <p:cNvPr id="150" name="Text 131"/>
          <p:cNvSpPr/>
          <p:nvPr/>
        </p:nvSpPr>
        <p:spPr>
          <a:xfrm>
            <a:off x="3429000" y="6131084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are structured JSON, never printf</a:t>
            </a:r>
            <a:endParaRPr lang="en-US" sz="975" dirty="0"/>
          </a:p>
        </p:txBody>
      </p:sp>
      <p:sp>
        <p:nvSpPr>
          <p:cNvPr id="151" name="Text 132"/>
          <p:cNvSpPr/>
          <p:nvPr/>
        </p:nvSpPr>
        <p:spPr>
          <a:xfrm>
            <a:off x="3429000" y="6384766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25" dirty="0"/>
          </a:p>
        </p:txBody>
      </p:sp>
      <p:sp>
        <p:nvSpPr>
          <p:cNvPr id="152" name="Text 133"/>
          <p:cNvSpPr/>
          <p:nvPr/>
        </p:nvSpPr>
        <p:spPr>
          <a:xfrm>
            <a:off x="4008120" y="638825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53" name="Text 134"/>
          <p:cNvSpPr/>
          <p:nvPr/>
        </p:nvSpPr>
        <p:spPr>
          <a:xfrm>
            <a:off x="4564380" y="6384766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154" name="Shape 135"/>
          <p:cNvSpPr/>
          <p:nvPr/>
        </p:nvSpPr>
        <p:spPr>
          <a:xfrm>
            <a:off x="5143500" y="6358572"/>
            <a:ext cx="781050" cy="209550"/>
          </a:xfrm>
          <a:prstGeom prst="roundRect">
            <a:avLst>
              <a:gd name="adj" fmla="val 18182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155" name="Text 136"/>
          <p:cNvSpPr/>
          <p:nvPr/>
        </p:nvSpPr>
        <p:spPr>
          <a:xfrm>
            <a:off x="5219700" y="6391910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750" dirty="0"/>
          </a:p>
        </p:txBody>
      </p:sp>
      <p:sp>
        <p:nvSpPr>
          <p:cNvPr id="156" name="Text 137"/>
          <p:cNvSpPr/>
          <p:nvPr/>
        </p:nvSpPr>
        <p:spPr>
          <a:xfrm>
            <a:off x="11841480" y="6150134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7h ago</a:t>
            </a:r>
            <a:endParaRPr lang="en-US" sz="788" dirty="0"/>
          </a:p>
        </p:txBody>
      </p:sp>
      <p:sp>
        <p:nvSpPr>
          <p:cNvPr id="157" name="Shape 138"/>
          <p:cNvSpPr/>
          <p:nvPr/>
        </p:nvSpPr>
        <p:spPr>
          <a:xfrm>
            <a:off x="2686050" y="6815772"/>
            <a:ext cx="85725" cy="85725"/>
          </a:xfrm>
          <a:prstGeom prst="ellipse">
            <a:avLst/>
          </a:prstGeom>
          <a:solidFill>
            <a:srgbClr val="8B97A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58" name="Shape 139"/>
          <p:cNvSpPr/>
          <p:nvPr/>
        </p:nvSpPr>
        <p:spPr>
          <a:xfrm>
            <a:off x="3028950" y="6758622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59" name="Text 140"/>
          <p:cNvSpPr/>
          <p:nvPr/>
        </p:nvSpPr>
        <p:spPr>
          <a:xfrm>
            <a:off x="3113564" y="685292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65" dirty="0"/>
          </a:p>
        </p:txBody>
      </p:sp>
      <p:sp>
        <p:nvSpPr>
          <p:cNvPr id="160" name="Text 141"/>
          <p:cNvSpPr/>
          <p:nvPr/>
        </p:nvSpPr>
        <p:spPr>
          <a:xfrm>
            <a:off x="3429000" y="6758622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75" dirty="0"/>
          </a:p>
        </p:txBody>
      </p:sp>
      <p:sp>
        <p:nvSpPr>
          <p:cNvPr id="161" name="Text 142"/>
          <p:cNvSpPr/>
          <p:nvPr/>
        </p:nvSpPr>
        <p:spPr>
          <a:xfrm>
            <a:off x="3429000" y="7012305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25" dirty="0"/>
          </a:p>
        </p:txBody>
      </p:sp>
      <p:sp>
        <p:nvSpPr>
          <p:cNvPr id="162" name="Text 143"/>
          <p:cNvSpPr/>
          <p:nvPr/>
        </p:nvSpPr>
        <p:spPr>
          <a:xfrm>
            <a:off x="4008120" y="7015797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63" name="Text 144"/>
          <p:cNvSpPr/>
          <p:nvPr/>
        </p:nvSpPr>
        <p:spPr>
          <a:xfrm>
            <a:off x="4564380" y="7012305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164" name="Shape 145"/>
          <p:cNvSpPr/>
          <p:nvPr/>
        </p:nvSpPr>
        <p:spPr>
          <a:xfrm>
            <a:off x="5143500" y="6986111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165" name="Text 146"/>
          <p:cNvSpPr/>
          <p:nvPr/>
        </p:nvSpPr>
        <p:spPr>
          <a:xfrm>
            <a:off x="5219700" y="7019449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166" name="Text 147"/>
          <p:cNvSpPr/>
          <p:nvPr/>
        </p:nvSpPr>
        <p:spPr>
          <a:xfrm>
            <a:off x="11841480" y="6777672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7h ago</a:t>
            </a:r>
            <a:endParaRPr lang="en-US" sz="788" dirty="0"/>
          </a:p>
        </p:txBody>
      </p:sp>
      <p:sp>
        <p:nvSpPr>
          <p:cNvPr id="167" name="Shape 148"/>
          <p:cNvSpPr/>
          <p:nvPr/>
        </p:nvSpPr>
        <p:spPr>
          <a:xfrm>
            <a:off x="2686050" y="7443311"/>
            <a:ext cx="85725" cy="85725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68" name="Shape 149"/>
          <p:cNvSpPr/>
          <p:nvPr/>
        </p:nvSpPr>
        <p:spPr>
          <a:xfrm>
            <a:off x="3028950" y="7386161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169" name="Text 150"/>
          <p:cNvSpPr/>
          <p:nvPr/>
        </p:nvSpPr>
        <p:spPr>
          <a:xfrm>
            <a:off x="3113564" y="7480459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170" name="Text 151"/>
          <p:cNvSpPr/>
          <p:nvPr/>
        </p:nvSpPr>
        <p:spPr>
          <a:xfrm>
            <a:off x="3429000" y="7386161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75" dirty="0"/>
          </a:p>
        </p:txBody>
      </p:sp>
      <p:sp>
        <p:nvSpPr>
          <p:cNvPr id="171" name="Text 152"/>
          <p:cNvSpPr/>
          <p:nvPr/>
        </p:nvSpPr>
        <p:spPr>
          <a:xfrm>
            <a:off x="3429000" y="7639844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25" dirty="0"/>
          </a:p>
        </p:txBody>
      </p:sp>
      <p:sp>
        <p:nvSpPr>
          <p:cNvPr id="172" name="Text 153"/>
          <p:cNvSpPr/>
          <p:nvPr/>
        </p:nvSpPr>
        <p:spPr>
          <a:xfrm>
            <a:off x="4008120" y="7643336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73" name="Text 154"/>
          <p:cNvSpPr/>
          <p:nvPr/>
        </p:nvSpPr>
        <p:spPr>
          <a:xfrm>
            <a:off x="4564380" y="7639844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174" name="Shape 155"/>
          <p:cNvSpPr/>
          <p:nvPr/>
        </p:nvSpPr>
        <p:spPr>
          <a:xfrm>
            <a:off x="5457825" y="761365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75" name="Text 156"/>
          <p:cNvSpPr/>
          <p:nvPr/>
        </p:nvSpPr>
        <p:spPr>
          <a:xfrm>
            <a:off x="5534025" y="7646987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76" name="Text 157"/>
          <p:cNvSpPr/>
          <p:nvPr/>
        </p:nvSpPr>
        <p:spPr>
          <a:xfrm>
            <a:off x="11841480" y="7405211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8h ago</a:t>
            </a:r>
            <a:endParaRPr lang="en-US" sz="788" dirty="0"/>
          </a:p>
        </p:txBody>
      </p:sp>
      <p:sp>
        <p:nvSpPr>
          <p:cNvPr id="177" name="Shape 158"/>
          <p:cNvSpPr/>
          <p:nvPr/>
        </p:nvSpPr>
        <p:spPr>
          <a:xfrm>
            <a:off x="2686050" y="8070850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78" name="Shape 159"/>
          <p:cNvSpPr/>
          <p:nvPr/>
        </p:nvSpPr>
        <p:spPr>
          <a:xfrm>
            <a:off x="3028950" y="80137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179" name="Text 160"/>
          <p:cNvSpPr/>
          <p:nvPr/>
        </p:nvSpPr>
        <p:spPr>
          <a:xfrm>
            <a:off x="3113564" y="8107998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180" name="Text 161"/>
          <p:cNvSpPr/>
          <p:nvPr/>
        </p:nvSpPr>
        <p:spPr>
          <a:xfrm>
            <a:off x="3429000" y="80137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deref when project has 0 contributors</a:t>
            </a:r>
            <a:endParaRPr lang="en-US" sz="975" dirty="0"/>
          </a:p>
        </p:txBody>
      </p:sp>
      <p:sp>
        <p:nvSpPr>
          <p:cNvPr id="181" name="Text 162"/>
          <p:cNvSpPr/>
          <p:nvPr/>
        </p:nvSpPr>
        <p:spPr>
          <a:xfrm>
            <a:off x="3429000" y="8267383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182" name="Text 163"/>
          <p:cNvSpPr/>
          <p:nvPr/>
        </p:nvSpPr>
        <p:spPr>
          <a:xfrm>
            <a:off x="4133850" y="8270875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83" name="Text 164"/>
          <p:cNvSpPr/>
          <p:nvPr/>
        </p:nvSpPr>
        <p:spPr>
          <a:xfrm>
            <a:off x="4690110" y="8267383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web-client</a:t>
            </a:r>
            <a:endParaRPr lang="en-US" sz="825" dirty="0"/>
          </a:p>
        </p:txBody>
      </p:sp>
      <p:sp>
        <p:nvSpPr>
          <p:cNvPr id="184" name="Shape 165"/>
          <p:cNvSpPr/>
          <p:nvPr/>
        </p:nvSpPr>
        <p:spPr>
          <a:xfrm>
            <a:off x="5394960" y="824118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85" name="Text 166"/>
          <p:cNvSpPr/>
          <p:nvPr/>
        </p:nvSpPr>
        <p:spPr>
          <a:xfrm>
            <a:off x="5471160" y="827452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86" name="Text 167"/>
          <p:cNvSpPr/>
          <p:nvPr/>
        </p:nvSpPr>
        <p:spPr>
          <a:xfrm>
            <a:off x="11841480" y="803275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9h ago</a:t>
            </a:r>
            <a:endParaRPr lang="en-US" sz="788" dirty="0"/>
          </a:p>
        </p:txBody>
      </p:sp>
      <p:sp>
        <p:nvSpPr>
          <p:cNvPr id="187" name="Shape 168"/>
          <p:cNvSpPr/>
          <p:nvPr/>
        </p:nvSpPr>
        <p:spPr>
          <a:xfrm>
            <a:off x="2686050" y="8698389"/>
            <a:ext cx="85725" cy="85725"/>
          </a:xfrm>
          <a:prstGeom prst="ellipse">
            <a:avLst/>
          </a:prstGeom>
          <a:solidFill>
            <a:srgbClr val="22B85C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88" name="Shape 169"/>
          <p:cNvSpPr/>
          <p:nvPr/>
        </p:nvSpPr>
        <p:spPr>
          <a:xfrm>
            <a:off x="3028950" y="8641239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89" name="Text 170"/>
          <p:cNvSpPr/>
          <p:nvPr/>
        </p:nvSpPr>
        <p:spPr>
          <a:xfrm>
            <a:off x="3113564" y="8735537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65" dirty="0"/>
          </a:p>
        </p:txBody>
      </p:sp>
      <p:sp>
        <p:nvSpPr>
          <p:cNvPr id="190" name="Text 171"/>
          <p:cNvSpPr/>
          <p:nvPr/>
        </p:nvSpPr>
        <p:spPr>
          <a:xfrm>
            <a:off x="3429000" y="8641239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tuned redis eviction during incident</a:t>
            </a:r>
            <a:endParaRPr lang="en-US" sz="975" dirty="0"/>
          </a:p>
        </p:txBody>
      </p:sp>
      <p:sp>
        <p:nvSpPr>
          <p:cNvPr id="191" name="Text 172"/>
          <p:cNvSpPr/>
          <p:nvPr/>
        </p:nvSpPr>
        <p:spPr>
          <a:xfrm>
            <a:off x="3429000" y="8894921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25" dirty="0"/>
          </a:p>
        </p:txBody>
      </p:sp>
      <p:sp>
        <p:nvSpPr>
          <p:cNvPr id="192" name="Text 173"/>
          <p:cNvSpPr/>
          <p:nvPr/>
        </p:nvSpPr>
        <p:spPr>
          <a:xfrm>
            <a:off x="4008120" y="8898414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193" name="Text 174"/>
          <p:cNvSpPr/>
          <p:nvPr/>
        </p:nvSpPr>
        <p:spPr>
          <a:xfrm>
            <a:off x="4564380" y="8894921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194" name="Shape 175"/>
          <p:cNvSpPr/>
          <p:nvPr/>
        </p:nvSpPr>
        <p:spPr>
          <a:xfrm>
            <a:off x="5143500" y="8868727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195" name="Text 176"/>
          <p:cNvSpPr/>
          <p:nvPr/>
        </p:nvSpPr>
        <p:spPr>
          <a:xfrm>
            <a:off x="5219700" y="8902065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196" name="Text 177"/>
          <p:cNvSpPr/>
          <p:nvPr/>
        </p:nvSpPr>
        <p:spPr>
          <a:xfrm>
            <a:off x="11841480" y="8660289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9h ago</a:t>
            </a:r>
            <a:endParaRPr lang="en-US" sz="788" dirty="0"/>
          </a:p>
        </p:txBody>
      </p:sp>
      <p:sp>
        <p:nvSpPr>
          <p:cNvPr id="197" name="Shape 178"/>
          <p:cNvSpPr/>
          <p:nvPr/>
        </p:nvSpPr>
        <p:spPr>
          <a:xfrm>
            <a:off x="2686050" y="9325927"/>
            <a:ext cx="85725" cy="85725"/>
          </a:xfrm>
          <a:prstGeom prst="ellipse">
            <a:avLst/>
          </a:prstGeom>
          <a:solidFill>
            <a:srgbClr val="E0A22E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198" name="Shape 179"/>
          <p:cNvSpPr/>
          <p:nvPr/>
        </p:nvSpPr>
        <p:spPr>
          <a:xfrm>
            <a:off x="3028950" y="926877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99" name="Text 180"/>
          <p:cNvSpPr/>
          <p:nvPr/>
        </p:nvSpPr>
        <p:spPr>
          <a:xfrm>
            <a:off x="3113564" y="9363075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200" name="Text 181"/>
          <p:cNvSpPr/>
          <p:nvPr/>
        </p:nvSpPr>
        <p:spPr>
          <a:xfrm>
            <a:off x="3429000" y="9268777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/v2/users silently ignores empty arrays</a:t>
            </a:r>
            <a:endParaRPr lang="en-US" sz="975" dirty="0"/>
          </a:p>
        </p:txBody>
      </p:sp>
      <p:sp>
        <p:nvSpPr>
          <p:cNvPr id="201" name="Text 182"/>
          <p:cNvSpPr/>
          <p:nvPr/>
        </p:nvSpPr>
        <p:spPr>
          <a:xfrm>
            <a:off x="3429000" y="9522460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202" name="Text 183"/>
          <p:cNvSpPr/>
          <p:nvPr/>
        </p:nvSpPr>
        <p:spPr>
          <a:xfrm>
            <a:off x="4070985" y="9525952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03" name="Text 184"/>
          <p:cNvSpPr/>
          <p:nvPr/>
        </p:nvSpPr>
        <p:spPr>
          <a:xfrm>
            <a:off x="4627245" y="952246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204" name="Shape 185"/>
          <p:cNvSpPr/>
          <p:nvPr/>
        </p:nvSpPr>
        <p:spPr>
          <a:xfrm>
            <a:off x="5206365" y="9496266"/>
            <a:ext cx="718185" cy="209550"/>
          </a:xfrm>
          <a:prstGeom prst="roundRect">
            <a:avLst>
              <a:gd name="adj" fmla="val 1818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34000"/>
              </a:srgbClr>
            </a:solidFill>
            <a:prstDash val="solid"/>
          </a:ln>
        </p:spPr>
      </p:sp>
      <p:sp>
        <p:nvSpPr>
          <p:cNvPr id="205" name="Text 186"/>
          <p:cNvSpPr/>
          <p:nvPr/>
        </p:nvSpPr>
        <p:spPr>
          <a:xfrm>
            <a:off x="5282565" y="9529604"/>
            <a:ext cx="6419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750" dirty="0"/>
          </a:p>
        </p:txBody>
      </p:sp>
      <p:sp>
        <p:nvSpPr>
          <p:cNvPr id="206" name="Text 187"/>
          <p:cNvSpPr/>
          <p:nvPr/>
        </p:nvSpPr>
        <p:spPr>
          <a:xfrm>
            <a:off x="11781473" y="9287827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10h ago</a:t>
            </a:r>
            <a:endParaRPr lang="en-US" sz="788" dirty="0"/>
          </a:p>
        </p:txBody>
      </p:sp>
      <p:sp>
        <p:nvSpPr>
          <p:cNvPr id="207" name="Shape 188"/>
          <p:cNvSpPr/>
          <p:nvPr/>
        </p:nvSpPr>
        <p:spPr>
          <a:xfrm>
            <a:off x="2686050" y="9953467"/>
            <a:ext cx="85725" cy="85725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08" name="Shape 189"/>
          <p:cNvSpPr/>
          <p:nvPr/>
        </p:nvSpPr>
        <p:spPr>
          <a:xfrm>
            <a:off x="3028950" y="989631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209" name="Text 190"/>
          <p:cNvSpPr/>
          <p:nvPr/>
        </p:nvSpPr>
        <p:spPr>
          <a:xfrm>
            <a:off x="3113564" y="9990613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765" dirty="0"/>
          </a:p>
        </p:txBody>
      </p:sp>
      <p:sp>
        <p:nvSpPr>
          <p:cNvPr id="210" name="Text 191"/>
          <p:cNvSpPr/>
          <p:nvPr/>
        </p:nvSpPr>
        <p:spPr>
          <a:xfrm>
            <a:off x="3429000" y="9896317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sync interval set to 90s with jitter</a:t>
            </a:r>
            <a:endParaRPr lang="en-US" sz="975" dirty="0"/>
          </a:p>
        </p:txBody>
      </p:sp>
      <p:sp>
        <p:nvSpPr>
          <p:cNvPr id="211" name="Text 192"/>
          <p:cNvSpPr/>
          <p:nvPr/>
        </p:nvSpPr>
        <p:spPr>
          <a:xfrm>
            <a:off x="3429000" y="10149999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25" dirty="0"/>
          </a:p>
        </p:txBody>
      </p:sp>
      <p:sp>
        <p:nvSpPr>
          <p:cNvPr id="212" name="Text 193"/>
          <p:cNvSpPr/>
          <p:nvPr/>
        </p:nvSpPr>
        <p:spPr>
          <a:xfrm>
            <a:off x="4196715" y="10153492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13" name="Text 194"/>
          <p:cNvSpPr/>
          <p:nvPr/>
        </p:nvSpPr>
        <p:spPr>
          <a:xfrm>
            <a:off x="4752975" y="10149999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214" name="Shape 195"/>
          <p:cNvSpPr/>
          <p:nvPr/>
        </p:nvSpPr>
        <p:spPr>
          <a:xfrm>
            <a:off x="5646420" y="10123805"/>
            <a:ext cx="65532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34000"/>
              </a:srgbClr>
            </a:solidFill>
            <a:prstDash val="solid"/>
          </a:ln>
        </p:spPr>
      </p:sp>
      <p:sp>
        <p:nvSpPr>
          <p:cNvPr id="215" name="Text 196"/>
          <p:cNvSpPr/>
          <p:nvPr/>
        </p:nvSpPr>
        <p:spPr>
          <a:xfrm>
            <a:off x="5722620" y="10157143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216" name="Text 197"/>
          <p:cNvSpPr/>
          <p:nvPr/>
        </p:nvSpPr>
        <p:spPr>
          <a:xfrm>
            <a:off x="11781473" y="9915367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10h ago</a:t>
            </a:r>
            <a:endParaRPr lang="en-US" sz="788" dirty="0"/>
          </a:p>
        </p:txBody>
      </p:sp>
      <p:sp>
        <p:nvSpPr>
          <p:cNvPr id="217" name="Shape 198"/>
          <p:cNvSpPr/>
          <p:nvPr/>
        </p:nvSpPr>
        <p:spPr>
          <a:xfrm>
            <a:off x="2686050" y="10581005"/>
            <a:ext cx="85725" cy="85725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18" name="Shape 199"/>
          <p:cNvSpPr/>
          <p:nvPr/>
        </p:nvSpPr>
        <p:spPr>
          <a:xfrm>
            <a:off x="3028950" y="10523855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19" name="Text 200"/>
          <p:cNvSpPr/>
          <p:nvPr/>
        </p:nvSpPr>
        <p:spPr>
          <a:xfrm>
            <a:off x="3113564" y="10618152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65" dirty="0"/>
          </a:p>
        </p:txBody>
      </p:sp>
      <p:sp>
        <p:nvSpPr>
          <p:cNvPr id="220" name="Text 201"/>
          <p:cNvSpPr/>
          <p:nvPr/>
        </p:nvSpPr>
        <p:spPr>
          <a:xfrm>
            <a:off x="3429000" y="10523855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75" dirty="0"/>
          </a:p>
        </p:txBody>
      </p:sp>
      <p:sp>
        <p:nvSpPr>
          <p:cNvPr id="221" name="Text 202"/>
          <p:cNvSpPr/>
          <p:nvPr/>
        </p:nvSpPr>
        <p:spPr>
          <a:xfrm>
            <a:off x="3429000" y="10777538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25" dirty="0"/>
          </a:p>
        </p:txBody>
      </p:sp>
      <p:sp>
        <p:nvSpPr>
          <p:cNvPr id="222" name="Text 203"/>
          <p:cNvSpPr/>
          <p:nvPr/>
        </p:nvSpPr>
        <p:spPr>
          <a:xfrm>
            <a:off x="4008120" y="1078103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23" name="Text 204"/>
          <p:cNvSpPr/>
          <p:nvPr/>
        </p:nvSpPr>
        <p:spPr>
          <a:xfrm>
            <a:off x="4564380" y="10777538"/>
            <a:ext cx="95631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825" dirty="0"/>
          </a:p>
        </p:txBody>
      </p:sp>
      <p:sp>
        <p:nvSpPr>
          <p:cNvPr id="224" name="Shape 205"/>
          <p:cNvSpPr/>
          <p:nvPr/>
        </p:nvSpPr>
        <p:spPr>
          <a:xfrm>
            <a:off x="5520690" y="10751344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25" name="Text 206"/>
          <p:cNvSpPr/>
          <p:nvPr/>
        </p:nvSpPr>
        <p:spPr>
          <a:xfrm>
            <a:off x="5596890" y="10784681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6" name="Text 207"/>
          <p:cNvSpPr/>
          <p:nvPr/>
        </p:nvSpPr>
        <p:spPr>
          <a:xfrm>
            <a:off x="11781473" y="10542905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10h ago</a:t>
            </a:r>
            <a:endParaRPr lang="en-US" sz="788" dirty="0"/>
          </a:p>
        </p:txBody>
      </p:sp>
      <p:sp>
        <p:nvSpPr>
          <p:cNvPr id="227" name="Text 208"/>
          <p:cNvSpPr/>
          <p:nvPr/>
        </p:nvSpPr>
        <p:spPr>
          <a:xfrm>
            <a:off x="2628900" y="11284744"/>
            <a:ext cx="77343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YESTERDAY</a:t>
            </a:r>
            <a:endParaRPr lang="en-US" sz="825" dirty="0"/>
          </a:p>
        </p:txBody>
      </p:sp>
      <p:sp>
        <p:nvSpPr>
          <p:cNvPr id="228" name="Text 209"/>
          <p:cNvSpPr/>
          <p:nvPr/>
        </p:nvSpPr>
        <p:spPr>
          <a:xfrm>
            <a:off x="3440430" y="11288237"/>
            <a:ext cx="73628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memories</a:t>
            </a:r>
            <a:endParaRPr lang="en-US" sz="788" dirty="0"/>
          </a:p>
        </p:txBody>
      </p:sp>
      <p:sp>
        <p:nvSpPr>
          <p:cNvPr id="229" name="Shape 210"/>
          <p:cNvSpPr/>
          <p:nvPr/>
        </p:nvSpPr>
        <p:spPr>
          <a:xfrm>
            <a:off x="4214813" y="11358563"/>
            <a:ext cx="8101013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230" name="Shape 211"/>
          <p:cNvSpPr/>
          <p:nvPr/>
        </p:nvSpPr>
        <p:spPr>
          <a:xfrm>
            <a:off x="2714625" y="11594306"/>
            <a:ext cx="9525" cy="11219498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231" name="Shape 212"/>
          <p:cNvSpPr/>
          <p:nvPr/>
        </p:nvSpPr>
        <p:spPr>
          <a:xfrm>
            <a:off x="2686050" y="11708606"/>
            <a:ext cx="85725" cy="85725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32" name="Shape 213"/>
          <p:cNvSpPr/>
          <p:nvPr/>
        </p:nvSpPr>
        <p:spPr>
          <a:xfrm>
            <a:off x="3028950" y="11651456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33" name="Text 214"/>
          <p:cNvSpPr/>
          <p:nvPr/>
        </p:nvSpPr>
        <p:spPr>
          <a:xfrm>
            <a:off x="3113564" y="1174575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65" dirty="0"/>
          </a:p>
        </p:txBody>
      </p:sp>
      <p:sp>
        <p:nvSpPr>
          <p:cNvPr id="234" name="Text 215"/>
          <p:cNvSpPr/>
          <p:nvPr/>
        </p:nvSpPr>
        <p:spPr>
          <a:xfrm>
            <a:off x="3429000" y="11651456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memory carries an originating session id</a:t>
            </a:r>
            <a:endParaRPr lang="en-US" sz="975" dirty="0"/>
          </a:p>
        </p:txBody>
      </p:sp>
      <p:sp>
        <p:nvSpPr>
          <p:cNvPr id="235" name="Text 216"/>
          <p:cNvSpPr/>
          <p:nvPr/>
        </p:nvSpPr>
        <p:spPr>
          <a:xfrm>
            <a:off x="3429000" y="11905138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825" dirty="0"/>
          </a:p>
        </p:txBody>
      </p:sp>
      <p:sp>
        <p:nvSpPr>
          <p:cNvPr id="236" name="Text 217"/>
          <p:cNvSpPr/>
          <p:nvPr/>
        </p:nvSpPr>
        <p:spPr>
          <a:xfrm>
            <a:off x="4196715" y="11908631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37" name="Text 218"/>
          <p:cNvSpPr/>
          <p:nvPr/>
        </p:nvSpPr>
        <p:spPr>
          <a:xfrm>
            <a:off x="4752975" y="11905138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238" name="Shape 219"/>
          <p:cNvSpPr/>
          <p:nvPr/>
        </p:nvSpPr>
        <p:spPr>
          <a:xfrm>
            <a:off x="5646420" y="11878945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239" name="Text 220"/>
          <p:cNvSpPr/>
          <p:nvPr/>
        </p:nvSpPr>
        <p:spPr>
          <a:xfrm>
            <a:off x="5722620" y="11912282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240" name="Text 221"/>
          <p:cNvSpPr/>
          <p:nvPr/>
        </p:nvSpPr>
        <p:spPr>
          <a:xfrm>
            <a:off x="11781473" y="11670506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12h ago</a:t>
            </a:r>
            <a:endParaRPr lang="en-US" sz="788" dirty="0"/>
          </a:p>
        </p:txBody>
      </p:sp>
      <p:sp>
        <p:nvSpPr>
          <p:cNvPr id="241" name="Shape 222"/>
          <p:cNvSpPr/>
          <p:nvPr/>
        </p:nvSpPr>
        <p:spPr>
          <a:xfrm>
            <a:off x="2686050" y="12336145"/>
            <a:ext cx="85725" cy="85725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42" name="Shape 223"/>
          <p:cNvSpPr/>
          <p:nvPr/>
        </p:nvSpPr>
        <p:spPr>
          <a:xfrm>
            <a:off x="3028950" y="12278995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243" name="Text 224"/>
          <p:cNvSpPr/>
          <p:nvPr/>
        </p:nvSpPr>
        <p:spPr>
          <a:xfrm>
            <a:off x="3113564" y="12373292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244" name="Text 225"/>
          <p:cNvSpPr/>
          <p:nvPr/>
        </p:nvSpPr>
        <p:spPr>
          <a:xfrm>
            <a:off x="3429000" y="12278995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migrations reversible — no destructive down</a:t>
            </a:r>
            <a:endParaRPr lang="en-US" sz="975" dirty="0"/>
          </a:p>
        </p:txBody>
      </p:sp>
      <p:sp>
        <p:nvSpPr>
          <p:cNvPr id="245" name="Text 226"/>
          <p:cNvSpPr/>
          <p:nvPr/>
        </p:nvSpPr>
        <p:spPr>
          <a:xfrm>
            <a:off x="3429000" y="12532677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246" name="Text 227"/>
          <p:cNvSpPr/>
          <p:nvPr/>
        </p:nvSpPr>
        <p:spPr>
          <a:xfrm>
            <a:off x="4133850" y="1253617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47" name="Text 228"/>
          <p:cNvSpPr/>
          <p:nvPr/>
        </p:nvSpPr>
        <p:spPr>
          <a:xfrm>
            <a:off x="4690110" y="12532677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248" name="Shape 229"/>
          <p:cNvSpPr/>
          <p:nvPr/>
        </p:nvSpPr>
        <p:spPr>
          <a:xfrm>
            <a:off x="5269230" y="12506483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249" name="Text 230"/>
          <p:cNvSpPr/>
          <p:nvPr/>
        </p:nvSpPr>
        <p:spPr>
          <a:xfrm>
            <a:off x="5345430" y="12539821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250" name="Text 231"/>
          <p:cNvSpPr/>
          <p:nvPr/>
        </p:nvSpPr>
        <p:spPr>
          <a:xfrm>
            <a:off x="11781473" y="12298045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13h ago</a:t>
            </a:r>
            <a:endParaRPr lang="en-US" sz="788" dirty="0"/>
          </a:p>
        </p:txBody>
      </p:sp>
      <p:sp>
        <p:nvSpPr>
          <p:cNvPr id="251" name="Shape 232"/>
          <p:cNvSpPr/>
          <p:nvPr/>
        </p:nvSpPr>
        <p:spPr>
          <a:xfrm>
            <a:off x="2686050" y="12963683"/>
            <a:ext cx="85725" cy="85725"/>
          </a:xfrm>
          <a:prstGeom prst="ellipse">
            <a:avLst/>
          </a:prstGeom>
          <a:solidFill>
            <a:srgbClr val="8B97A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52" name="Shape 233"/>
          <p:cNvSpPr/>
          <p:nvPr/>
        </p:nvSpPr>
        <p:spPr>
          <a:xfrm>
            <a:off x="3028950" y="12906533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253" name="Text 234"/>
          <p:cNvSpPr/>
          <p:nvPr/>
        </p:nvSpPr>
        <p:spPr>
          <a:xfrm>
            <a:off x="3113564" y="13000831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254" name="Text 235"/>
          <p:cNvSpPr/>
          <p:nvPr/>
        </p:nvSpPr>
        <p:spPr>
          <a:xfrm>
            <a:off x="3429000" y="12906533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ef_search tuned to 64 for recall/latency</a:t>
            </a:r>
            <a:endParaRPr lang="en-US" sz="975" dirty="0"/>
          </a:p>
        </p:txBody>
      </p:sp>
      <p:sp>
        <p:nvSpPr>
          <p:cNvPr id="255" name="Text 236"/>
          <p:cNvSpPr/>
          <p:nvPr/>
        </p:nvSpPr>
        <p:spPr>
          <a:xfrm>
            <a:off x="3429000" y="13160216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256" name="Text 237"/>
          <p:cNvSpPr/>
          <p:nvPr/>
        </p:nvSpPr>
        <p:spPr>
          <a:xfrm>
            <a:off x="4133850" y="13163708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57" name="Text 238"/>
          <p:cNvSpPr/>
          <p:nvPr/>
        </p:nvSpPr>
        <p:spPr>
          <a:xfrm>
            <a:off x="4690110" y="13160216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258" name="Shape 239"/>
          <p:cNvSpPr/>
          <p:nvPr/>
        </p:nvSpPr>
        <p:spPr>
          <a:xfrm>
            <a:off x="5269230" y="13134023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259" name="Text 240"/>
          <p:cNvSpPr/>
          <p:nvPr/>
        </p:nvSpPr>
        <p:spPr>
          <a:xfrm>
            <a:off x="5345430" y="13167360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260" name="Text 241"/>
          <p:cNvSpPr/>
          <p:nvPr/>
        </p:nvSpPr>
        <p:spPr>
          <a:xfrm>
            <a:off x="11781473" y="12925583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13h ago</a:t>
            </a:r>
            <a:endParaRPr lang="en-US" sz="788" dirty="0"/>
          </a:p>
        </p:txBody>
      </p:sp>
      <p:sp>
        <p:nvSpPr>
          <p:cNvPr id="261" name="Shape 242"/>
          <p:cNvSpPr/>
          <p:nvPr/>
        </p:nvSpPr>
        <p:spPr>
          <a:xfrm>
            <a:off x="2686050" y="13591223"/>
            <a:ext cx="85725" cy="85725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62" name="Shape 243"/>
          <p:cNvSpPr/>
          <p:nvPr/>
        </p:nvSpPr>
        <p:spPr>
          <a:xfrm>
            <a:off x="3028950" y="13534073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263" name="Text 244"/>
          <p:cNvSpPr/>
          <p:nvPr/>
        </p:nvSpPr>
        <p:spPr>
          <a:xfrm>
            <a:off x="3113564" y="1362837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264" name="Text 245"/>
          <p:cNvSpPr/>
          <p:nvPr/>
        </p:nvSpPr>
        <p:spPr>
          <a:xfrm>
            <a:off x="3429000" y="13534073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use exponential backoff with jitter</a:t>
            </a:r>
            <a:endParaRPr lang="en-US" sz="975" dirty="0"/>
          </a:p>
        </p:txBody>
      </p:sp>
      <p:sp>
        <p:nvSpPr>
          <p:cNvPr id="265" name="Text 246"/>
          <p:cNvSpPr/>
          <p:nvPr/>
        </p:nvSpPr>
        <p:spPr>
          <a:xfrm>
            <a:off x="3429000" y="13787755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266" name="Text 247"/>
          <p:cNvSpPr/>
          <p:nvPr/>
        </p:nvSpPr>
        <p:spPr>
          <a:xfrm>
            <a:off x="4133850" y="13791248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67" name="Text 248"/>
          <p:cNvSpPr/>
          <p:nvPr/>
        </p:nvSpPr>
        <p:spPr>
          <a:xfrm>
            <a:off x="4690110" y="13787755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268" name="Shape 249"/>
          <p:cNvSpPr/>
          <p:nvPr/>
        </p:nvSpPr>
        <p:spPr>
          <a:xfrm>
            <a:off x="5583555" y="13761561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269" name="Text 250"/>
          <p:cNvSpPr/>
          <p:nvPr/>
        </p:nvSpPr>
        <p:spPr>
          <a:xfrm>
            <a:off x="5659755" y="13794899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270" name="Text 251"/>
          <p:cNvSpPr/>
          <p:nvPr/>
        </p:nvSpPr>
        <p:spPr>
          <a:xfrm>
            <a:off x="11781473" y="13553123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16h ago</a:t>
            </a:r>
            <a:endParaRPr lang="en-US" sz="788" dirty="0"/>
          </a:p>
        </p:txBody>
      </p:sp>
      <p:sp>
        <p:nvSpPr>
          <p:cNvPr id="271" name="Shape 252"/>
          <p:cNvSpPr/>
          <p:nvPr/>
        </p:nvSpPr>
        <p:spPr>
          <a:xfrm>
            <a:off x="2686050" y="14218761"/>
            <a:ext cx="85725" cy="85725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72" name="Shape 253"/>
          <p:cNvSpPr/>
          <p:nvPr/>
        </p:nvSpPr>
        <p:spPr>
          <a:xfrm>
            <a:off x="3028950" y="14161611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73" name="Text 254"/>
          <p:cNvSpPr/>
          <p:nvPr/>
        </p:nvSpPr>
        <p:spPr>
          <a:xfrm>
            <a:off x="3113564" y="14255909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65" dirty="0"/>
          </a:p>
        </p:txBody>
      </p:sp>
      <p:sp>
        <p:nvSpPr>
          <p:cNvPr id="274" name="Text 255"/>
          <p:cNvSpPr/>
          <p:nvPr/>
        </p:nvSpPr>
        <p:spPr>
          <a:xfrm>
            <a:off x="3429000" y="14161611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ULID over UUID for entity ids</a:t>
            </a:r>
            <a:endParaRPr lang="en-US" sz="975" dirty="0"/>
          </a:p>
        </p:txBody>
      </p:sp>
      <p:sp>
        <p:nvSpPr>
          <p:cNvPr id="275" name="Text 256"/>
          <p:cNvSpPr/>
          <p:nvPr/>
        </p:nvSpPr>
        <p:spPr>
          <a:xfrm>
            <a:off x="3429000" y="14415293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25" dirty="0"/>
          </a:p>
        </p:txBody>
      </p:sp>
      <p:sp>
        <p:nvSpPr>
          <p:cNvPr id="276" name="Text 257"/>
          <p:cNvSpPr/>
          <p:nvPr/>
        </p:nvSpPr>
        <p:spPr>
          <a:xfrm>
            <a:off x="4008120" y="14418786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77" name="Text 258"/>
          <p:cNvSpPr/>
          <p:nvPr/>
        </p:nvSpPr>
        <p:spPr>
          <a:xfrm>
            <a:off x="4564380" y="14415293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278" name="Shape 259"/>
          <p:cNvSpPr/>
          <p:nvPr/>
        </p:nvSpPr>
        <p:spPr>
          <a:xfrm>
            <a:off x="5143500" y="14389100"/>
            <a:ext cx="65532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34000"/>
              </a:srgbClr>
            </a:solidFill>
            <a:prstDash val="solid"/>
          </a:ln>
        </p:spPr>
      </p:sp>
      <p:sp>
        <p:nvSpPr>
          <p:cNvPr id="279" name="Text 260"/>
          <p:cNvSpPr/>
          <p:nvPr/>
        </p:nvSpPr>
        <p:spPr>
          <a:xfrm>
            <a:off x="5219700" y="14422437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280" name="Text 261"/>
          <p:cNvSpPr/>
          <p:nvPr/>
        </p:nvSpPr>
        <p:spPr>
          <a:xfrm>
            <a:off x="11781473" y="14180661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16h ago</a:t>
            </a:r>
            <a:endParaRPr lang="en-US" sz="788" dirty="0"/>
          </a:p>
        </p:txBody>
      </p:sp>
      <p:sp>
        <p:nvSpPr>
          <p:cNvPr id="281" name="Shape 262"/>
          <p:cNvSpPr/>
          <p:nvPr/>
        </p:nvSpPr>
        <p:spPr>
          <a:xfrm>
            <a:off x="2686050" y="14846300"/>
            <a:ext cx="85725" cy="85725"/>
          </a:xfrm>
          <a:prstGeom prst="ellipse">
            <a:avLst/>
          </a:prstGeom>
          <a:solidFill>
            <a:srgbClr val="E0A22E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82" name="Shape 263"/>
          <p:cNvSpPr/>
          <p:nvPr/>
        </p:nvSpPr>
        <p:spPr>
          <a:xfrm>
            <a:off x="3028950" y="1478915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283" name="Text 264"/>
          <p:cNvSpPr/>
          <p:nvPr/>
        </p:nvSpPr>
        <p:spPr>
          <a:xfrm>
            <a:off x="3113564" y="14883447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284" name="Text 265"/>
          <p:cNvSpPr/>
          <p:nvPr/>
        </p:nvSpPr>
        <p:spPr>
          <a:xfrm>
            <a:off x="3429000" y="14789150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billing.proration only fires on plan upgrade</a:t>
            </a:r>
            <a:endParaRPr lang="en-US" sz="975" dirty="0"/>
          </a:p>
        </p:txBody>
      </p:sp>
      <p:sp>
        <p:nvSpPr>
          <p:cNvPr id="285" name="Text 266"/>
          <p:cNvSpPr/>
          <p:nvPr/>
        </p:nvSpPr>
        <p:spPr>
          <a:xfrm>
            <a:off x="3429000" y="15042833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286" name="Text 267"/>
          <p:cNvSpPr/>
          <p:nvPr/>
        </p:nvSpPr>
        <p:spPr>
          <a:xfrm>
            <a:off x="4133850" y="15046325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87" name="Text 268"/>
          <p:cNvSpPr/>
          <p:nvPr/>
        </p:nvSpPr>
        <p:spPr>
          <a:xfrm>
            <a:off x="4690110" y="15042833"/>
            <a:ext cx="95631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825" dirty="0"/>
          </a:p>
        </p:txBody>
      </p:sp>
      <p:sp>
        <p:nvSpPr>
          <p:cNvPr id="288" name="Shape 269"/>
          <p:cNvSpPr/>
          <p:nvPr/>
        </p:nvSpPr>
        <p:spPr>
          <a:xfrm>
            <a:off x="5646420" y="15016639"/>
            <a:ext cx="718185" cy="209550"/>
          </a:xfrm>
          <a:prstGeom prst="roundRect">
            <a:avLst>
              <a:gd name="adj" fmla="val 1818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34000"/>
              </a:srgbClr>
            </a:solidFill>
            <a:prstDash val="solid"/>
          </a:ln>
        </p:spPr>
      </p:sp>
      <p:sp>
        <p:nvSpPr>
          <p:cNvPr id="289" name="Text 270"/>
          <p:cNvSpPr/>
          <p:nvPr/>
        </p:nvSpPr>
        <p:spPr>
          <a:xfrm>
            <a:off x="5722620" y="15049977"/>
            <a:ext cx="6419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750" dirty="0"/>
          </a:p>
        </p:txBody>
      </p:sp>
      <p:sp>
        <p:nvSpPr>
          <p:cNvPr id="290" name="Text 271"/>
          <p:cNvSpPr/>
          <p:nvPr/>
        </p:nvSpPr>
        <p:spPr>
          <a:xfrm>
            <a:off x="11781473" y="14808200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17h ago</a:t>
            </a:r>
            <a:endParaRPr lang="en-US" sz="788" dirty="0"/>
          </a:p>
        </p:txBody>
      </p:sp>
      <p:sp>
        <p:nvSpPr>
          <p:cNvPr id="291" name="Shape 272"/>
          <p:cNvSpPr/>
          <p:nvPr/>
        </p:nvSpPr>
        <p:spPr>
          <a:xfrm>
            <a:off x="2686050" y="15473839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292" name="Shape 273"/>
          <p:cNvSpPr/>
          <p:nvPr/>
        </p:nvSpPr>
        <p:spPr>
          <a:xfrm>
            <a:off x="3028950" y="15416689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93" name="Text 274"/>
          <p:cNvSpPr/>
          <p:nvPr/>
        </p:nvSpPr>
        <p:spPr>
          <a:xfrm>
            <a:off x="3113564" y="15510986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294" name="Text 275"/>
          <p:cNvSpPr/>
          <p:nvPr/>
        </p:nvSpPr>
        <p:spPr>
          <a:xfrm>
            <a:off x="3429000" y="15416689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pool exhausted under burst — pinned max to 20</a:t>
            </a:r>
            <a:endParaRPr lang="en-US" sz="975" dirty="0"/>
          </a:p>
        </p:txBody>
      </p:sp>
      <p:sp>
        <p:nvSpPr>
          <p:cNvPr id="295" name="Text 276"/>
          <p:cNvSpPr/>
          <p:nvPr/>
        </p:nvSpPr>
        <p:spPr>
          <a:xfrm>
            <a:off x="3429000" y="15670371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296" name="Text 277"/>
          <p:cNvSpPr/>
          <p:nvPr/>
        </p:nvSpPr>
        <p:spPr>
          <a:xfrm>
            <a:off x="4070985" y="15673864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297" name="Text 278"/>
          <p:cNvSpPr/>
          <p:nvPr/>
        </p:nvSpPr>
        <p:spPr>
          <a:xfrm>
            <a:off x="4627245" y="15670371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298" name="Shape 279"/>
          <p:cNvSpPr/>
          <p:nvPr/>
        </p:nvSpPr>
        <p:spPr>
          <a:xfrm>
            <a:off x="5206365" y="15644178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99" name="Text 280"/>
          <p:cNvSpPr/>
          <p:nvPr/>
        </p:nvSpPr>
        <p:spPr>
          <a:xfrm>
            <a:off x="5282565" y="15677515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300" name="Text 281"/>
          <p:cNvSpPr/>
          <p:nvPr/>
        </p:nvSpPr>
        <p:spPr>
          <a:xfrm>
            <a:off x="11781473" y="15435739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19h ago</a:t>
            </a:r>
            <a:endParaRPr lang="en-US" sz="788" dirty="0"/>
          </a:p>
        </p:txBody>
      </p:sp>
      <p:sp>
        <p:nvSpPr>
          <p:cNvPr id="301" name="Shape 282"/>
          <p:cNvSpPr/>
          <p:nvPr/>
        </p:nvSpPr>
        <p:spPr>
          <a:xfrm>
            <a:off x="2686050" y="16101378"/>
            <a:ext cx="85725" cy="85725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02" name="Shape 283"/>
          <p:cNvSpPr/>
          <p:nvPr/>
        </p:nvSpPr>
        <p:spPr>
          <a:xfrm>
            <a:off x="3028950" y="16044228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303" name="Text 284"/>
          <p:cNvSpPr/>
          <p:nvPr/>
        </p:nvSpPr>
        <p:spPr>
          <a:xfrm>
            <a:off x="3113564" y="16138525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65" dirty="0"/>
          </a:p>
        </p:txBody>
      </p:sp>
      <p:sp>
        <p:nvSpPr>
          <p:cNvPr id="304" name="Text 285"/>
          <p:cNvSpPr/>
          <p:nvPr/>
        </p:nvSpPr>
        <p:spPr>
          <a:xfrm>
            <a:off x="3429000" y="16044228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resolve last-writer-wins, never silent drop</a:t>
            </a:r>
            <a:endParaRPr lang="en-US" sz="975" dirty="0"/>
          </a:p>
        </p:txBody>
      </p:sp>
      <p:sp>
        <p:nvSpPr>
          <p:cNvPr id="305" name="Text 286"/>
          <p:cNvSpPr/>
          <p:nvPr/>
        </p:nvSpPr>
        <p:spPr>
          <a:xfrm>
            <a:off x="3429000" y="1629791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</a:t>
            </a:r>
            <a:endParaRPr lang="en-US" sz="825" dirty="0"/>
          </a:p>
        </p:txBody>
      </p:sp>
      <p:sp>
        <p:nvSpPr>
          <p:cNvPr id="306" name="Text 287"/>
          <p:cNvSpPr/>
          <p:nvPr/>
        </p:nvSpPr>
        <p:spPr>
          <a:xfrm>
            <a:off x="4008120" y="16301403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07" name="Text 288"/>
          <p:cNvSpPr/>
          <p:nvPr/>
        </p:nvSpPr>
        <p:spPr>
          <a:xfrm>
            <a:off x="4564380" y="1629791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308" name="Shape 289"/>
          <p:cNvSpPr/>
          <p:nvPr/>
        </p:nvSpPr>
        <p:spPr>
          <a:xfrm>
            <a:off x="5457825" y="16271716"/>
            <a:ext cx="65532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34000"/>
              </a:srgbClr>
            </a:solidFill>
            <a:prstDash val="solid"/>
          </a:ln>
        </p:spPr>
      </p:sp>
      <p:sp>
        <p:nvSpPr>
          <p:cNvPr id="309" name="Text 290"/>
          <p:cNvSpPr/>
          <p:nvPr/>
        </p:nvSpPr>
        <p:spPr>
          <a:xfrm>
            <a:off x="5534025" y="16305054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310" name="Text 291"/>
          <p:cNvSpPr/>
          <p:nvPr/>
        </p:nvSpPr>
        <p:spPr>
          <a:xfrm>
            <a:off x="11781473" y="16063278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21h ago</a:t>
            </a:r>
            <a:endParaRPr lang="en-US" sz="788" dirty="0"/>
          </a:p>
        </p:txBody>
      </p:sp>
      <p:sp>
        <p:nvSpPr>
          <p:cNvPr id="311" name="Shape 292"/>
          <p:cNvSpPr/>
          <p:nvPr/>
        </p:nvSpPr>
        <p:spPr>
          <a:xfrm>
            <a:off x="2686050" y="16728916"/>
            <a:ext cx="85725" cy="85725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12" name="Shape 293"/>
          <p:cNvSpPr/>
          <p:nvPr/>
        </p:nvSpPr>
        <p:spPr>
          <a:xfrm>
            <a:off x="3028950" y="16671766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313" name="Text 294"/>
          <p:cNvSpPr/>
          <p:nvPr/>
        </p:nvSpPr>
        <p:spPr>
          <a:xfrm>
            <a:off x="3113564" y="1676606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314" name="Text 295"/>
          <p:cNvSpPr/>
          <p:nvPr/>
        </p:nvSpPr>
        <p:spPr>
          <a:xfrm>
            <a:off x="3429000" y="16671766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75" dirty="0"/>
          </a:p>
        </p:txBody>
      </p:sp>
      <p:sp>
        <p:nvSpPr>
          <p:cNvPr id="315" name="Text 296"/>
          <p:cNvSpPr/>
          <p:nvPr/>
        </p:nvSpPr>
        <p:spPr>
          <a:xfrm>
            <a:off x="3429000" y="16925448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316" name="Text 297"/>
          <p:cNvSpPr/>
          <p:nvPr/>
        </p:nvSpPr>
        <p:spPr>
          <a:xfrm>
            <a:off x="4070985" y="16928941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17" name="Text 298"/>
          <p:cNvSpPr/>
          <p:nvPr/>
        </p:nvSpPr>
        <p:spPr>
          <a:xfrm>
            <a:off x="4627245" y="16925448"/>
            <a:ext cx="8305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825" dirty="0"/>
          </a:p>
        </p:txBody>
      </p:sp>
      <p:sp>
        <p:nvSpPr>
          <p:cNvPr id="318" name="Shape 299"/>
          <p:cNvSpPr/>
          <p:nvPr/>
        </p:nvSpPr>
        <p:spPr>
          <a:xfrm>
            <a:off x="5457825" y="1689925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319" name="Text 300"/>
          <p:cNvSpPr/>
          <p:nvPr/>
        </p:nvSpPr>
        <p:spPr>
          <a:xfrm>
            <a:off x="5534025" y="1693259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20" name="Text 301"/>
          <p:cNvSpPr/>
          <p:nvPr/>
        </p:nvSpPr>
        <p:spPr>
          <a:xfrm>
            <a:off x="11781473" y="16690816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21h ago</a:t>
            </a:r>
            <a:endParaRPr lang="en-US" sz="788" dirty="0"/>
          </a:p>
        </p:txBody>
      </p:sp>
      <p:sp>
        <p:nvSpPr>
          <p:cNvPr id="321" name="Shape 302"/>
          <p:cNvSpPr/>
          <p:nvPr/>
        </p:nvSpPr>
        <p:spPr>
          <a:xfrm>
            <a:off x="2686050" y="17356455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22" name="Shape 303"/>
          <p:cNvSpPr/>
          <p:nvPr/>
        </p:nvSpPr>
        <p:spPr>
          <a:xfrm>
            <a:off x="3028950" y="17299305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323" name="Text 304"/>
          <p:cNvSpPr/>
          <p:nvPr/>
        </p:nvSpPr>
        <p:spPr>
          <a:xfrm>
            <a:off x="3113564" y="17393602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65" dirty="0"/>
          </a:p>
        </p:txBody>
      </p:sp>
      <p:sp>
        <p:nvSpPr>
          <p:cNvPr id="324" name="Text 305"/>
          <p:cNvSpPr/>
          <p:nvPr/>
        </p:nvSpPr>
        <p:spPr>
          <a:xfrm>
            <a:off x="3429000" y="17299305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75" dirty="0"/>
          </a:p>
        </p:txBody>
      </p:sp>
      <p:sp>
        <p:nvSpPr>
          <p:cNvPr id="325" name="Text 306"/>
          <p:cNvSpPr/>
          <p:nvPr/>
        </p:nvSpPr>
        <p:spPr>
          <a:xfrm>
            <a:off x="3429000" y="17552988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825" dirty="0"/>
          </a:p>
        </p:txBody>
      </p:sp>
      <p:sp>
        <p:nvSpPr>
          <p:cNvPr id="326" name="Text 307"/>
          <p:cNvSpPr/>
          <p:nvPr/>
        </p:nvSpPr>
        <p:spPr>
          <a:xfrm>
            <a:off x="4196715" y="1755648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27" name="Text 308"/>
          <p:cNvSpPr/>
          <p:nvPr/>
        </p:nvSpPr>
        <p:spPr>
          <a:xfrm>
            <a:off x="4752975" y="17552988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328" name="Shape 309"/>
          <p:cNvSpPr/>
          <p:nvPr/>
        </p:nvSpPr>
        <p:spPr>
          <a:xfrm>
            <a:off x="5332095" y="1752679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329" name="Text 310"/>
          <p:cNvSpPr/>
          <p:nvPr/>
        </p:nvSpPr>
        <p:spPr>
          <a:xfrm>
            <a:off x="5408295" y="17560132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330" name="Text 311"/>
          <p:cNvSpPr/>
          <p:nvPr/>
        </p:nvSpPr>
        <p:spPr>
          <a:xfrm>
            <a:off x="11781473" y="17318355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22h ago</a:t>
            </a:r>
            <a:endParaRPr lang="en-US" sz="788" dirty="0"/>
          </a:p>
        </p:txBody>
      </p:sp>
      <p:sp>
        <p:nvSpPr>
          <p:cNvPr id="331" name="Shape 312"/>
          <p:cNvSpPr/>
          <p:nvPr/>
        </p:nvSpPr>
        <p:spPr>
          <a:xfrm>
            <a:off x="2686050" y="17983994"/>
            <a:ext cx="85725" cy="85725"/>
          </a:xfrm>
          <a:prstGeom prst="ellipse">
            <a:avLst/>
          </a:prstGeom>
          <a:solidFill>
            <a:srgbClr val="2DD4B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32" name="Shape 313"/>
          <p:cNvSpPr/>
          <p:nvPr/>
        </p:nvSpPr>
        <p:spPr>
          <a:xfrm>
            <a:off x="3028950" y="17926844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333" name="Text 314"/>
          <p:cNvSpPr/>
          <p:nvPr/>
        </p:nvSpPr>
        <p:spPr>
          <a:xfrm>
            <a:off x="3113564" y="18021142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65" dirty="0"/>
          </a:p>
        </p:txBody>
      </p:sp>
      <p:sp>
        <p:nvSpPr>
          <p:cNvPr id="334" name="Text 315"/>
          <p:cNvSpPr/>
          <p:nvPr/>
        </p:nvSpPr>
        <p:spPr>
          <a:xfrm>
            <a:off x="3429000" y="17926844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composition over inheritance in stores</a:t>
            </a:r>
            <a:endParaRPr lang="en-US" sz="975" dirty="0"/>
          </a:p>
        </p:txBody>
      </p:sp>
      <p:sp>
        <p:nvSpPr>
          <p:cNvPr id="335" name="Text 316"/>
          <p:cNvSpPr/>
          <p:nvPr/>
        </p:nvSpPr>
        <p:spPr>
          <a:xfrm>
            <a:off x="3429000" y="18180526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25" dirty="0"/>
          </a:p>
        </p:txBody>
      </p:sp>
      <p:sp>
        <p:nvSpPr>
          <p:cNvPr id="336" name="Text 317"/>
          <p:cNvSpPr/>
          <p:nvPr/>
        </p:nvSpPr>
        <p:spPr>
          <a:xfrm>
            <a:off x="4008120" y="18184019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37" name="Text 318"/>
          <p:cNvSpPr/>
          <p:nvPr/>
        </p:nvSpPr>
        <p:spPr>
          <a:xfrm>
            <a:off x="4564380" y="18180526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338" name="Shape 319"/>
          <p:cNvSpPr/>
          <p:nvPr/>
        </p:nvSpPr>
        <p:spPr>
          <a:xfrm>
            <a:off x="5143500" y="18154333"/>
            <a:ext cx="781050" cy="209550"/>
          </a:xfrm>
          <a:prstGeom prst="roundRect">
            <a:avLst>
              <a:gd name="adj" fmla="val 18182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339" name="Text 320"/>
          <p:cNvSpPr/>
          <p:nvPr/>
        </p:nvSpPr>
        <p:spPr>
          <a:xfrm>
            <a:off x="5219700" y="18187670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750" dirty="0"/>
          </a:p>
        </p:txBody>
      </p:sp>
      <p:sp>
        <p:nvSpPr>
          <p:cNvPr id="340" name="Text 321"/>
          <p:cNvSpPr/>
          <p:nvPr/>
        </p:nvSpPr>
        <p:spPr>
          <a:xfrm>
            <a:off x="11781473" y="17945894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23h ago</a:t>
            </a:r>
            <a:endParaRPr lang="en-US" sz="788" dirty="0"/>
          </a:p>
        </p:txBody>
      </p:sp>
      <p:sp>
        <p:nvSpPr>
          <p:cNvPr id="341" name="Shape 322"/>
          <p:cNvSpPr/>
          <p:nvPr/>
        </p:nvSpPr>
        <p:spPr>
          <a:xfrm>
            <a:off x="2686050" y="18611533"/>
            <a:ext cx="85725" cy="85725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42" name="Shape 323"/>
          <p:cNvSpPr/>
          <p:nvPr/>
        </p:nvSpPr>
        <p:spPr>
          <a:xfrm>
            <a:off x="3028950" y="18554383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343" name="Text 324"/>
          <p:cNvSpPr/>
          <p:nvPr/>
        </p:nvSpPr>
        <p:spPr>
          <a:xfrm>
            <a:off x="3113564" y="1864868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765" dirty="0"/>
          </a:p>
        </p:txBody>
      </p:sp>
      <p:sp>
        <p:nvSpPr>
          <p:cNvPr id="344" name="Text 325"/>
          <p:cNvSpPr/>
          <p:nvPr/>
        </p:nvSpPr>
        <p:spPr>
          <a:xfrm>
            <a:off x="3429000" y="18554383"/>
            <a:ext cx="8485318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sync interval set to 90s with jitter</a:t>
            </a:r>
            <a:endParaRPr lang="en-US" sz="975" dirty="0"/>
          </a:p>
        </p:txBody>
      </p:sp>
      <p:sp>
        <p:nvSpPr>
          <p:cNvPr id="345" name="Text 326"/>
          <p:cNvSpPr/>
          <p:nvPr/>
        </p:nvSpPr>
        <p:spPr>
          <a:xfrm>
            <a:off x="3429000" y="18808065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25" dirty="0"/>
          </a:p>
        </p:txBody>
      </p:sp>
      <p:sp>
        <p:nvSpPr>
          <p:cNvPr id="346" name="Text 327"/>
          <p:cNvSpPr/>
          <p:nvPr/>
        </p:nvSpPr>
        <p:spPr>
          <a:xfrm>
            <a:off x="4196715" y="18811558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47" name="Text 328"/>
          <p:cNvSpPr/>
          <p:nvPr/>
        </p:nvSpPr>
        <p:spPr>
          <a:xfrm>
            <a:off x="4752975" y="18808065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348" name="Shape 329"/>
          <p:cNvSpPr/>
          <p:nvPr/>
        </p:nvSpPr>
        <p:spPr>
          <a:xfrm>
            <a:off x="5646420" y="18781871"/>
            <a:ext cx="65532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34000"/>
              </a:srgbClr>
            </a:solidFill>
            <a:prstDash val="solid"/>
          </a:ln>
        </p:spPr>
      </p:sp>
      <p:sp>
        <p:nvSpPr>
          <p:cNvPr id="349" name="Text 330"/>
          <p:cNvSpPr/>
          <p:nvPr/>
        </p:nvSpPr>
        <p:spPr>
          <a:xfrm>
            <a:off x="5722620" y="18815209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350" name="Text 331"/>
          <p:cNvSpPr/>
          <p:nvPr/>
        </p:nvSpPr>
        <p:spPr>
          <a:xfrm>
            <a:off x="11781473" y="18573433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23h ago</a:t>
            </a:r>
            <a:endParaRPr lang="en-US" sz="788" dirty="0"/>
          </a:p>
        </p:txBody>
      </p:sp>
      <p:sp>
        <p:nvSpPr>
          <p:cNvPr id="351" name="Shape 332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E0A22E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52" name="Shape 333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353" name="Text 334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354" name="Text 335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/v2/users silently ignores empty arrays</a:t>
            </a:r>
            <a:endParaRPr lang="en-US" sz="975" dirty="0"/>
          </a:p>
        </p:txBody>
      </p:sp>
      <p:sp>
        <p:nvSpPr>
          <p:cNvPr id="355" name="Text 336"/>
          <p:cNvSpPr/>
          <p:nvPr/>
        </p:nvSpPr>
        <p:spPr>
          <a:xfrm>
            <a:off x="3429000" y="19050000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356" name="Text 337"/>
          <p:cNvSpPr/>
          <p:nvPr/>
        </p:nvSpPr>
        <p:spPr>
          <a:xfrm>
            <a:off x="413385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57" name="Text 338"/>
          <p:cNvSpPr/>
          <p:nvPr/>
        </p:nvSpPr>
        <p:spPr>
          <a:xfrm>
            <a:off x="469011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358" name="Shape 339"/>
          <p:cNvSpPr/>
          <p:nvPr/>
        </p:nvSpPr>
        <p:spPr>
          <a:xfrm>
            <a:off x="5269230" y="19050000"/>
            <a:ext cx="718185" cy="209550"/>
          </a:xfrm>
          <a:prstGeom prst="roundRect">
            <a:avLst>
              <a:gd name="adj" fmla="val 1818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34000"/>
              </a:srgbClr>
            </a:solidFill>
            <a:prstDash val="solid"/>
          </a:ln>
        </p:spPr>
      </p:sp>
      <p:sp>
        <p:nvSpPr>
          <p:cNvPr id="359" name="Text 340"/>
          <p:cNvSpPr/>
          <p:nvPr/>
        </p:nvSpPr>
        <p:spPr>
          <a:xfrm>
            <a:off x="5345430" y="19083337"/>
            <a:ext cx="6419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750" dirty="0"/>
          </a:p>
        </p:txBody>
      </p:sp>
      <p:sp>
        <p:nvSpPr>
          <p:cNvPr id="360" name="Text 341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361" name="Shape 342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62" name="Shape 343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363" name="Text 344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65" dirty="0"/>
          </a:p>
        </p:txBody>
      </p:sp>
      <p:sp>
        <p:nvSpPr>
          <p:cNvPr id="364" name="Text 345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75" dirty="0"/>
          </a:p>
        </p:txBody>
      </p:sp>
      <p:sp>
        <p:nvSpPr>
          <p:cNvPr id="365" name="Text 346"/>
          <p:cNvSpPr/>
          <p:nvPr/>
        </p:nvSpPr>
        <p:spPr>
          <a:xfrm>
            <a:off x="3429000" y="19050000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825" dirty="0"/>
          </a:p>
        </p:txBody>
      </p:sp>
      <p:sp>
        <p:nvSpPr>
          <p:cNvPr id="366" name="Text 347"/>
          <p:cNvSpPr/>
          <p:nvPr/>
        </p:nvSpPr>
        <p:spPr>
          <a:xfrm>
            <a:off x="419671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67" name="Text 348"/>
          <p:cNvSpPr/>
          <p:nvPr/>
        </p:nvSpPr>
        <p:spPr>
          <a:xfrm>
            <a:off x="4752975" y="19050000"/>
            <a:ext cx="8305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825" dirty="0"/>
          </a:p>
        </p:txBody>
      </p:sp>
      <p:sp>
        <p:nvSpPr>
          <p:cNvPr id="368" name="Shape 349"/>
          <p:cNvSpPr/>
          <p:nvPr/>
        </p:nvSpPr>
        <p:spPr>
          <a:xfrm>
            <a:off x="5583555" y="1905000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369" name="Text 350"/>
          <p:cNvSpPr/>
          <p:nvPr/>
        </p:nvSpPr>
        <p:spPr>
          <a:xfrm>
            <a:off x="5659755" y="19083337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370" name="Text 351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371" name="Shape 352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72" name="Shape 353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373" name="Text 354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765" dirty="0"/>
          </a:p>
        </p:txBody>
      </p:sp>
      <p:sp>
        <p:nvSpPr>
          <p:cNvPr id="374" name="Text 355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deref when project has 0 contributors</a:t>
            </a:r>
            <a:endParaRPr lang="en-US" sz="975" dirty="0"/>
          </a:p>
        </p:txBody>
      </p:sp>
      <p:sp>
        <p:nvSpPr>
          <p:cNvPr id="375" name="Text 356"/>
          <p:cNvSpPr/>
          <p:nvPr/>
        </p:nvSpPr>
        <p:spPr>
          <a:xfrm>
            <a:off x="342900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agent-11</a:t>
            </a:r>
            <a:endParaRPr lang="en-US" sz="825" dirty="0"/>
          </a:p>
        </p:txBody>
      </p:sp>
      <p:sp>
        <p:nvSpPr>
          <p:cNvPr id="376" name="Text 357"/>
          <p:cNvSpPr/>
          <p:nvPr/>
        </p:nvSpPr>
        <p:spPr>
          <a:xfrm>
            <a:off x="400812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77" name="Text 358"/>
          <p:cNvSpPr/>
          <p:nvPr/>
        </p:nvSpPr>
        <p:spPr>
          <a:xfrm>
            <a:off x="4564380" y="19050000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web-client</a:t>
            </a:r>
            <a:endParaRPr lang="en-US" sz="825" dirty="0"/>
          </a:p>
        </p:txBody>
      </p:sp>
      <p:sp>
        <p:nvSpPr>
          <p:cNvPr id="378" name="Shape 359"/>
          <p:cNvSpPr/>
          <p:nvPr/>
        </p:nvSpPr>
        <p:spPr>
          <a:xfrm>
            <a:off x="5269230" y="1905000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379" name="Text 360"/>
          <p:cNvSpPr/>
          <p:nvPr/>
        </p:nvSpPr>
        <p:spPr>
          <a:xfrm>
            <a:off x="5345430" y="19083337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380" name="Text 361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381" name="Shape 362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82" name="Shape 363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383" name="Text 364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384" name="Text 365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memory carries an originating session id</a:t>
            </a:r>
            <a:endParaRPr lang="en-US" sz="975" dirty="0"/>
          </a:p>
        </p:txBody>
      </p:sp>
      <p:sp>
        <p:nvSpPr>
          <p:cNvPr id="385" name="Text 366"/>
          <p:cNvSpPr/>
          <p:nvPr/>
        </p:nvSpPr>
        <p:spPr>
          <a:xfrm>
            <a:off x="342900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25" dirty="0"/>
          </a:p>
        </p:txBody>
      </p:sp>
      <p:sp>
        <p:nvSpPr>
          <p:cNvPr id="386" name="Text 367"/>
          <p:cNvSpPr/>
          <p:nvPr/>
        </p:nvSpPr>
        <p:spPr>
          <a:xfrm>
            <a:off x="400812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87" name="Text 368"/>
          <p:cNvSpPr/>
          <p:nvPr/>
        </p:nvSpPr>
        <p:spPr>
          <a:xfrm>
            <a:off x="4564380" y="1905000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388" name="Shape 369"/>
          <p:cNvSpPr/>
          <p:nvPr/>
        </p:nvSpPr>
        <p:spPr>
          <a:xfrm>
            <a:off x="5457825" y="19050000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389" name="Text 370"/>
          <p:cNvSpPr/>
          <p:nvPr/>
        </p:nvSpPr>
        <p:spPr>
          <a:xfrm>
            <a:off x="5534025" y="19083337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390" name="Text 371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391" name="Shape 372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E0A22E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392" name="Shape 373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393" name="Text 374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765" dirty="0"/>
          </a:p>
        </p:txBody>
      </p:sp>
      <p:sp>
        <p:nvSpPr>
          <p:cNvPr id="394" name="Text 375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search-index lags writes by ~400ms under load</a:t>
            </a:r>
            <a:endParaRPr lang="en-US" sz="975" dirty="0"/>
          </a:p>
        </p:txBody>
      </p:sp>
      <p:sp>
        <p:nvSpPr>
          <p:cNvPr id="395" name="Text 376"/>
          <p:cNvSpPr/>
          <p:nvPr/>
        </p:nvSpPr>
        <p:spPr>
          <a:xfrm>
            <a:off x="342900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agent-11</a:t>
            </a:r>
            <a:endParaRPr lang="en-US" sz="825" dirty="0"/>
          </a:p>
        </p:txBody>
      </p:sp>
      <p:sp>
        <p:nvSpPr>
          <p:cNvPr id="396" name="Text 377"/>
          <p:cNvSpPr/>
          <p:nvPr/>
        </p:nvSpPr>
        <p:spPr>
          <a:xfrm>
            <a:off x="400812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397" name="Text 378"/>
          <p:cNvSpPr/>
          <p:nvPr/>
        </p:nvSpPr>
        <p:spPr>
          <a:xfrm>
            <a:off x="4564380" y="19050000"/>
            <a:ext cx="8305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25" dirty="0"/>
          </a:p>
        </p:txBody>
      </p:sp>
      <p:sp>
        <p:nvSpPr>
          <p:cNvPr id="398" name="Shape 379"/>
          <p:cNvSpPr/>
          <p:nvPr/>
        </p:nvSpPr>
        <p:spPr>
          <a:xfrm>
            <a:off x="5394960" y="19050000"/>
            <a:ext cx="718185" cy="209550"/>
          </a:xfrm>
          <a:prstGeom prst="roundRect">
            <a:avLst>
              <a:gd name="adj" fmla="val 1818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34000"/>
              </a:srgbClr>
            </a:solidFill>
            <a:prstDash val="solid"/>
          </a:ln>
        </p:spPr>
      </p:sp>
      <p:sp>
        <p:nvSpPr>
          <p:cNvPr id="399" name="Text 380"/>
          <p:cNvSpPr/>
          <p:nvPr/>
        </p:nvSpPr>
        <p:spPr>
          <a:xfrm>
            <a:off x="5471160" y="19083337"/>
            <a:ext cx="6419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750" dirty="0"/>
          </a:p>
        </p:txBody>
      </p:sp>
      <p:sp>
        <p:nvSpPr>
          <p:cNvPr id="400" name="Text 381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401" name="Shape 382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8B97A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02" name="Shape 383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403" name="Text 384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404" name="Text 385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key must include tenant_id prefix</a:t>
            </a:r>
            <a:endParaRPr lang="en-US" sz="975" dirty="0"/>
          </a:p>
        </p:txBody>
      </p:sp>
      <p:sp>
        <p:nvSpPr>
          <p:cNvPr id="405" name="Text 386"/>
          <p:cNvSpPr/>
          <p:nvPr/>
        </p:nvSpPr>
        <p:spPr>
          <a:xfrm>
            <a:off x="3429000" y="19050000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406" name="Text 387"/>
          <p:cNvSpPr/>
          <p:nvPr/>
        </p:nvSpPr>
        <p:spPr>
          <a:xfrm>
            <a:off x="413385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07" name="Text 388"/>
          <p:cNvSpPr/>
          <p:nvPr/>
        </p:nvSpPr>
        <p:spPr>
          <a:xfrm>
            <a:off x="469011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408" name="Shape 389"/>
          <p:cNvSpPr/>
          <p:nvPr/>
        </p:nvSpPr>
        <p:spPr>
          <a:xfrm>
            <a:off x="5269230" y="1905000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409" name="Text 390"/>
          <p:cNvSpPr/>
          <p:nvPr/>
        </p:nvSpPr>
        <p:spPr>
          <a:xfrm>
            <a:off x="5345430" y="19083337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410" name="Text 391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411" name="Text 392"/>
          <p:cNvSpPr/>
          <p:nvPr/>
        </p:nvSpPr>
        <p:spPr>
          <a:xfrm>
            <a:off x="2628900" y="19050000"/>
            <a:ext cx="12382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THURSDAY 04 JUN</a:t>
            </a:r>
            <a:endParaRPr lang="en-US" sz="825" dirty="0"/>
          </a:p>
        </p:txBody>
      </p:sp>
      <p:sp>
        <p:nvSpPr>
          <p:cNvPr id="412" name="Text 393"/>
          <p:cNvSpPr/>
          <p:nvPr/>
        </p:nvSpPr>
        <p:spPr>
          <a:xfrm>
            <a:off x="3905250" y="19050000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memories</a:t>
            </a:r>
            <a:endParaRPr lang="en-US" sz="788" dirty="0"/>
          </a:p>
        </p:txBody>
      </p:sp>
      <p:sp>
        <p:nvSpPr>
          <p:cNvPr id="413" name="Shape 394"/>
          <p:cNvSpPr/>
          <p:nvPr/>
        </p:nvSpPr>
        <p:spPr>
          <a:xfrm>
            <a:off x="4619625" y="19050000"/>
            <a:ext cx="7696200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414" name="Shape 395"/>
          <p:cNvSpPr/>
          <p:nvPr/>
        </p:nvSpPr>
        <p:spPr>
          <a:xfrm>
            <a:off x="2714625" y="19050000"/>
            <a:ext cx="9525" cy="3689032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415" name="Shape 396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8B97A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16" name="Shape 397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417" name="Text 398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765" dirty="0"/>
          </a:p>
        </p:txBody>
      </p:sp>
      <p:sp>
        <p:nvSpPr>
          <p:cNvPr id="418" name="Text 399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75" dirty="0"/>
          </a:p>
        </p:txBody>
      </p:sp>
      <p:sp>
        <p:nvSpPr>
          <p:cNvPr id="419" name="Text 400"/>
          <p:cNvSpPr/>
          <p:nvPr/>
        </p:nvSpPr>
        <p:spPr>
          <a:xfrm>
            <a:off x="3429000" y="19050000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25" dirty="0"/>
          </a:p>
        </p:txBody>
      </p:sp>
      <p:sp>
        <p:nvSpPr>
          <p:cNvPr id="420" name="Text 401"/>
          <p:cNvSpPr/>
          <p:nvPr/>
        </p:nvSpPr>
        <p:spPr>
          <a:xfrm>
            <a:off x="419671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21" name="Text 402"/>
          <p:cNvSpPr/>
          <p:nvPr/>
        </p:nvSpPr>
        <p:spPr>
          <a:xfrm>
            <a:off x="4752975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422" name="Shape 403"/>
          <p:cNvSpPr/>
          <p:nvPr/>
        </p:nvSpPr>
        <p:spPr>
          <a:xfrm>
            <a:off x="5332095" y="1905000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423" name="Text 404"/>
          <p:cNvSpPr/>
          <p:nvPr/>
        </p:nvSpPr>
        <p:spPr>
          <a:xfrm>
            <a:off x="5408295" y="19083337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424" name="Text 405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425" name="Shape 406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2DD4B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26" name="Shape 407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427" name="Text 408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765" dirty="0"/>
          </a:p>
        </p:txBody>
      </p:sp>
      <p:sp>
        <p:nvSpPr>
          <p:cNvPr id="428" name="Text 409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composition over inheritance in stores</a:t>
            </a:r>
            <a:endParaRPr lang="en-US" sz="975" dirty="0"/>
          </a:p>
        </p:txBody>
      </p:sp>
      <p:sp>
        <p:nvSpPr>
          <p:cNvPr id="429" name="Text 410"/>
          <p:cNvSpPr/>
          <p:nvPr/>
        </p:nvSpPr>
        <p:spPr>
          <a:xfrm>
            <a:off x="3429000" y="19050000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25" dirty="0"/>
          </a:p>
        </p:txBody>
      </p:sp>
      <p:sp>
        <p:nvSpPr>
          <p:cNvPr id="430" name="Text 411"/>
          <p:cNvSpPr/>
          <p:nvPr/>
        </p:nvSpPr>
        <p:spPr>
          <a:xfrm>
            <a:off x="419671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31" name="Text 412"/>
          <p:cNvSpPr/>
          <p:nvPr/>
        </p:nvSpPr>
        <p:spPr>
          <a:xfrm>
            <a:off x="4752975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432" name="Shape 413"/>
          <p:cNvSpPr/>
          <p:nvPr/>
        </p:nvSpPr>
        <p:spPr>
          <a:xfrm>
            <a:off x="5332095" y="19050000"/>
            <a:ext cx="781050" cy="209550"/>
          </a:xfrm>
          <a:prstGeom prst="roundRect">
            <a:avLst>
              <a:gd name="adj" fmla="val 18182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433" name="Text 414"/>
          <p:cNvSpPr/>
          <p:nvPr/>
        </p:nvSpPr>
        <p:spPr>
          <a:xfrm>
            <a:off x="5408295" y="19083337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750" dirty="0"/>
          </a:p>
        </p:txBody>
      </p:sp>
      <p:sp>
        <p:nvSpPr>
          <p:cNvPr id="434" name="Text 415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435" name="Shape 416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22B85C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36" name="Shape 417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437" name="Text 418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765" dirty="0"/>
          </a:p>
        </p:txBody>
      </p:sp>
      <p:sp>
        <p:nvSpPr>
          <p:cNvPr id="438" name="Text 419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reindex dry-run for ULID migration</a:t>
            </a:r>
            <a:endParaRPr lang="en-US" sz="975" dirty="0"/>
          </a:p>
        </p:txBody>
      </p:sp>
      <p:sp>
        <p:nvSpPr>
          <p:cNvPr id="439" name="Text 420"/>
          <p:cNvSpPr/>
          <p:nvPr/>
        </p:nvSpPr>
        <p:spPr>
          <a:xfrm>
            <a:off x="3429000" y="19050000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25" dirty="0"/>
          </a:p>
        </p:txBody>
      </p:sp>
      <p:sp>
        <p:nvSpPr>
          <p:cNvPr id="440" name="Text 421"/>
          <p:cNvSpPr/>
          <p:nvPr/>
        </p:nvSpPr>
        <p:spPr>
          <a:xfrm>
            <a:off x="419671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41" name="Text 422"/>
          <p:cNvSpPr/>
          <p:nvPr/>
        </p:nvSpPr>
        <p:spPr>
          <a:xfrm>
            <a:off x="4752975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442" name="Shape 423"/>
          <p:cNvSpPr/>
          <p:nvPr/>
        </p:nvSpPr>
        <p:spPr>
          <a:xfrm>
            <a:off x="5332095" y="19050000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443" name="Text 424"/>
          <p:cNvSpPr/>
          <p:nvPr/>
        </p:nvSpPr>
        <p:spPr>
          <a:xfrm>
            <a:off x="5408295" y="19083337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444" name="Text 425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445" name="Shape 426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46" name="Shape 427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447" name="Text 428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765" dirty="0"/>
          </a:p>
        </p:txBody>
      </p:sp>
      <p:sp>
        <p:nvSpPr>
          <p:cNvPr id="448" name="Text 429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migrations reversible — no destructive down</a:t>
            </a:r>
            <a:endParaRPr lang="en-US" sz="975" dirty="0"/>
          </a:p>
        </p:txBody>
      </p:sp>
      <p:sp>
        <p:nvSpPr>
          <p:cNvPr id="449" name="Text 430"/>
          <p:cNvSpPr/>
          <p:nvPr/>
        </p:nvSpPr>
        <p:spPr>
          <a:xfrm>
            <a:off x="3429000" y="19050000"/>
            <a:ext cx="767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25" dirty="0"/>
          </a:p>
        </p:txBody>
      </p:sp>
      <p:sp>
        <p:nvSpPr>
          <p:cNvPr id="450" name="Text 431"/>
          <p:cNvSpPr/>
          <p:nvPr/>
        </p:nvSpPr>
        <p:spPr>
          <a:xfrm>
            <a:off x="419671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51" name="Text 432"/>
          <p:cNvSpPr/>
          <p:nvPr/>
        </p:nvSpPr>
        <p:spPr>
          <a:xfrm>
            <a:off x="4752975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452" name="Shape 433"/>
          <p:cNvSpPr/>
          <p:nvPr/>
        </p:nvSpPr>
        <p:spPr>
          <a:xfrm>
            <a:off x="5332095" y="19050000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453" name="Text 434"/>
          <p:cNvSpPr/>
          <p:nvPr/>
        </p:nvSpPr>
        <p:spPr>
          <a:xfrm>
            <a:off x="5408295" y="19083337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454" name="Text 435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455" name="Shape 436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2DD4B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56" name="Shape 437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457" name="Text 438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458" name="Text 439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to UTC in storage, convert at the edge</a:t>
            </a:r>
            <a:endParaRPr lang="en-US" sz="975" dirty="0"/>
          </a:p>
        </p:txBody>
      </p:sp>
      <p:sp>
        <p:nvSpPr>
          <p:cNvPr id="459" name="Text 440"/>
          <p:cNvSpPr/>
          <p:nvPr/>
        </p:nvSpPr>
        <p:spPr>
          <a:xfrm>
            <a:off x="3429000" y="19050000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460" name="Text 441"/>
          <p:cNvSpPr/>
          <p:nvPr/>
        </p:nvSpPr>
        <p:spPr>
          <a:xfrm>
            <a:off x="413385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61" name="Text 442"/>
          <p:cNvSpPr/>
          <p:nvPr/>
        </p:nvSpPr>
        <p:spPr>
          <a:xfrm>
            <a:off x="469011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462" name="Shape 443"/>
          <p:cNvSpPr/>
          <p:nvPr/>
        </p:nvSpPr>
        <p:spPr>
          <a:xfrm>
            <a:off x="5269230" y="19050000"/>
            <a:ext cx="781050" cy="209550"/>
          </a:xfrm>
          <a:prstGeom prst="roundRect">
            <a:avLst>
              <a:gd name="adj" fmla="val 18182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463" name="Text 444"/>
          <p:cNvSpPr/>
          <p:nvPr/>
        </p:nvSpPr>
        <p:spPr>
          <a:xfrm>
            <a:off x="5345430" y="19083337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750" dirty="0"/>
          </a:p>
        </p:txBody>
      </p:sp>
      <p:sp>
        <p:nvSpPr>
          <p:cNvPr id="464" name="Text 445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1d ago</a:t>
            </a:r>
            <a:endParaRPr lang="en-US" sz="788" dirty="0"/>
          </a:p>
        </p:txBody>
      </p:sp>
      <p:sp>
        <p:nvSpPr>
          <p:cNvPr id="465" name="Shape 446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22B85C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66" name="Shape 447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467" name="Text 448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468" name="Text 449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tuned redis eviction during incident</a:t>
            </a:r>
            <a:endParaRPr lang="en-US" sz="975" dirty="0"/>
          </a:p>
        </p:txBody>
      </p:sp>
      <p:sp>
        <p:nvSpPr>
          <p:cNvPr id="469" name="Text 450"/>
          <p:cNvSpPr/>
          <p:nvPr/>
        </p:nvSpPr>
        <p:spPr>
          <a:xfrm>
            <a:off x="3429000" y="19050000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470" name="Text 451"/>
          <p:cNvSpPr/>
          <p:nvPr/>
        </p:nvSpPr>
        <p:spPr>
          <a:xfrm>
            <a:off x="407098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71" name="Text 452"/>
          <p:cNvSpPr/>
          <p:nvPr/>
        </p:nvSpPr>
        <p:spPr>
          <a:xfrm>
            <a:off x="4627245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472" name="Shape 453"/>
          <p:cNvSpPr/>
          <p:nvPr/>
        </p:nvSpPr>
        <p:spPr>
          <a:xfrm>
            <a:off x="5206365" y="19050000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473" name="Text 454"/>
          <p:cNvSpPr/>
          <p:nvPr/>
        </p:nvSpPr>
        <p:spPr>
          <a:xfrm>
            <a:off x="5282565" y="19083337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474" name="Text 455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788" dirty="0"/>
          </a:p>
        </p:txBody>
      </p:sp>
      <p:sp>
        <p:nvSpPr>
          <p:cNvPr id="475" name="Text 456"/>
          <p:cNvSpPr/>
          <p:nvPr/>
        </p:nvSpPr>
        <p:spPr>
          <a:xfrm>
            <a:off x="2628900" y="19050000"/>
            <a:ext cx="13157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WEDNESDAY 03 JUN</a:t>
            </a:r>
            <a:endParaRPr lang="en-US" sz="825" dirty="0"/>
          </a:p>
        </p:txBody>
      </p:sp>
      <p:sp>
        <p:nvSpPr>
          <p:cNvPr id="476" name="Text 457"/>
          <p:cNvSpPr/>
          <p:nvPr/>
        </p:nvSpPr>
        <p:spPr>
          <a:xfrm>
            <a:off x="3982720" y="19050000"/>
            <a:ext cx="6762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memories</a:t>
            </a:r>
            <a:endParaRPr lang="en-US" sz="788" dirty="0"/>
          </a:p>
        </p:txBody>
      </p:sp>
      <p:sp>
        <p:nvSpPr>
          <p:cNvPr id="477" name="Shape 458"/>
          <p:cNvSpPr/>
          <p:nvPr/>
        </p:nvSpPr>
        <p:spPr>
          <a:xfrm>
            <a:off x="4697095" y="19050000"/>
            <a:ext cx="7618730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478" name="Shape 459"/>
          <p:cNvSpPr/>
          <p:nvPr/>
        </p:nvSpPr>
        <p:spPr>
          <a:xfrm>
            <a:off x="2714625" y="19050000"/>
            <a:ext cx="9525" cy="4316571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479" name="Shape 460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80" name="Shape 461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481" name="Text 462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65" dirty="0"/>
          </a:p>
        </p:txBody>
      </p:sp>
      <p:sp>
        <p:nvSpPr>
          <p:cNvPr id="482" name="Text 463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75" dirty="0"/>
          </a:p>
        </p:txBody>
      </p:sp>
      <p:sp>
        <p:nvSpPr>
          <p:cNvPr id="483" name="Text 464"/>
          <p:cNvSpPr/>
          <p:nvPr/>
        </p:nvSpPr>
        <p:spPr>
          <a:xfrm>
            <a:off x="342900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</a:t>
            </a:r>
            <a:endParaRPr lang="en-US" sz="825" dirty="0"/>
          </a:p>
        </p:txBody>
      </p:sp>
      <p:sp>
        <p:nvSpPr>
          <p:cNvPr id="484" name="Text 465"/>
          <p:cNvSpPr/>
          <p:nvPr/>
        </p:nvSpPr>
        <p:spPr>
          <a:xfrm>
            <a:off x="400812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85" name="Text 466"/>
          <p:cNvSpPr/>
          <p:nvPr/>
        </p:nvSpPr>
        <p:spPr>
          <a:xfrm>
            <a:off x="4564380" y="19050000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825" dirty="0"/>
          </a:p>
        </p:txBody>
      </p:sp>
      <p:sp>
        <p:nvSpPr>
          <p:cNvPr id="486" name="Shape 467"/>
          <p:cNvSpPr/>
          <p:nvPr/>
        </p:nvSpPr>
        <p:spPr>
          <a:xfrm>
            <a:off x="5269230" y="1905000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487" name="Text 468"/>
          <p:cNvSpPr/>
          <p:nvPr/>
        </p:nvSpPr>
        <p:spPr>
          <a:xfrm>
            <a:off x="5345430" y="19083337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88" name="Text 469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788" dirty="0"/>
          </a:p>
        </p:txBody>
      </p:sp>
      <p:sp>
        <p:nvSpPr>
          <p:cNvPr id="489" name="Shape 470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2DD4B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490" name="Shape 471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491" name="Text 472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65" dirty="0"/>
          </a:p>
        </p:txBody>
      </p:sp>
      <p:sp>
        <p:nvSpPr>
          <p:cNvPr id="492" name="Text 473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are structured JSON, never printf</a:t>
            </a:r>
            <a:endParaRPr lang="en-US" sz="975" dirty="0"/>
          </a:p>
        </p:txBody>
      </p:sp>
      <p:sp>
        <p:nvSpPr>
          <p:cNvPr id="493" name="Text 474"/>
          <p:cNvSpPr/>
          <p:nvPr/>
        </p:nvSpPr>
        <p:spPr>
          <a:xfrm>
            <a:off x="342900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25" dirty="0"/>
          </a:p>
        </p:txBody>
      </p:sp>
      <p:sp>
        <p:nvSpPr>
          <p:cNvPr id="494" name="Text 475"/>
          <p:cNvSpPr/>
          <p:nvPr/>
        </p:nvSpPr>
        <p:spPr>
          <a:xfrm>
            <a:off x="400812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495" name="Text 476"/>
          <p:cNvSpPr/>
          <p:nvPr/>
        </p:nvSpPr>
        <p:spPr>
          <a:xfrm>
            <a:off x="456438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496" name="Shape 477"/>
          <p:cNvSpPr/>
          <p:nvPr/>
        </p:nvSpPr>
        <p:spPr>
          <a:xfrm>
            <a:off x="5143500" y="19050000"/>
            <a:ext cx="781050" cy="209550"/>
          </a:xfrm>
          <a:prstGeom prst="roundRect">
            <a:avLst>
              <a:gd name="adj" fmla="val 18182"/>
            </a:avLst>
          </a:prstGeom>
          <a:solidFill>
            <a:srgbClr val="2DD4BF">
              <a:alpha val="10000"/>
            </a:srgbClr>
          </a:solidFill>
          <a:ln w="9525">
            <a:solidFill>
              <a:srgbClr val="2DD4BF">
                <a:alpha val="34000"/>
              </a:srgbClr>
            </a:solidFill>
            <a:prstDash val="solid"/>
          </a:ln>
        </p:spPr>
      </p:sp>
      <p:sp>
        <p:nvSpPr>
          <p:cNvPr id="497" name="Text 478"/>
          <p:cNvSpPr/>
          <p:nvPr/>
        </p:nvSpPr>
        <p:spPr>
          <a:xfrm>
            <a:off x="5219700" y="19083337"/>
            <a:ext cx="704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750" dirty="0"/>
          </a:p>
        </p:txBody>
      </p:sp>
      <p:sp>
        <p:nvSpPr>
          <p:cNvPr id="498" name="Text 479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788" dirty="0"/>
          </a:p>
        </p:txBody>
      </p:sp>
      <p:sp>
        <p:nvSpPr>
          <p:cNvPr id="499" name="Shape 480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22B85C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500" name="Shape 481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501" name="Text 482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65" dirty="0"/>
          </a:p>
        </p:txBody>
      </p:sp>
      <p:sp>
        <p:nvSpPr>
          <p:cNvPr id="502" name="Text 483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traced &amp; fixed the cold-start auth race</a:t>
            </a:r>
            <a:endParaRPr lang="en-US" sz="975" dirty="0"/>
          </a:p>
        </p:txBody>
      </p:sp>
      <p:sp>
        <p:nvSpPr>
          <p:cNvPr id="503" name="Text 484"/>
          <p:cNvSpPr/>
          <p:nvPr/>
        </p:nvSpPr>
        <p:spPr>
          <a:xfrm>
            <a:off x="3429000" y="19050000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25" dirty="0"/>
          </a:p>
        </p:txBody>
      </p:sp>
      <p:sp>
        <p:nvSpPr>
          <p:cNvPr id="504" name="Text 485"/>
          <p:cNvSpPr/>
          <p:nvPr/>
        </p:nvSpPr>
        <p:spPr>
          <a:xfrm>
            <a:off x="413385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505" name="Text 486"/>
          <p:cNvSpPr/>
          <p:nvPr/>
        </p:nvSpPr>
        <p:spPr>
          <a:xfrm>
            <a:off x="4690110" y="19050000"/>
            <a:ext cx="8305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825" dirty="0"/>
          </a:p>
        </p:txBody>
      </p:sp>
      <p:sp>
        <p:nvSpPr>
          <p:cNvPr id="506" name="Shape 487"/>
          <p:cNvSpPr/>
          <p:nvPr/>
        </p:nvSpPr>
        <p:spPr>
          <a:xfrm>
            <a:off x="5520690" y="19050000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507" name="Text 488"/>
          <p:cNvSpPr/>
          <p:nvPr/>
        </p:nvSpPr>
        <p:spPr>
          <a:xfrm>
            <a:off x="5596890" y="19083337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508" name="Text 489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788" dirty="0"/>
          </a:p>
        </p:txBody>
      </p:sp>
      <p:sp>
        <p:nvSpPr>
          <p:cNvPr id="509" name="Shape 490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22B85C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510" name="Shape 491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511" name="Text 492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512" name="Text 493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traced &amp; fixed the cold-start auth race</a:t>
            </a:r>
            <a:endParaRPr lang="en-US" sz="975" dirty="0"/>
          </a:p>
        </p:txBody>
      </p:sp>
      <p:sp>
        <p:nvSpPr>
          <p:cNvPr id="513" name="Text 494"/>
          <p:cNvSpPr/>
          <p:nvPr/>
        </p:nvSpPr>
        <p:spPr>
          <a:xfrm>
            <a:off x="3429000" y="19050000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514" name="Text 495"/>
          <p:cNvSpPr/>
          <p:nvPr/>
        </p:nvSpPr>
        <p:spPr>
          <a:xfrm>
            <a:off x="407098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515" name="Text 496"/>
          <p:cNvSpPr/>
          <p:nvPr/>
        </p:nvSpPr>
        <p:spPr>
          <a:xfrm>
            <a:off x="4627245" y="19050000"/>
            <a:ext cx="8305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825" dirty="0"/>
          </a:p>
        </p:txBody>
      </p:sp>
      <p:sp>
        <p:nvSpPr>
          <p:cNvPr id="516" name="Shape 497"/>
          <p:cNvSpPr/>
          <p:nvPr/>
        </p:nvSpPr>
        <p:spPr>
          <a:xfrm>
            <a:off x="5457825" y="19050000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517" name="Text 498"/>
          <p:cNvSpPr/>
          <p:nvPr/>
        </p:nvSpPr>
        <p:spPr>
          <a:xfrm>
            <a:off x="5534025" y="19083337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518" name="Text 499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788" dirty="0"/>
          </a:p>
        </p:txBody>
      </p:sp>
      <p:sp>
        <p:nvSpPr>
          <p:cNvPr id="519" name="Shape 500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EF4444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520" name="Shape 501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521" name="Text 502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522" name="Text 503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75" dirty="0"/>
          </a:p>
        </p:txBody>
      </p:sp>
      <p:sp>
        <p:nvSpPr>
          <p:cNvPr id="523" name="Text 504"/>
          <p:cNvSpPr/>
          <p:nvPr/>
        </p:nvSpPr>
        <p:spPr>
          <a:xfrm>
            <a:off x="3429000" y="19050000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524" name="Text 505"/>
          <p:cNvSpPr/>
          <p:nvPr/>
        </p:nvSpPr>
        <p:spPr>
          <a:xfrm>
            <a:off x="407098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525" name="Text 506"/>
          <p:cNvSpPr/>
          <p:nvPr/>
        </p:nvSpPr>
        <p:spPr>
          <a:xfrm>
            <a:off x="4627245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526" name="Shape 507"/>
          <p:cNvSpPr/>
          <p:nvPr/>
        </p:nvSpPr>
        <p:spPr>
          <a:xfrm>
            <a:off x="5206365" y="1905000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527" name="Text 508"/>
          <p:cNvSpPr/>
          <p:nvPr/>
        </p:nvSpPr>
        <p:spPr>
          <a:xfrm>
            <a:off x="5282565" y="19083337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528" name="Text 509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788" dirty="0"/>
          </a:p>
        </p:txBody>
      </p:sp>
      <p:sp>
        <p:nvSpPr>
          <p:cNvPr id="529" name="Shape 510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22B85C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530" name="Shape 511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531" name="Text 512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65" dirty="0"/>
          </a:p>
        </p:txBody>
      </p:sp>
      <p:sp>
        <p:nvSpPr>
          <p:cNvPr id="532" name="Text 513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Session: reindex dry-run for ULID migration</a:t>
            </a:r>
            <a:endParaRPr lang="en-US" sz="975" dirty="0"/>
          </a:p>
        </p:txBody>
      </p:sp>
      <p:sp>
        <p:nvSpPr>
          <p:cNvPr id="533" name="Text 514"/>
          <p:cNvSpPr/>
          <p:nvPr/>
        </p:nvSpPr>
        <p:spPr>
          <a:xfrm>
            <a:off x="3429000" y="19050000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25" dirty="0"/>
          </a:p>
        </p:txBody>
      </p:sp>
      <p:sp>
        <p:nvSpPr>
          <p:cNvPr id="534" name="Text 515"/>
          <p:cNvSpPr/>
          <p:nvPr/>
        </p:nvSpPr>
        <p:spPr>
          <a:xfrm>
            <a:off x="4070985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535" name="Text 516"/>
          <p:cNvSpPr/>
          <p:nvPr/>
        </p:nvSpPr>
        <p:spPr>
          <a:xfrm>
            <a:off x="4627245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536" name="Shape 517"/>
          <p:cNvSpPr/>
          <p:nvPr/>
        </p:nvSpPr>
        <p:spPr>
          <a:xfrm>
            <a:off x="5206365" y="19050000"/>
            <a:ext cx="1095375" cy="209550"/>
          </a:xfrm>
          <a:prstGeom prst="roundRect">
            <a:avLst>
              <a:gd name="adj" fmla="val 1818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34000"/>
              </a:srgbClr>
            </a:solidFill>
            <a:prstDash val="solid"/>
          </a:ln>
        </p:spPr>
      </p:sp>
      <p:sp>
        <p:nvSpPr>
          <p:cNvPr id="537" name="Text 518"/>
          <p:cNvSpPr/>
          <p:nvPr/>
        </p:nvSpPr>
        <p:spPr>
          <a:xfrm>
            <a:off x="5282565" y="19083337"/>
            <a:ext cx="10191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750" dirty="0"/>
          </a:p>
        </p:txBody>
      </p:sp>
      <p:sp>
        <p:nvSpPr>
          <p:cNvPr id="538" name="Text 519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ago</a:t>
            </a:r>
            <a:endParaRPr lang="en-US" sz="788" dirty="0"/>
          </a:p>
        </p:txBody>
      </p:sp>
      <p:sp>
        <p:nvSpPr>
          <p:cNvPr id="539" name="Shape 520"/>
          <p:cNvSpPr/>
          <p:nvPr/>
        </p:nvSpPr>
        <p:spPr>
          <a:xfrm>
            <a:off x="2686050" y="19050000"/>
            <a:ext cx="85725" cy="85725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540" name="Shape 521"/>
          <p:cNvSpPr/>
          <p:nvPr/>
        </p:nvSpPr>
        <p:spPr>
          <a:xfrm>
            <a:off x="3028950" y="19050000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541" name="Text 522"/>
          <p:cNvSpPr/>
          <p:nvPr/>
        </p:nvSpPr>
        <p:spPr>
          <a:xfrm>
            <a:off x="3113564" y="19050000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65" dirty="0"/>
          </a:p>
        </p:txBody>
      </p:sp>
      <p:sp>
        <p:nvSpPr>
          <p:cNvPr id="542" name="Text 523"/>
          <p:cNvSpPr/>
          <p:nvPr/>
        </p:nvSpPr>
        <p:spPr>
          <a:xfrm>
            <a:off x="3429000" y="19050000"/>
            <a:ext cx="8547126" cy="2084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564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75" dirty="0"/>
          </a:p>
        </p:txBody>
      </p:sp>
      <p:sp>
        <p:nvSpPr>
          <p:cNvPr id="543" name="Text 524"/>
          <p:cNvSpPr/>
          <p:nvPr/>
        </p:nvSpPr>
        <p:spPr>
          <a:xfrm>
            <a:off x="342900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</a:t>
            </a:r>
            <a:endParaRPr lang="en-US" sz="825" dirty="0"/>
          </a:p>
        </p:txBody>
      </p:sp>
      <p:sp>
        <p:nvSpPr>
          <p:cNvPr id="544" name="Text 525"/>
          <p:cNvSpPr/>
          <p:nvPr/>
        </p:nvSpPr>
        <p:spPr>
          <a:xfrm>
            <a:off x="4008120" y="19050000"/>
            <a:ext cx="55626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to</a:t>
            </a:r>
            <a:endParaRPr lang="en-US" sz="788" dirty="0"/>
          </a:p>
        </p:txBody>
      </p:sp>
      <p:sp>
        <p:nvSpPr>
          <p:cNvPr id="545" name="Text 526"/>
          <p:cNvSpPr/>
          <p:nvPr/>
        </p:nvSpPr>
        <p:spPr>
          <a:xfrm>
            <a:off x="4564380" y="19050000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6EDF3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546" name="Shape 527"/>
          <p:cNvSpPr/>
          <p:nvPr/>
        </p:nvSpPr>
        <p:spPr>
          <a:xfrm>
            <a:off x="5143500" y="1905000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547" name="Text 528"/>
          <p:cNvSpPr/>
          <p:nvPr/>
        </p:nvSpPr>
        <p:spPr>
          <a:xfrm>
            <a:off x="5219700" y="19083337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548" name="Text 529"/>
          <p:cNvSpPr/>
          <p:nvPr/>
        </p:nvSpPr>
        <p:spPr>
          <a:xfrm>
            <a:off x="11841480" y="19050000"/>
            <a:ext cx="43624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ago</a:t>
            </a:r>
            <a:endParaRPr lang="en-US" sz="788" dirty="0"/>
          </a:p>
        </p:txBody>
      </p:sp>
      <p:sp>
        <p:nvSpPr>
          <p:cNvPr id="549" name="Shape 530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550" name="Shape 531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551" name="Shape 532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52" name="Text 533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553" name="Text 534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554" name="Text 535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555" name="Shape 536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56" name="Text 537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557" name="Text 538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558" name="Shape 539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559" name="Shape 540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60" name="Shape 541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561" name="Shape 542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562" name="Text 543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563" name="Text 544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564" name="Shape 545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565" name="Text 546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566" name="Text 547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567" name="Text 548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568" name="Shape 549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569" name="Shape 550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0" name="Shape 551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571" name="Shape 552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572" name="Text 553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573" name="Text 554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574" name="Shape 555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575" name="Text 556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576" name="Text 557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577" name="Text 558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578" name="Shape 559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579" name="Shape 560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80" name="Shape 561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581" name="Shape 562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582" name="Text 563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583" name="Text 564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584" name="Shape 565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585" name="Text 566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586" name="Text 567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587" name="Text 568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588" name="Shape 569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89" name="Shape 570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590" name="Text 571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591" name="Text 572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592" name="Shape 573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593" name="Text 574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594" name="Text 575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595" name="Text 576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596" name="Shape 577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97" name="Shape 578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598" name="Text 579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599" name="Text 580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600" name="Shape 581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601" name="Text 582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602" name="Text 583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603" name="Text 584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604" name="Shape 585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605" name="Shape 586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606" name="Text 587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607" name="Text 588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608" name="Shape 589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609" name="Text 590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610" name="Text 591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611" name="Text 592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612" name="Shape 593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613" name="Shape 594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614" name="Text 595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615" name="Text 596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616" name="Shape 597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617" name="Text 598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618" name="Text 599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619" name="Text 600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5" name="Text 15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sp>
        <p:nvSpPr>
          <p:cNvPr id="26" name="Shape 16"/>
          <p:cNvSpPr/>
          <p:nvPr/>
        </p:nvSpPr>
        <p:spPr>
          <a:xfrm>
            <a:off x="114300" y="3519488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27" name="Shape 17"/>
          <p:cNvSpPr/>
          <p:nvPr/>
        </p:nvSpPr>
        <p:spPr>
          <a:xfrm>
            <a:off x="114300" y="3595688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19050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TEAM BEHIND THE HIVE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1905000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Contributors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38200"/>
            <a:ext cx="3127375" cy="695325"/>
          </a:xfrm>
          <a:prstGeom prst="roundRect">
            <a:avLst>
              <a:gd name="adj" fmla="val 16438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2790825" y="981075"/>
            <a:ext cx="4876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ADMINS</a:t>
            </a:r>
            <a:endParaRPr lang="en-US" sz="750" dirty="0"/>
          </a:p>
        </p:txBody>
      </p:sp>
      <p:sp>
        <p:nvSpPr>
          <p:cNvPr id="67" name="Text 48"/>
          <p:cNvSpPr/>
          <p:nvPr/>
        </p:nvSpPr>
        <p:spPr>
          <a:xfrm>
            <a:off x="2790825" y="1181100"/>
            <a:ext cx="4876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50" dirty="0"/>
          </a:p>
        </p:txBody>
      </p:sp>
      <p:sp>
        <p:nvSpPr>
          <p:cNvPr id="68" name="Shape 49"/>
          <p:cNvSpPr/>
          <p:nvPr/>
        </p:nvSpPr>
        <p:spPr>
          <a:xfrm>
            <a:off x="5384800" y="1071563"/>
            <a:ext cx="209550" cy="228600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69" name="Shape 50"/>
          <p:cNvSpPr/>
          <p:nvPr/>
        </p:nvSpPr>
        <p:spPr>
          <a:xfrm>
            <a:off x="5908675" y="838200"/>
            <a:ext cx="3127375" cy="695325"/>
          </a:xfrm>
          <a:prstGeom prst="roundRect">
            <a:avLst>
              <a:gd name="adj" fmla="val 16438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0" name="Text 51"/>
          <p:cNvSpPr/>
          <p:nvPr/>
        </p:nvSpPr>
        <p:spPr>
          <a:xfrm>
            <a:off x="6070600" y="981075"/>
            <a:ext cx="5562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</a:t>
            </a:r>
            <a:endParaRPr lang="en-US" sz="750" dirty="0"/>
          </a:p>
        </p:txBody>
      </p:sp>
      <p:sp>
        <p:nvSpPr>
          <p:cNvPr id="71" name="Text 52"/>
          <p:cNvSpPr/>
          <p:nvPr/>
        </p:nvSpPr>
        <p:spPr>
          <a:xfrm>
            <a:off x="6070600" y="1181100"/>
            <a:ext cx="5562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50" dirty="0"/>
          </a:p>
        </p:txBody>
      </p:sp>
      <p:sp>
        <p:nvSpPr>
          <p:cNvPr id="72" name="Shape 53"/>
          <p:cNvSpPr/>
          <p:nvPr/>
        </p:nvSpPr>
        <p:spPr>
          <a:xfrm>
            <a:off x="8664575" y="1071563"/>
            <a:ext cx="209550" cy="2286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73" name="Shape 54"/>
          <p:cNvSpPr/>
          <p:nvPr/>
        </p:nvSpPr>
        <p:spPr>
          <a:xfrm>
            <a:off x="9188450" y="838200"/>
            <a:ext cx="3127375" cy="695325"/>
          </a:xfrm>
          <a:prstGeom prst="roundRect">
            <a:avLst>
              <a:gd name="adj" fmla="val 16438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4" name="Text 55"/>
          <p:cNvSpPr/>
          <p:nvPr/>
        </p:nvSpPr>
        <p:spPr>
          <a:xfrm>
            <a:off x="9350375" y="981075"/>
            <a:ext cx="5562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VIEWERS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9350375" y="1181100"/>
            <a:ext cx="5562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50" dirty="0"/>
          </a:p>
        </p:txBody>
      </p:sp>
      <p:sp>
        <p:nvSpPr>
          <p:cNvPr id="76" name="Shape 57"/>
          <p:cNvSpPr/>
          <p:nvPr/>
        </p:nvSpPr>
        <p:spPr>
          <a:xfrm>
            <a:off x="11944350" y="1071563"/>
            <a:ext cx="209550" cy="228600"/>
          </a:xfrm>
          <a:prstGeom prst="rect">
            <a:avLst/>
          </a:prstGeom>
          <a:solidFill>
            <a:srgbClr val="8B97A8"/>
          </a:solidFill>
          <a:ln/>
        </p:spPr>
      </p:sp>
      <p:sp>
        <p:nvSpPr>
          <p:cNvPr id="77" name="Shape 58"/>
          <p:cNvSpPr/>
          <p:nvPr/>
        </p:nvSpPr>
        <p:spPr>
          <a:xfrm>
            <a:off x="2628900" y="172402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8" name="Shape 59"/>
          <p:cNvSpPr/>
          <p:nvPr/>
        </p:nvSpPr>
        <p:spPr>
          <a:xfrm>
            <a:off x="2790825" y="188595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79" name="Text 60"/>
          <p:cNvSpPr/>
          <p:nvPr/>
        </p:nvSpPr>
        <p:spPr>
          <a:xfrm>
            <a:off x="2897981" y="200533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969" dirty="0"/>
          </a:p>
        </p:txBody>
      </p:sp>
      <p:sp>
        <p:nvSpPr>
          <p:cNvPr id="80" name="Text 61"/>
          <p:cNvSpPr/>
          <p:nvPr/>
        </p:nvSpPr>
        <p:spPr>
          <a:xfrm>
            <a:off x="3267075" y="1885950"/>
            <a:ext cx="2403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1050" dirty="0"/>
          </a:p>
        </p:txBody>
      </p:sp>
      <p:sp>
        <p:nvSpPr>
          <p:cNvPr id="81" name="Text 62"/>
          <p:cNvSpPr/>
          <p:nvPr/>
        </p:nvSpPr>
        <p:spPr>
          <a:xfrm>
            <a:off x="3267075" y="208597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88" dirty="0"/>
          </a:p>
        </p:txBody>
      </p:sp>
      <p:sp>
        <p:nvSpPr>
          <p:cNvPr id="82" name="Shape 63"/>
          <p:cNvSpPr/>
          <p:nvPr/>
        </p:nvSpPr>
        <p:spPr>
          <a:xfrm>
            <a:off x="2790825" y="237045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83" name="Text 64"/>
          <p:cNvSpPr/>
          <p:nvPr/>
        </p:nvSpPr>
        <p:spPr>
          <a:xfrm>
            <a:off x="2867025" y="240379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84" name="Shape 65"/>
          <p:cNvSpPr/>
          <p:nvPr/>
        </p:nvSpPr>
        <p:spPr>
          <a:xfrm>
            <a:off x="3343275" y="2362200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85" name="Shape 66"/>
          <p:cNvSpPr/>
          <p:nvPr/>
        </p:nvSpPr>
        <p:spPr>
          <a:xfrm>
            <a:off x="3438525" y="2446655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86" name="Text 67"/>
          <p:cNvSpPr/>
          <p:nvPr/>
        </p:nvSpPr>
        <p:spPr>
          <a:xfrm>
            <a:off x="3571875" y="2408555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87" name="Shape 68"/>
          <p:cNvSpPr/>
          <p:nvPr/>
        </p:nvSpPr>
        <p:spPr>
          <a:xfrm>
            <a:off x="2790825" y="270271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88" name="Text 69"/>
          <p:cNvSpPr/>
          <p:nvPr/>
        </p:nvSpPr>
        <p:spPr>
          <a:xfrm>
            <a:off x="2790825" y="282654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89" name="Text 70"/>
          <p:cNvSpPr/>
          <p:nvPr/>
        </p:nvSpPr>
        <p:spPr>
          <a:xfrm>
            <a:off x="2790825" y="2962275"/>
            <a:ext cx="14398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171</a:t>
            </a:r>
            <a:endParaRPr lang="en-US" sz="1125" dirty="0"/>
          </a:p>
        </p:txBody>
      </p:sp>
      <p:sp>
        <p:nvSpPr>
          <p:cNvPr id="90" name="Text 71"/>
          <p:cNvSpPr/>
          <p:nvPr/>
        </p:nvSpPr>
        <p:spPr>
          <a:xfrm>
            <a:off x="4230688" y="2826544"/>
            <a:ext cx="1439862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91" name="Text 72"/>
          <p:cNvSpPr/>
          <p:nvPr/>
        </p:nvSpPr>
        <p:spPr>
          <a:xfrm>
            <a:off x="4230688" y="2981325"/>
            <a:ext cx="143986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 ago</a:t>
            </a:r>
            <a:endParaRPr lang="en-US" sz="975" dirty="0"/>
          </a:p>
        </p:txBody>
      </p:sp>
      <p:sp>
        <p:nvSpPr>
          <p:cNvPr id="92" name="Text 73"/>
          <p:cNvSpPr/>
          <p:nvPr/>
        </p:nvSpPr>
        <p:spPr>
          <a:xfrm>
            <a:off x="2790825" y="3290888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93" name="Shape 74"/>
          <p:cNvSpPr/>
          <p:nvPr/>
        </p:nvSpPr>
        <p:spPr>
          <a:xfrm>
            <a:off x="5908675" y="172402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94" name="Shape 75"/>
          <p:cNvSpPr/>
          <p:nvPr/>
        </p:nvSpPr>
        <p:spPr>
          <a:xfrm>
            <a:off x="6070600" y="188595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95" name="Text 76"/>
          <p:cNvSpPr/>
          <p:nvPr/>
        </p:nvSpPr>
        <p:spPr>
          <a:xfrm>
            <a:off x="6177756" y="200533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969" dirty="0"/>
          </a:p>
        </p:txBody>
      </p:sp>
      <p:sp>
        <p:nvSpPr>
          <p:cNvPr id="96" name="Text 77"/>
          <p:cNvSpPr/>
          <p:nvPr/>
        </p:nvSpPr>
        <p:spPr>
          <a:xfrm>
            <a:off x="6546850" y="1885950"/>
            <a:ext cx="2403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Mikael Lindqvist</a:t>
            </a:r>
            <a:endParaRPr lang="en-US" sz="1050" dirty="0"/>
          </a:p>
        </p:txBody>
      </p:sp>
      <p:sp>
        <p:nvSpPr>
          <p:cNvPr id="97" name="Text 78"/>
          <p:cNvSpPr/>
          <p:nvPr/>
        </p:nvSpPr>
        <p:spPr>
          <a:xfrm>
            <a:off x="6546850" y="208597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mikael.l@nexus.dev</a:t>
            </a:r>
            <a:endParaRPr lang="en-US" sz="788" dirty="0"/>
          </a:p>
        </p:txBody>
      </p:sp>
      <p:sp>
        <p:nvSpPr>
          <p:cNvPr id="98" name="Shape 79"/>
          <p:cNvSpPr/>
          <p:nvPr/>
        </p:nvSpPr>
        <p:spPr>
          <a:xfrm>
            <a:off x="6070600" y="237045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99" name="Text 80"/>
          <p:cNvSpPr/>
          <p:nvPr/>
        </p:nvSpPr>
        <p:spPr>
          <a:xfrm>
            <a:off x="6146800" y="240379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100" name="Shape 81"/>
          <p:cNvSpPr/>
          <p:nvPr/>
        </p:nvSpPr>
        <p:spPr>
          <a:xfrm>
            <a:off x="6623050" y="2362200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01" name="Shape 82"/>
          <p:cNvSpPr/>
          <p:nvPr/>
        </p:nvSpPr>
        <p:spPr>
          <a:xfrm>
            <a:off x="6718300" y="2446655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02" name="Text 83"/>
          <p:cNvSpPr/>
          <p:nvPr/>
        </p:nvSpPr>
        <p:spPr>
          <a:xfrm>
            <a:off x="6851650" y="2408555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103" name="Shape 84"/>
          <p:cNvSpPr/>
          <p:nvPr/>
        </p:nvSpPr>
        <p:spPr>
          <a:xfrm>
            <a:off x="6070600" y="270271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04" name="Text 85"/>
          <p:cNvSpPr/>
          <p:nvPr/>
        </p:nvSpPr>
        <p:spPr>
          <a:xfrm>
            <a:off x="6070600" y="282654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105" name="Text 86"/>
          <p:cNvSpPr/>
          <p:nvPr/>
        </p:nvSpPr>
        <p:spPr>
          <a:xfrm>
            <a:off x="6070600" y="2962275"/>
            <a:ext cx="14398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312</a:t>
            </a:r>
            <a:endParaRPr lang="en-US" sz="1125" dirty="0"/>
          </a:p>
        </p:txBody>
      </p:sp>
      <p:sp>
        <p:nvSpPr>
          <p:cNvPr id="106" name="Text 87"/>
          <p:cNvSpPr/>
          <p:nvPr/>
        </p:nvSpPr>
        <p:spPr>
          <a:xfrm>
            <a:off x="7510462" y="282654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107" name="Text 88"/>
          <p:cNvSpPr/>
          <p:nvPr/>
        </p:nvSpPr>
        <p:spPr>
          <a:xfrm>
            <a:off x="7510462" y="2981325"/>
            <a:ext cx="14398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14m ago</a:t>
            </a:r>
            <a:endParaRPr lang="en-US" sz="975" dirty="0"/>
          </a:p>
        </p:txBody>
      </p:sp>
      <p:sp>
        <p:nvSpPr>
          <p:cNvPr id="108" name="Text 89"/>
          <p:cNvSpPr/>
          <p:nvPr/>
        </p:nvSpPr>
        <p:spPr>
          <a:xfrm>
            <a:off x="6070600" y="3290888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109" name="Shape 90"/>
          <p:cNvSpPr/>
          <p:nvPr/>
        </p:nvSpPr>
        <p:spPr>
          <a:xfrm>
            <a:off x="9188450" y="172402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10" name="Shape 91"/>
          <p:cNvSpPr/>
          <p:nvPr/>
        </p:nvSpPr>
        <p:spPr>
          <a:xfrm>
            <a:off x="9350375" y="188595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11" name="Text 92"/>
          <p:cNvSpPr/>
          <p:nvPr/>
        </p:nvSpPr>
        <p:spPr>
          <a:xfrm>
            <a:off x="9457531" y="200533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969" dirty="0"/>
          </a:p>
        </p:txBody>
      </p:sp>
      <p:sp>
        <p:nvSpPr>
          <p:cNvPr id="112" name="Text 93"/>
          <p:cNvSpPr/>
          <p:nvPr/>
        </p:nvSpPr>
        <p:spPr>
          <a:xfrm>
            <a:off x="9826625" y="1885950"/>
            <a:ext cx="2403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Rémy Delacroix</a:t>
            </a:r>
            <a:endParaRPr lang="en-US" sz="1050" dirty="0"/>
          </a:p>
        </p:txBody>
      </p:sp>
      <p:sp>
        <p:nvSpPr>
          <p:cNvPr id="113" name="Text 94"/>
          <p:cNvSpPr/>
          <p:nvPr/>
        </p:nvSpPr>
        <p:spPr>
          <a:xfrm>
            <a:off x="9826625" y="208597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remy.d@nexus.dev</a:t>
            </a:r>
            <a:endParaRPr lang="en-US" sz="788" dirty="0"/>
          </a:p>
        </p:txBody>
      </p:sp>
      <p:sp>
        <p:nvSpPr>
          <p:cNvPr id="114" name="Shape 95"/>
          <p:cNvSpPr/>
          <p:nvPr/>
        </p:nvSpPr>
        <p:spPr>
          <a:xfrm>
            <a:off x="9350375" y="237045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115" name="Text 96"/>
          <p:cNvSpPr/>
          <p:nvPr/>
        </p:nvSpPr>
        <p:spPr>
          <a:xfrm>
            <a:off x="9426575" y="240379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116" name="Shape 97"/>
          <p:cNvSpPr/>
          <p:nvPr/>
        </p:nvSpPr>
        <p:spPr>
          <a:xfrm>
            <a:off x="9902825" y="2362200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17" name="Shape 98"/>
          <p:cNvSpPr/>
          <p:nvPr/>
        </p:nvSpPr>
        <p:spPr>
          <a:xfrm>
            <a:off x="9998075" y="2446655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18" name="Text 99"/>
          <p:cNvSpPr/>
          <p:nvPr/>
        </p:nvSpPr>
        <p:spPr>
          <a:xfrm>
            <a:off x="10131425" y="2408555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119" name="Shape 100"/>
          <p:cNvSpPr/>
          <p:nvPr/>
        </p:nvSpPr>
        <p:spPr>
          <a:xfrm>
            <a:off x="9350375" y="270271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20" name="Text 101"/>
          <p:cNvSpPr/>
          <p:nvPr/>
        </p:nvSpPr>
        <p:spPr>
          <a:xfrm>
            <a:off x="9350375" y="2826544"/>
            <a:ext cx="1439862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121" name="Text 102"/>
          <p:cNvSpPr/>
          <p:nvPr/>
        </p:nvSpPr>
        <p:spPr>
          <a:xfrm>
            <a:off x="9350375" y="2962275"/>
            <a:ext cx="143986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171</a:t>
            </a:r>
            <a:endParaRPr lang="en-US" sz="1125" dirty="0"/>
          </a:p>
        </p:txBody>
      </p:sp>
      <p:sp>
        <p:nvSpPr>
          <p:cNvPr id="122" name="Text 103"/>
          <p:cNvSpPr/>
          <p:nvPr/>
        </p:nvSpPr>
        <p:spPr>
          <a:xfrm>
            <a:off x="10790238" y="282654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123" name="Text 104"/>
          <p:cNvSpPr/>
          <p:nvPr/>
        </p:nvSpPr>
        <p:spPr>
          <a:xfrm>
            <a:off x="10790238" y="2981325"/>
            <a:ext cx="14398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975" dirty="0"/>
          </a:p>
        </p:txBody>
      </p:sp>
      <p:sp>
        <p:nvSpPr>
          <p:cNvPr id="124" name="Text 105"/>
          <p:cNvSpPr/>
          <p:nvPr/>
        </p:nvSpPr>
        <p:spPr>
          <a:xfrm>
            <a:off x="9350375" y="3290888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125" name="Shape 106"/>
          <p:cNvSpPr/>
          <p:nvPr/>
        </p:nvSpPr>
        <p:spPr>
          <a:xfrm>
            <a:off x="2628900" y="376237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26" name="Shape 107"/>
          <p:cNvSpPr/>
          <p:nvPr/>
        </p:nvSpPr>
        <p:spPr>
          <a:xfrm>
            <a:off x="2790825" y="392430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127" name="Text 108"/>
          <p:cNvSpPr/>
          <p:nvPr/>
        </p:nvSpPr>
        <p:spPr>
          <a:xfrm>
            <a:off x="2897981" y="404368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969" dirty="0"/>
          </a:p>
        </p:txBody>
      </p:sp>
      <p:sp>
        <p:nvSpPr>
          <p:cNvPr id="128" name="Text 109"/>
          <p:cNvSpPr/>
          <p:nvPr/>
        </p:nvSpPr>
        <p:spPr>
          <a:xfrm>
            <a:off x="3267075" y="3924300"/>
            <a:ext cx="2403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Tanaka</a:t>
            </a:r>
            <a:endParaRPr lang="en-US" sz="1050" dirty="0"/>
          </a:p>
        </p:txBody>
      </p:sp>
      <p:sp>
        <p:nvSpPr>
          <p:cNvPr id="129" name="Text 110"/>
          <p:cNvSpPr/>
          <p:nvPr/>
        </p:nvSpPr>
        <p:spPr>
          <a:xfrm>
            <a:off x="3267075" y="412432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jun.tanaka@nexus.dev</a:t>
            </a:r>
            <a:endParaRPr lang="en-US" sz="788" dirty="0"/>
          </a:p>
        </p:txBody>
      </p:sp>
      <p:sp>
        <p:nvSpPr>
          <p:cNvPr id="130" name="Shape 111"/>
          <p:cNvSpPr/>
          <p:nvPr/>
        </p:nvSpPr>
        <p:spPr>
          <a:xfrm>
            <a:off x="2790825" y="4408805"/>
            <a:ext cx="54102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2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31" name="Text 112"/>
          <p:cNvSpPr/>
          <p:nvPr/>
        </p:nvSpPr>
        <p:spPr>
          <a:xfrm>
            <a:off x="2867025" y="4442143"/>
            <a:ext cx="4648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50" dirty="0"/>
          </a:p>
        </p:txBody>
      </p:sp>
      <p:sp>
        <p:nvSpPr>
          <p:cNvPr id="132" name="Shape 113"/>
          <p:cNvSpPr/>
          <p:nvPr/>
        </p:nvSpPr>
        <p:spPr>
          <a:xfrm>
            <a:off x="3408045" y="4400550"/>
            <a:ext cx="883920" cy="226219"/>
          </a:xfrm>
          <a:prstGeom prst="roundRect">
            <a:avLst>
              <a:gd name="adj" fmla="val 1684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133" name="Shape 114"/>
          <p:cNvSpPr/>
          <p:nvPr/>
        </p:nvSpPr>
        <p:spPr>
          <a:xfrm>
            <a:off x="3503295" y="4485005"/>
            <a:ext cx="57150" cy="57150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134" name="Text 115"/>
          <p:cNvSpPr/>
          <p:nvPr/>
        </p:nvSpPr>
        <p:spPr>
          <a:xfrm>
            <a:off x="3636645" y="4446905"/>
            <a:ext cx="636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788" dirty="0"/>
          </a:p>
        </p:txBody>
      </p:sp>
      <p:sp>
        <p:nvSpPr>
          <p:cNvPr id="135" name="Shape 116"/>
          <p:cNvSpPr/>
          <p:nvPr/>
        </p:nvSpPr>
        <p:spPr>
          <a:xfrm>
            <a:off x="2790825" y="474106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36" name="Text 117"/>
          <p:cNvSpPr/>
          <p:nvPr/>
        </p:nvSpPr>
        <p:spPr>
          <a:xfrm>
            <a:off x="2790825" y="486489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137" name="Text 118"/>
          <p:cNvSpPr/>
          <p:nvPr/>
        </p:nvSpPr>
        <p:spPr>
          <a:xfrm>
            <a:off x="2790825" y="5000625"/>
            <a:ext cx="14398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1125" dirty="0"/>
          </a:p>
        </p:txBody>
      </p:sp>
      <p:sp>
        <p:nvSpPr>
          <p:cNvPr id="138" name="Text 119"/>
          <p:cNvSpPr/>
          <p:nvPr/>
        </p:nvSpPr>
        <p:spPr>
          <a:xfrm>
            <a:off x="4230688" y="4864894"/>
            <a:ext cx="1439862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139" name="Text 120"/>
          <p:cNvSpPr/>
          <p:nvPr/>
        </p:nvSpPr>
        <p:spPr>
          <a:xfrm>
            <a:off x="4230688" y="5019675"/>
            <a:ext cx="143986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38m ago</a:t>
            </a:r>
            <a:endParaRPr lang="en-US" sz="975" dirty="0"/>
          </a:p>
        </p:txBody>
      </p:sp>
      <p:sp>
        <p:nvSpPr>
          <p:cNvPr id="140" name="Text 121"/>
          <p:cNvSpPr/>
          <p:nvPr/>
        </p:nvSpPr>
        <p:spPr>
          <a:xfrm>
            <a:off x="2790825" y="5329238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141" name="Shape 122"/>
          <p:cNvSpPr/>
          <p:nvPr/>
        </p:nvSpPr>
        <p:spPr>
          <a:xfrm>
            <a:off x="5908675" y="376237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34000"/>
            </a:srgbClr>
          </a:solidFill>
          <a:ln w="9525">
            <a:solidFill>
              <a:srgbClr val="1E2735">
                <a:alpha val="62000"/>
              </a:srgbClr>
            </a:solidFill>
            <a:prstDash val="solid"/>
          </a:ln>
        </p:spPr>
      </p:sp>
      <p:sp>
        <p:nvSpPr>
          <p:cNvPr id="142" name="Shape 123"/>
          <p:cNvSpPr/>
          <p:nvPr/>
        </p:nvSpPr>
        <p:spPr>
          <a:xfrm>
            <a:off x="6070600" y="392430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43" name="Text 124"/>
          <p:cNvSpPr/>
          <p:nvPr/>
        </p:nvSpPr>
        <p:spPr>
          <a:xfrm>
            <a:off x="6177756" y="404368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969" dirty="0"/>
          </a:p>
        </p:txBody>
      </p:sp>
      <p:sp>
        <p:nvSpPr>
          <p:cNvPr id="144" name="Text 125"/>
          <p:cNvSpPr/>
          <p:nvPr/>
        </p:nvSpPr>
        <p:spPr>
          <a:xfrm>
            <a:off x="6546850" y="3924300"/>
            <a:ext cx="2403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Sergei Abramov</a:t>
            </a:r>
            <a:endParaRPr lang="en-US" sz="1050" dirty="0"/>
          </a:p>
        </p:txBody>
      </p:sp>
      <p:sp>
        <p:nvSpPr>
          <p:cNvPr id="145" name="Text 126"/>
          <p:cNvSpPr/>
          <p:nvPr/>
        </p:nvSpPr>
        <p:spPr>
          <a:xfrm>
            <a:off x="6546850" y="412432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sergei.a@nexus.dev</a:t>
            </a:r>
            <a:endParaRPr lang="en-US" sz="788" dirty="0"/>
          </a:p>
        </p:txBody>
      </p:sp>
      <p:sp>
        <p:nvSpPr>
          <p:cNvPr id="146" name="Shape 127"/>
          <p:cNvSpPr/>
          <p:nvPr/>
        </p:nvSpPr>
        <p:spPr>
          <a:xfrm>
            <a:off x="6070600" y="4408805"/>
            <a:ext cx="54102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2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47" name="Text 128"/>
          <p:cNvSpPr/>
          <p:nvPr/>
        </p:nvSpPr>
        <p:spPr>
          <a:xfrm>
            <a:off x="6146800" y="4442143"/>
            <a:ext cx="4648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50" dirty="0"/>
          </a:p>
        </p:txBody>
      </p:sp>
      <p:sp>
        <p:nvSpPr>
          <p:cNvPr id="148" name="Shape 129"/>
          <p:cNvSpPr/>
          <p:nvPr/>
        </p:nvSpPr>
        <p:spPr>
          <a:xfrm>
            <a:off x="6687820" y="4413568"/>
            <a:ext cx="689610" cy="200025"/>
          </a:xfrm>
          <a:prstGeom prst="roundRect">
            <a:avLst>
              <a:gd name="adj" fmla="val 19048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49" name="Text 130"/>
          <p:cNvSpPr/>
          <p:nvPr/>
        </p:nvSpPr>
        <p:spPr>
          <a:xfrm>
            <a:off x="6773545" y="4442143"/>
            <a:ext cx="5943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INACTIVE</a:t>
            </a:r>
            <a:endParaRPr lang="en-US" sz="750" dirty="0"/>
          </a:p>
        </p:txBody>
      </p:sp>
      <p:sp>
        <p:nvSpPr>
          <p:cNvPr id="150" name="Shape 131"/>
          <p:cNvSpPr/>
          <p:nvPr/>
        </p:nvSpPr>
        <p:spPr>
          <a:xfrm>
            <a:off x="7453630" y="4400550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40000"/>
              </a:srgbClr>
            </a:solidFill>
            <a:prstDash val="solid"/>
          </a:ln>
        </p:spPr>
      </p:sp>
      <p:sp>
        <p:nvSpPr>
          <p:cNvPr id="151" name="Shape 132"/>
          <p:cNvSpPr/>
          <p:nvPr/>
        </p:nvSpPr>
        <p:spPr>
          <a:xfrm>
            <a:off x="7548880" y="4485005"/>
            <a:ext cx="57150" cy="57150"/>
          </a:xfrm>
          <a:prstGeom prst="ellipse">
            <a:avLst/>
          </a:prstGeom>
          <a:solidFill>
            <a:srgbClr val="8B97A8"/>
          </a:solidFill>
          <a:ln/>
        </p:spPr>
      </p:sp>
      <p:sp>
        <p:nvSpPr>
          <p:cNvPr id="152" name="Text 133"/>
          <p:cNvSpPr/>
          <p:nvPr/>
        </p:nvSpPr>
        <p:spPr>
          <a:xfrm>
            <a:off x="7682230" y="4446905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788" dirty="0"/>
          </a:p>
        </p:txBody>
      </p:sp>
      <p:sp>
        <p:nvSpPr>
          <p:cNvPr id="153" name="Shape 134"/>
          <p:cNvSpPr/>
          <p:nvPr/>
        </p:nvSpPr>
        <p:spPr>
          <a:xfrm>
            <a:off x="6070600" y="474106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54" name="Text 135"/>
          <p:cNvSpPr/>
          <p:nvPr/>
        </p:nvSpPr>
        <p:spPr>
          <a:xfrm>
            <a:off x="6070600" y="486489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155" name="Text 136"/>
          <p:cNvSpPr/>
          <p:nvPr/>
        </p:nvSpPr>
        <p:spPr>
          <a:xfrm>
            <a:off x="6070600" y="5000625"/>
            <a:ext cx="14398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359</a:t>
            </a:r>
            <a:endParaRPr lang="en-US" sz="1125" dirty="0"/>
          </a:p>
        </p:txBody>
      </p:sp>
      <p:sp>
        <p:nvSpPr>
          <p:cNvPr id="156" name="Text 137"/>
          <p:cNvSpPr/>
          <p:nvPr/>
        </p:nvSpPr>
        <p:spPr>
          <a:xfrm>
            <a:off x="7510462" y="486489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157" name="Text 138"/>
          <p:cNvSpPr/>
          <p:nvPr/>
        </p:nvSpPr>
        <p:spPr>
          <a:xfrm>
            <a:off x="7510462" y="5019675"/>
            <a:ext cx="14398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975" dirty="0"/>
          </a:p>
        </p:txBody>
      </p:sp>
      <p:sp>
        <p:nvSpPr>
          <p:cNvPr id="158" name="Text 139"/>
          <p:cNvSpPr/>
          <p:nvPr/>
        </p:nvSpPr>
        <p:spPr>
          <a:xfrm>
            <a:off x="6070600" y="5329238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159" name="Shape 140"/>
          <p:cNvSpPr/>
          <p:nvPr/>
        </p:nvSpPr>
        <p:spPr>
          <a:xfrm>
            <a:off x="9188450" y="376237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60" name="Shape 141"/>
          <p:cNvSpPr/>
          <p:nvPr/>
        </p:nvSpPr>
        <p:spPr>
          <a:xfrm>
            <a:off x="9350375" y="392430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61" name="Text 142"/>
          <p:cNvSpPr/>
          <p:nvPr/>
        </p:nvSpPr>
        <p:spPr>
          <a:xfrm>
            <a:off x="9457531" y="404368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969" dirty="0"/>
          </a:p>
        </p:txBody>
      </p:sp>
      <p:sp>
        <p:nvSpPr>
          <p:cNvPr id="162" name="Text 143"/>
          <p:cNvSpPr/>
          <p:nvPr/>
        </p:nvSpPr>
        <p:spPr>
          <a:xfrm>
            <a:off x="9826625" y="3924300"/>
            <a:ext cx="2403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Mensah</a:t>
            </a:r>
            <a:endParaRPr lang="en-US" sz="1050" dirty="0"/>
          </a:p>
        </p:txBody>
      </p:sp>
      <p:sp>
        <p:nvSpPr>
          <p:cNvPr id="163" name="Text 144"/>
          <p:cNvSpPr/>
          <p:nvPr/>
        </p:nvSpPr>
        <p:spPr>
          <a:xfrm>
            <a:off x="9826625" y="412432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kwame.m@nexus.dev</a:t>
            </a:r>
            <a:endParaRPr lang="en-US" sz="788" dirty="0"/>
          </a:p>
        </p:txBody>
      </p:sp>
      <p:sp>
        <p:nvSpPr>
          <p:cNvPr id="164" name="Shape 145"/>
          <p:cNvSpPr/>
          <p:nvPr/>
        </p:nvSpPr>
        <p:spPr>
          <a:xfrm>
            <a:off x="9350375" y="4408805"/>
            <a:ext cx="54102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2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65" name="Text 146"/>
          <p:cNvSpPr/>
          <p:nvPr/>
        </p:nvSpPr>
        <p:spPr>
          <a:xfrm>
            <a:off x="9426575" y="4442143"/>
            <a:ext cx="4648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50" dirty="0"/>
          </a:p>
        </p:txBody>
      </p:sp>
      <p:sp>
        <p:nvSpPr>
          <p:cNvPr id="166" name="Shape 147"/>
          <p:cNvSpPr/>
          <p:nvPr/>
        </p:nvSpPr>
        <p:spPr>
          <a:xfrm>
            <a:off x="9967595" y="4400550"/>
            <a:ext cx="883920" cy="226219"/>
          </a:xfrm>
          <a:prstGeom prst="roundRect">
            <a:avLst>
              <a:gd name="adj" fmla="val 1684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167" name="Shape 148"/>
          <p:cNvSpPr/>
          <p:nvPr/>
        </p:nvSpPr>
        <p:spPr>
          <a:xfrm>
            <a:off x="10062845" y="4485005"/>
            <a:ext cx="57150" cy="57150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168" name="Text 149"/>
          <p:cNvSpPr/>
          <p:nvPr/>
        </p:nvSpPr>
        <p:spPr>
          <a:xfrm>
            <a:off x="10196195" y="4446905"/>
            <a:ext cx="636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788" dirty="0"/>
          </a:p>
        </p:txBody>
      </p:sp>
      <p:sp>
        <p:nvSpPr>
          <p:cNvPr id="169" name="Shape 150"/>
          <p:cNvSpPr/>
          <p:nvPr/>
        </p:nvSpPr>
        <p:spPr>
          <a:xfrm>
            <a:off x="9350375" y="474106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70" name="Text 151"/>
          <p:cNvSpPr/>
          <p:nvPr/>
        </p:nvSpPr>
        <p:spPr>
          <a:xfrm>
            <a:off x="9350375" y="4864894"/>
            <a:ext cx="1439862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171" name="Text 152"/>
          <p:cNvSpPr/>
          <p:nvPr/>
        </p:nvSpPr>
        <p:spPr>
          <a:xfrm>
            <a:off x="9350375" y="5000625"/>
            <a:ext cx="143986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406</a:t>
            </a:r>
            <a:endParaRPr lang="en-US" sz="1125" dirty="0"/>
          </a:p>
        </p:txBody>
      </p:sp>
      <p:sp>
        <p:nvSpPr>
          <p:cNvPr id="172" name="Text 153"/>
          <p:cNvSpPr/>
          <p:nvPr/>
        </p:nvSpPr>
        <p:spPr>
          <a:xfrm>
            <a:off x="10790238" y="486489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173" name="Text 154"/>
          <p:cNvSpPr/>
          <p:nvPr/>
        </p:nvSpPr>
        <p:spPr>
          <a:xfrm>
            <a:off x="10790238" y="5019675"/>
            <a:ext cx="14398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975" dirty="0"/>
          </a:p>
        </p:txBody>
      </p:sp>
      <p:sp>
        <p:nvSpPr>
          <p:cNvPr id="174" name="Text 155"/>
          <p:cNvSpPr/>
          <p:nvPr/>
        </p:nvSpPr>
        <p:spPr>
          <a:xfrm>
            <a:off x="9350375" y="5329238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175" name="Shape 156"/>
          <p:cNvSpPr/>
          <p:nvPr/>
        </p:nvSpPr>
        <p:spPr>
          <a:xfrm>
            <a:off x="2628900" y="580072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76" name="Shape 157"/>
          <p:cNvSpPr/>
          <p:nvPr/>
        </p:nvSpPr>
        <p:spPr>
          <a:xfrm>
            <a:off x="2790825" y="596265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177" name="Text 158"/>
          <p:cNvSpPr/>
          <p:nvPr/>
        </p:nvSpPr>
        <p:spPr>
          <a:xfrm>
            <a:off x="2897981" y="608203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969" dirty="0"/>
          </a:p>
        </p:txBody>
      </p:sp>
      <p:sp>
        <p:nvSpPr>
          <p:cNvPr id="178" name="Text 159"/>
          <p:cNvSpPr/>
          <p:nvPr/>
        </p:nvSpPr>
        <p:spPr>
          <a:xfrm>
            <a:off x="3267075" y="5962650"/>
            <a:ext cx="2403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Léa Fontaine</a:t>
            </a:r>
            <a:endParaRPr lang="en-US" sz="1050" dirty="0"/>
          </a:p>
        </p:txBody>
      </p:sp>
      <p:sp>
        <p:nvSpPr>
          <p:cNvPr id="179" name="Text 160"/>
          <p:cNvSpPr/>
          <p:nvPr/>
        </p:nvSpPr>
        <p:spPr>
          <a:xfrm>
            <a:off x="3267075" y="616267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lea.fontaine@nexus.dev</a:t>
            </a:r>
            <a:endParaRPr lang="en-US" sz="788" dirty="0"/>
          </a:p>
        </p:txBody>
      </p:sp>
      <p:sp>
        <p:nvSpPr>
          <p:cNvPr id="180" name="Shape 161"/>
          <p:cNvSpPr/>
          <p:nvPr/>
        </p:nvSpPr>
        <p:spPr>
          <a:xfrm>
            <a:off x="2790825" y="6447155"/>
            <a:ext cx="54102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2000"/>
            </a:srgbClr>
          </a:solidFill>
          <a:ln w="9525">
            <a:solidFill>
              <a:srgbClr val="8B97A8">
                <a:alpha val="40000"/>
              </a:srgbClr>
            </a:solidFill>
            <a:prstDash val="solid"/>
          </a:ln>
        </p:spPr>
      </p:sp>
      <p:sp>
        <p:nvSpPr>
          <p:cNvPr id="181" name="Text 162"/>
          <p:cNvSpPr/>
          <p:nvPr/>
        </p:nvSpPr>
        <p:spPr>
          <a:xfrm>
            <a:off x="2867025" y="6480493"/>
            <a:ext cx="4648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50" dirty="0"/>
          </a:p>
        </p:txBody>
      </p:sp>
      <p:sp>
        <p:nvSpPr>
          <p:cNvPr id="182" name="Shape 163"/>
          <p:cNvSpPr/>
          <p:nvPr/>
        </p:nvSpPr>
        <p:spPr>
          <a:xfrm>
            <a:off x="3408045" y="6438900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40000"/>
              </a:srgbClr>
            </a:solidFill>
            <a:prstDash val="solid"/>
          </a:ln>
        </p:spPr>
      </p:sp>
      <p:sp>
        <p:nvSpPr>
          <p:cNvPr id="183" name="Shape 164"/>
          <p:cNvSpPr/>
          <p:nvPr/>
        </p:nvSpPr>
        <p:spPr>
          <a:xfrm>
            <a:off x="3503295" y="6523355"/>
            <a:ext cx="57150" cy="57150"/>
          </a:xfrm>
          <a:prstGeom prst="ellipse">
            <a:avLst/>
          </a:prstGeom>
          <a:solidFill>
            <a:srgbClr val="8B97A8"/>
          </a:solidFill>
          <a:ln/>
        </p:spPr>
      </p:sp>
      <p:sp>
        <p:nvSpPr>
          <p:cNvPr id="184" name="Text 165"/>
          <p:cNvSpPr/>
          <p:nvPr/>
        </p:nvSpPr>
        <p:spPr>
          <a:xfrm>
            <a:off x="3636645" y="6485255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788" dirty="0"/>
          </a:p>
        </p:txBody>
      </p:sp>
      <p:sp>
        <p:nvSpPr>
          <p:cNvPr id="185" name="Shape 166"/>
          <p:cNvSpPr/>
          <p:nvPr/>
        </p:nvSpPr>
        <p:spPr>
          <a:xfrm>
            <a:off x="2790825" y="677941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86" name="Text 167"/>
          <p:cNvSpPr/>
          <p:nvPr/>
        </p:nvSpPr>
        <p:spPr>
          <a:xfrm>
            <a:off x="2790825" y="690324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187" name="Text 168"/>
          <p:cNvSpPr/>
          <p:nvPr/>
        </p:nvSpPr>
        <p:spPr>
          <a:xfrm>
            <a:off x="2790825" y="7038975"/>
            <a:ext cx="14398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453</a:t>
            </a:r>
            <a:endParaRPr lang="en-US" sz="1125" dirty="0"/>
          </a:p>
        </p:txBody>
      </p:sp>
      <p:sp>
        <p:nvSpPr>
          <p:cNvPr id="188" name="Text 169"/>
          <p:cNvSpPr/>
          <p:nvPr/>
        </p:nvSpPr>
        <p:spPr>
          <a:xfrm>
            <a:off x="4230688" y="6903244"/>
            <a:ext cx="1439862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189" name="Text 170"/>
          <p:cNvSpPr/>
          <p:nvPr/>
        </p:nvSpPr>
        <p:spPr>
          <a:xfrm>
            <a:off x="4230688" y="7058025"/>
            <a:ext cx="143986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7h ago</a:t>
            </a:r>
            <a:endParaRPr lang="en-US" sz="975" dirty="0"/>
          </a:p>
        </p:txBody>
      </p:sp>
      <p:sp>
        <p:nvSpPr>
          <p:cNvPr id="190" name="Text 171"/>
          <p:cNvSpPr/>
          <p:nvPr/>
        </p:nvSpPr>
        <p:spPr>
          <a:xfrm>
            <a:off x="2790825" y="7367587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191" name="Shape 172"/>
          <p:cNvSpPr/>
          <p:nvPr/>
        </p:nvSpPr>
        <p:spPr>
          <a:xfrm>
            <a:off x="5908675" y="580072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92" name="Shape 173"/>
          <p:cNvSpPr/>
          <p:nvPr/>
        </p:nvSpPr>
        <p:spPr>
          <a:xfrm>
            <a:off x="6070600" y="596265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93" name="Text 174"/>
          <p:cNvSpPr/>
          <p:nvPr/>
        </p:nvSpPr>
        <p:spPr>
          <a:xfrm>
            <a:off x="6177756" y="608203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969" dirty="0"/>
          </a:p>
        </p:txBody>
      </p:sp>
      <p:sp>
        <p:nvSpPr>
          <p:cNvPr id="194" name="Text 175"/>
          <p:cNvSpPr/>
          <p:nvPr/>
        </p:nvSpPr>
        <p:spPr>
          <a:xfrm>
            <a:off x="6546850" y="5976938"/>
            <a:ext cx="6232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agent-07</a:t>
            </a:r>
            <a:endParaRPr lang="en-US" sz="1050" dirty="0"/>
          </a:p>
        </p:txBody>
      </p:sp>
      <p:sp>
        <p:nvSpPr>
          <p:cNvPr id="195" name="Shape 176"/>
          <p:cNvSpPr/>
          <p:nvPr/>
        </p:nvSpPr>
        <p:spPr>
          <a:xfrm>
            <a:off x="7170102" y="5969794"/>
            <a:ext cx="433388" cy="185738"/>
          </a:xfrm>
          <a:prstGeom prst="roundRect">
            <a:avLst>
              <a:gd name="adj" fmla="val 20513"/>
            </a:avLst>
          </a:prstGeom>
          <a:ln w="9525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196" name="Text 177"/>
          <p:cNvSpPr/>
          <p:nvPr/>
        </p:nvSpPr>
        <p:spPr>
          <a:xfrm>
            <a:off x="7236777" y="5998369"/>
            <a:ext cx="37623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68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675" dirty="0"/>
          </a:p>
        </p:txBody>
      </p:sp>
      <p:sp>
        <p:nvSpPr>
          <p:cNvPr id="197" name="Text 178"/>
          <p:cNvSpPr/>
          <p:nvPr/>
        </p:nvSpPr>
        <p:spPr>
          <a:xfrm>
            <a:off x="6546850" y="616267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daemon+07@agents.nexus</a:t>
            </a:r>
            <a:endParaRPr lang="en-US" sz="788" dirty="0"/>
          </a:p>
        </p:txBody>
      </p:sp>
      <p:sp>
        <p:nvSpPr>
          <p:cNvPr id="198" name="Shape 179"/>
          <p:cNvSpPr/>
          <p:nvPr/>
        </p:nvSpPr>
        <p:spPr>
          <a:xfrm>
            <a:off x="6070600" y="6447155"/>
            <a:ext cx="54102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2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99" name="Text 180"/>
          <p:cNvSpPr/>
          <p:nvPr/>
        </p:nvSpPr>
        <p:spPr>
          <a:xfrm>
            <a:off x="6146800" y="6480493"/>
            <a:ext cx="4648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50" dirty="0"/>
          </a:p>
        </p:txBody>
      </p:sp>
      <p:sp>
        <p:nvSpPr>
          <p:cNvPr id="200" name="Shape 181"/>
          <p:cNvSpPr/>
          <p:nvPr/>
        </p:nvSpPr>
        <p:spPr>
          <a:xfrm>
            <a:off x="6687820" y="6438900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201" name="Shape 182"/>
          <p:cNvSpPr/>
          <p:nvPr/>
        </p:nvSpPr>
        <p:spPr>
          <a:xfrm>
            <a:off x="6783070" y="6523355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202" name="Text 183"/>
          <p:cNvSpPr/>
          <p:nvPr/>
        </p:nvSpPr>
        <p:spPr>
          <a:xfrm>
            <a:off x="6916420" y="6485255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203" name="Shape 184"/>
          <p:cNvSpPr/>
          <p:nvPr/>
        </p:nvSpPr>
        <p:spPr>
          <a:xfrm>
            <a:off x="6070600" y="677941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204" name="Text 185"/>
          <p:cNvSpPr/>
          <p:nvPr/>
        </p:nvSpPr>
        <p:spPr>
          <a:xfrm>
            <a:off x="6070600" y="690324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205" name="Text 186"/>
          <p:cNvSpPr/>
          <p:nvPr/>
        </p:nvSpPr>
        <p:spPr>
          <a:xfrm>
            <a:off x="6070600" y="7038975"/>
            <a:ext cx="143986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125" dirty="0"/>
          </a:p>
        </p:txBody>
      </p:sp>
      <p:sp>
        <p:nvSpPr>
          <p:cNvPr id="206" name="Text 187"/>
          <p:cNvSpPr/>
          <p:nvPr/>
        </p:nvSpPr>
        <p:spPr>
          <a:xfrm>
            <a:off x="7510462" y="690324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207" name="Text 188"/>
          <p:cNvSpPr/>
          <p:nvPr/>
        </p:nvSpPr>
        <p:spPr>
          <a:xfrm>
            <a:off x="7510462" y="7058025"/>
            <a:ext cx="14398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975" dirty="0"/>
          </a:p>
        </p:txBody>
      </p:sp>
      <p:sp>
        <p:nvSpPr>
          <p:cNvPr id="208" name="Text 189"/>
          <p:cNvSpPr/>
          <p:nvPr/>
        </p:nvSpPr>
        <p:spPr>
          <a:xfrm>
            <a:off x="6070600" y="7367587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209" name="Shape 190"/>
          <p:cNvSpPr/>
          <p:nvPr/>
        </p:nvSpPr>
        <p:spPr>
          <a:xfrm>
            <a:off x="9188450" y="5800725"/>
            <a:ext cx="3127375" cy="1885950"/>
          </a:xfrm>
          <a:prstGeom prst="roundRect">
            <a:avLst>
              <a:gd name="adj" fmla="val 606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210" name="Shape 191"/>
          <p:cNvSpPr/>
          <p:nvPr/>
        </p:nvSpPr>
        <p:spPr>
          <a:xfrm>
            <a:off x="9350375" y="5962650"/>
            <a:ext cx="361950" cy="3619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211" name="Text 192"/>
          <p:cNvSpPr/>
          <p:nvPr/>
        </p:nvSpPr>
        <p:spPr>
          <a:xfrm>
            <a:off x="9457531" y="6082030"/>
            <a:ext cx="223838" cy="161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74"/>
              </a:lnSpc>
              <a:buNone/>
            </a:pPr>
            <a:r>
              <a:rPr lang="en-US" sz="969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969" dirty="0"/>
          </a:p>
        </p:txBody>
      </p:sp>
      <p:sp>
        <p:nvSpPr>
          <p:cNvPr id="212" name="Text 193"/>
          <p:cNvSpPr/>
          <p:nvPr/>
        </p:nvSpPr>
        <p:spPr>
          <a:xfrm>
            <a:off x="9826625" y="5976938"/>
            <a:ext cx="6232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agent-11</a:t>
            </a:r>
            <a:endParaRPr lang="en-US" sz="1050" dirty="0"/>
          </a:p>
        </p:txBody>
      </p:sp>
      <p:sp>
        <p:nvSpPr>
          <p:cNvPr id="213" name="Shape 194"/>
          <p:cNvSpPr/>
          <p:nvPr/>
        </p:nvSpPr>
        <p:spPr>
          <a:xfrm>
            <a:off x="10449877" y="5969794"/>
            <a:ext cx="433388" cy="185738"/>
          </a:xfrm>
          <a:prstGeom prst="roundRect">
            <a:avLst>
              <a:gd name="adj" fmla="val 20513"/>
            </a:avLst>
          </a:prstGeom>
          <a:ln w="9525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14" name="Text 195"/>
          <p:cNvSpPr/>
          <p:nvPr/>
        </p:nvSpPr>
        <p:spPr>
          <a:xfrm>
            <a:off x="10516552" y="5998369"/>
            <a:ext cx="376238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68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675" dirty="0"/>
          </a:p>
        </p:txBody>
      </p:sp>
      <p:sp>
        <p:nvSpPr>
          <p:cNvPr id="215" name="Text 196"/>
          <p:cNvSpPr/>
          <p:nvPr/>
        </p:nvSpPr>
        <p:spPr>
          <a:xfrm>
            <a:off x="9826625" y="6162675"/>
            <a:ext cx="240347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daemon+11@agents.nexus</a:t>
            </a:r>
            <a:endParaRPr lang="en-US" sz="788" dirty="0"/>
          </a:p>
        </p:txBody>
      </p:sp>
      <p:sp>
        <p:nvSpPr>
          <p:cNvPr id="216" name="Shape 197"/>
          <p:cNvSpPr/>
          <p:nvPr/>
        </p:nvSpPr>
        <p:spPr>
          <a:xfrm>
            <a:off x="9350375" y="6447155"/>
            <a:ext cx="54102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2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217" name="Text 198"/>
          <p:cNvSpPr/>
          <p:nvPr/>
        </p:nvSpPr>
        <p:spPr>
          <a:xfrm>
            <a:off x="9426575" y="6480493"/>
            <a:ext cx="4648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50" dirty="0"/>
          </a:p>
        </p:txBody>
      </p:sp>
      <p:sp>
        <p:nvSpPr>
          <p:cNvPr id="218" name="Shape 199"/>
          <p:cNvSpPr/>
          <p:nvPr/>
        </p:nvSpPr>
        <p:spPr>
          <a:xfrm>
            <a:off x="9967595" y="6438900"/>
            <a:ext cx="813911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219" name="Shape 200"/>
          <p:cNvSpPr/>
          <p:nvPr/>
        </p:nvSpPr>
        <p:spPr>
          <a:xfrm>
            <a:off x="10062845" y="6523355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220" name="Text 201"/>
          <p:cNvSpPr/>
          <p:nvPr/>
        </p:nvSpPr>
        <p:spPr>
          <a:xfrm>
            <a:off x="10196195" y="6485255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221" name="Shape 202"/>
          <p:cNvSpPr/>
          <p:nvPr/>
        </p:nvSpPr>
        <p:spPr>
          <a:xfrm>
            <a:off x="9350375" y="6779419"/>
            <a:ext cx="280352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222" name="Text 203"/>
          <p:cNvSpPr/>
          <p:nvPr/>
        </p:nvSpPr>
        <p:spPr>
          <a:xfrm>
            <a:off x="9350375" y="6903244"/>
            <a:ext cx="1439862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13" dirty="0"/>
          </a:p>
        </p:txBody>
      </p:sp>
      <p:sp>
        <p:nvSpPr>
          <p:cNvPr id="223" name="Text 204"/>
          <p:cNvSpPr/>
          <p:nvPr/>
        </p:nvSpPr>
        <p:spPr>
          <a:xfrm>
            <a:off x="9350375" y="7038975"/>
            <a:ext cx="143986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1125" dirty="0"/>
          </a:p>
        </p:txBody>
      </p:sp>
      <p:sp>
        <p:nvSpPr>
          <p:cNvPr id="224" name="Text 205"/>
          <p:cNvSpPr/>
          <p:nvPr/>
        </p:nvSpPr>
        <p:spPr>
          <a:xfrm>
            <a:off x="10790238" y="6903244"/>
            <a:ext cx="1439863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71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13" dirty="0"/>
          </a:p>
        </p:txBody>
      </p:sp>
      <p:sp>
        <p:nvSpPr>
          <p:cNvPr id="225" name="Text 206"/>
          <p:cNvSpPr/>
          <p:nvPr/>
        </p:nvSpPr>
        <p:spPr>
          <a:xfrm>
            <a:off x="10790238" y="7058025"/>
            <a:ext cx="143986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 ago</a:t>
            </a:r>
            <a:endParaRPr lang="en-US" sz="975" dirty="0"/>
          </a:p>
        </p:txBody>
      </p:sp>
      <p:sp>
        <p:nvSpPr>
          <p:cNvPr id="226" name="Text 207"/>
          <p:cNvSpPr/>
          <p:nvPr/>
        </p:nvSpPr>
        <p:spPr>
          <a:xfrm>
            <a:off x="9350375" y="7367587"/>
            <a:ext cx="288763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timeline →</a:t>
            </a:r>
            <a:endParaRPr lang="en-US" sz="825" dirty="0"/>
          </a:p>
        </p:txBody>
      </p:sp>
      <p:sp>
        <p:nvSpPr>
          <p:cNvPr id="227" name="Shape 208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28" name="Shape 209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29" name="Shape 210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0" name="Text 211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31" name="Text 212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32" name="Text 213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33" name="Shape 214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4" name="Text 215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35" name="Text 216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36" name="Shape 217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37" name="Shape 218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8" name="Shape 219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39" name="Shape 220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40" name="Text 221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41" name="Text 222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42" name="Shape 223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43" name="Text 224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44" name="Text 225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45" name="Text 226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46" name="Shape 227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47" name="Shape 228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8" name="Shape 229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49" name="Shape 230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50" name="Text 231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51" name="Text 232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52" name="Shape 233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53" name="Text 234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54" name="Text 235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55" name="Text 236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56" name="Shape 237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57" name="Shape 238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8" name="Shape 239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59" name="Shape 240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60" name="Text 241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61" name="Text 242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262" name="Shape 243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63" name="Text 244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64" name="Text 245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265" name="Text 246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266" name="Shape 247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7" name="Shape 248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268" name="Text 249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269" name="Text 250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270" name="Shape 251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71" name="Text 252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72" name="Text 253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273" name="Text 254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274" name="Shape 255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5" name="Shape 256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76" name="Text 257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277" name="Text 258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278" name="Shape 259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79" name="Text 260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80" name="Text 261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281" name="Text 262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282" name="Shape 263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3" name="Shape 264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284" name="Text 265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285" name="Text 266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286" name="Shape 267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87" name="Text 268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88" name="Text 269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289" name="Text 270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290" name="Shape 271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91" name="Shape 272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92" name="Text 273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293" name="Text 274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294" name="Shape 275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295" name="Text 276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296" name="Text 277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297" name="Text 278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5" name="Text 15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sp>
        <p:nvSpPr>
          <p:cNvPr id="28" name="Shape 17"/>
          <p:cNvSpPr/>
          <p:nvPr/>
        </p:nvSpPr>
        <p:spPr>
          <a:xfrm>
            <a:off x="114300" y="3881438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29" name="Shape 18"/>
          <p:cNvSpPr/>
          <p:nvPr/>
        </p:nvSpPr>
        <p:spPr>
          <a:xfrm>
            <a:off x="114300" y="3957638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3622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 &amp; MEMORY BY DEVELOPER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362200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 Timeline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38200"/>
            <a:ext cx="9686925" cy="742950"/>
          </a:xfrm>
          <a:prstGeom prst="roundRect">
            <a:avLst>
              <a:gd name="adj" fmla="val 15385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2790825" y="1000125"/>
            <a:ext cx="419100" cy="4191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67" name="Text 48"/>
          <p:cNvSpPr/>
          <p:nvPr/>
        </p:nvSpPr>
        <p:spPr>
          <a:xfrm>
            <a:off x="2914809" y="1138396"/>
            <a:ext cx="247333" cy="180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45"/>
              </a:lnSpc>
              <a:buNone/>
            </a:pPr>
            <a:r>
              <a:rPr lang="en-US" sz="1122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1122" dirty="0"/>
          </a:p>
        </p:txBody>
      </p:sp>
      <p:sp>
        <p:nvSpPr>
          <p:cNvPr id="68" name="Text 49"/>
          <p:cNvSpPr/>
          <p:nvPr/>
        </p:nvSpPr>
        <p:spPr>
          <a:xfrm>
            <a:off x="3362325" y="1035844"/>
            <a:ext cx="838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1200" dirty="0"/>
          </a:p>
        </p:txBody>
      </p:sp>
      <p:sp>
        <p:nvSpPr>
          <p:cNvPr id="69" name="Shape 50"/>
          <p:cNvSpPr/>
          <p:nvPr/>
        </p:nvSpPr>
        <p:spPr>
          <a:xfrm>
            <a:off x="4220051" y="1026319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70" name="Text 51"/>
          <p:cNvSpPr/>
          <p:nvPr/>
        </p:nvSpPr>
        <p:spPr>
          <a:xfrm>
            <a:off x="4296251" y="1059656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71" name="Text 52"/>
          <p:cNvSpPr/>
          <p:nvPr/>
        </p:nvSpPr>
        <p:spPr>
          <a:xfrm>
            <a:off x="3362325" y="1245394"/>
            <a:ext cx="20250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a.okafor·ada.okafor@nexus.dev</a:t>
            </a:r>
            <a:endParaRPr lang="en-US" sz="825" dirty="0"/>
          </a:p>
        </p:txBody>
      </p:sp>
      <p:sp>
        <p:nvSpPr>
          <p:cNvPr id="72" name="Shape 53"/>
          <p:cNvSpPr/>
          <p:nvPr/>
        </p:nvSpPr>
        <p:spPr>
          <a:xfrm>
            <a:off x="10891679" y="1019175"/>
            <a:ext cx="1262221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3" name="Text 54"/>
          <p:cNvSpPr/>
          <p:nvPr/>
        </p:nvSpPr>
        <p:spPr>
          <a:xfrm>
            <a:off x="11987054" y="1131094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74" name="Shape 55"/>
          <p:cNvSpPr/>
          <p:nvPr/>
        </p:nvSpPr>
        <p:spPr>
          <a:xfrm>
            <a:off x="2705100" y="1795463"/>
            <a:ext cx="114300" cy="123825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75" name="Text 56"/>
          <p:cNvSpPr/>
          <p:nvPr/>
        </p:nvSpPr>
        <p:spPr>
          <a:xfrm>
            <a:off x="2933700" y="1771650"/>
            <a:ext cx="8985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05 JUN</a:t>
            </a:r>
            <a:endParaRPr lang="en-US" sz="900" dirty="0"/>
          </a:p>
        </p:txBody>
      </p:sp>
      <p:sp>
        <p:nvSpPr>
          <p:cNvPr id="76" name="Text 57"/>
          <p:cNvSpPr/>
          <p:nvPr/>
        </p:nvSpPr>
        <p:spPr>
          <a:xfrm>
            <a:off x="3870325" y="1782286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·2 memories</a:t>
            </a:r>
            <a:endParaRPr lang="en-US" sz="788" dirty="0"/>
          </a:p>
        </p:txBody>
      </p:sp>
      <p:sp>
        <p:nvSpPr>
          <p:cNvPr id="77" name="Shape 58"/>
          <p:cNvSpPr/>
          <p:nvPr/>
        </p:nvSpPr>
        <p:spPr>
          <a:xfrm>
            <a:off x="5184775" y="1852612"/>
            <a:ext cx="7131050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8" name="Shape 59"/>
          <p:cNvSpPr/>
          <p:nvPr/>
        </p:nvSpPr>
        <p:spPr>
          <a:xfrm>
            <a:off x="2752725" y="2095500"/>
            <a:ext cx="9525" cy="704850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79" name="Shape 60"/>
          <p:cNvSpPr/>
          <p:nvPr/>
        </p:nvSpPr>
        <p:spPr>
          <a:xfrm>
            <a:off x="2928938" y="2190750"/>
            <a:ext cx="76200" cy="76200"/>
          </a:xfrm>
          <a:prstGeom prst="ellipse">
            <a:avLst/>
          </a:prstGeom>
          <a:solidFill>
            <a:srgbClr val="3B82E8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80" name="Text 61"/>
          <p:cNvSpPr/>
          <p:nvPr/>
        </p:nvSpPr>
        <p:spPr>
          <a:xfrm>
            <a:off x="3105150" y="2159794"/>
            <a:ext cx="5334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16:39</a:t>
            </a:r>
            <a:endParaRPr lang="en-US" sz="825" dirty="0"/>
          </a:p>
        </p:txBody>
      </p:sp>
      <p:sp>
        <p:nvSpPr>
          <p:cNvPr id="81" name="Text 62"/>
          <p:cNvSpPr/>
          <p:nvPr/>
        </p:nvSpPr>
        <p:spPr>
          <a:xfrm>
            <a:off x="3676650" y="2145506"/>
            <a:ext cx="676941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75" dirty="0"/>
          </a:p>
        </p:txBody>
      </p:sp>
      <p:sp>
        <p:nvSpPr>
          <p:cNvPr id="82" name="Text 63"/>
          <p:cNvSpPr/>
          <p:nvPr/>
        </p:nvSpPr>
        <p:spPr>
          <a:xfrm>
            <a:off x="10363200" y="2159794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83" name="Shape 64"/>
          <p:cNvSpPr/>
          <p:nvPr/>
        </p:nvSpPr>
        <p:spPr>
          <a:xfrm>
            <a:off x="11294745" y="213360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84" name="Text 65"/>
          <p:cNvSpPr/>
          <p:nvPr/>
        </p:nvSpPr>
        <p:spPr>
          <a:xfrm>
            <a:off x="11370945" y="216693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85" name="Shape 66"/>
          <p:cNvSpPr/>
          <p:nvPr/>
        </p:nvSpPr>
        <p:spPr>
          <a:xfrm>
            <a:off x="2928938" y="2609850"/>
            <a:ext cx="76200" cy="762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86" name="Text 67"/>
          <p:cNvSpPr/>
          <p:nvPr/>
        </p:nvSpPr>
        <p:spPr>
          <a:xfrm>
            <a:off x="3105150" y="2578894"/>
            <a:ext cx="5334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12:24</a:t>
            </a:r>
            <a:endParaRPr lang="en-US" sz="825" dirty="0"/>
          </a:p>
        </p:txBody>
      </p:sp>
      <p:sp>
        <p:nvSpPr>
          <p:cNvPr id="87" name="Text 68"/>
          <p:cNvSpPr/>
          <p:nvPr/>
        </p:nvSpPr>
        <p:spPr>
          <a:xfrm>
            <a:off x="3676650" y="2564606"/>
            <a:ext cx="70284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 resolve last-writer-wins, never silent drop</a:t>
            </a:r>
            <a:endParaRPr lang="en-US" sz="975" dirty="0"/>
          </a:p>
        </p:txBody>
      </p:sp>
      <p:sp>
        <p:nvSpPr>
          <p:cNvPr id="88" name="Text 69"/>
          <p:cNvSpPr/>
          <p:nvPr/>
        </p:nvSpPr>
        <p:spPr>
          <a:xfrm>
            <a:off x="10614660" y="2578894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89" name="Shape 70"/>
          <p:cNvSpPr/>
          <p:nvPr/>
        </p:nvSpPr>
        <p:spPr>
          <a:xfrm>
            <a:off x="11546205" y="2552700"/>
            <a:ext cx="65532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34000"/>
              </a:srgbClr>
            </a:solidFill>
            <a:prstDash val="solid"/>
          </a:ln>
        </p:spPr>
      </p:sp>
      <p:sp>
        <p:nvSpPr>
          <p:cNvPr id="90" name="Text 71"/>
          <p:cNvSpPr/>
          <p:nvPr/>
        </p:nvSpPr>
        <p:spPr>
          <a:xfrm>
            <a:off x="11622405" y="2586038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750" dirty="0"/>
          </a:p>
        </p:txBody>
      </p:sp>
      <p:sp>
        <p:nvSpPr>
          <p:cNvPr id="91" name="Shape 72"/>
          <p:cNvSpPr/>
          <p:nvPr/>
        </p:nvSpPr>
        <p:spPr>
          <a:xfrm>
            <a:off x="2705100" y="3128963"/>
            <a:ext cx="114300" cy="123825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92" name="Text 73"/>
          <p:cNvSpPr/>
          <p:nvPr/>
        </p:nvSpPr>
        <p:spPr>
          <a:xfrm>
            <a:off x="2933700" y="3105150"/>
            <a:ext cx="89852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spc="108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29 MAY</a:t>
            </a:r>
            <a:endParaRPr lang="en-US" sz="900" dirty="0"/>
          </a:p>
        </p:txBody>
      </p:sp>
      <p:sp>
        <p:nvSpPr>
          <p:cNvPr id="93" name="Text 74"/>
          <p:cNvSpPr/>
          <p:nvPr/>
        </p:nvSpPr>
        <p:spPr>
          <a:xfrm>
            <a:off x="3870325" y="3115786"/>
            <a:ext cx="115633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·1 memory</a:t>
            </a:r>
            <a:endParaRPr lang="en-US" sz="788" dirty="0"/>
          </a:p>
        </p:txBody>
      </p:sp>
      <p:sp>
        <p:nvSpPr>
          <p:cNvPr id="94" name="Shape 75"/>
          <p:cNvSpPr/>
          <p:nvPr/>
        </p:nvSpPr>
        <p:spPr>
          <a:xfrm>
            <a:off x="5064760" y="3186113"/>
            <a:ext cx="725106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95" name="Shape 76"/>
          <p:cNvSpPr/>
          <p:nvPr/>
        </p:nvSpPr>
        <p:spPr>
          <a:xfrm>
            <a:off x="2752725" y="3429000"/>
            <a:ext cx="9525" cy="285750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96" name="Shape 77"/>
          <p:cNvSpPr/>
          <p:nvPr/>
        </p:nvSpPr>
        <p:spPr>
          <a:xfrm>
            <a:off x="2928938" y="3524250"/>
            <a:ext cx="76200" cy="76200"/>
          </a:xfrm>
          <a:prstGeom prst="ellipse">
            <a:avLst/>
          </a:prstGeom>
          <a:solidFill>
            <a:srgbClr val="A78BFA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97" name="Text 78"/>
          <p:cNvSpPr/>
          <p:nvPr/>
        </p:nvSpPr>
        <p:spPr>
          <a:xfrm>
            <a:off x="3105150" y="3493294"/>
            <a:ext cx="5334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12:22</a:t>
            </a:r>
            <a:endParaRPr lang="en-US" sz="825" dirty="0"/>
          </a:p>
        </p:txBody>
      </p:sp>
      <p:sp>
        <p:nvSpPr>
          <p:cNvPr id="98" name="Text 79"/>
          <p:cNvSpPr/>
          <p:nvPr/>
        </p:nvSpPr>
        <p:spPr>
          <a:xfrm>
            <a:off x="3676650" y="3479006"/>
            <a:ext cx="709317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memory carries an originating session id</a:t>
            </a:r>
            <a:endParaRPr lang="en-US" sz="975" dirty="0"/>
          </a:p>
        </p:txBody>
      </p:sp>
      <p:sp>
        <p:nvSpPr>
          <p:cNvPr id="99" name="Text 80"/>
          <p:cNvSpPr/>
          <p:nvPr/>
        </p:nvSpPr>
        <p:spPr>
          <a:xfrm>
            <a:off x="10677525" y="3493294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100" name="Shape 81"/>
          <p:cNvSpPr/>
          <p:nvPr/>
        </p:nvSpPr>
        <p:spPr>
          <a:xfrm>
            <a:off x="11609070" y="3467100"/>
            <a:ext cx="592455" cy="20955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9525">
            <a:solidFill>
              <a:srgbClr val="A78BFA">
                <a:alpha val="34000"/>
              </a:srgbClr>
            </a:solidFill>
            <a:prstDash val="solid"/>
          </a:ln>
        </p:spPr>
      </p:sp>
      <p:sp>
        <p:nvSpPr>
          <p:cNvPr id="101" name="Text 82"/>
          <p:cNvSpPr/>
          <p:nvPr/>
        </p:nvSpPr>
        <p:spPr>
          <a:xfrm>
            <a:off x="11685270" y="3500438"/>
            <a:ext cx="5162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750" dirty="0"/>
          </a:p>
        </p:txBody>
      </p:sp>
      <p:sp>
        <p:nvSpPr>
          <p:cNvPr id="102" name="Shape 83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103" name="Shape 84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104" name="Shape 85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05" name="Text 86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106" name="Text 87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107" name="Text 88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108" name="Shape 89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09" name="Text 90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110" name="Text 91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111" name="Shape 92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112" name="Shape 93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3" name="Shape 94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114" name="Shape 95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15" name="Text 96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116" name="Text 97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117" name="Shape 98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18" name="Text 99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9" name="Text 100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120" name="Text 101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121" name="Shape 102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122" name="Shape 103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23" name="Shape 104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124" name="Shape 105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25" name="Text 106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126" name="Text 107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127" name="Shape 108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28" name="Text 109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29" name="Text 110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130" name="Text 111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131" name="Shape 112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132" name="Shape 113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33" name="Shape 114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134" name="Shape 115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35" name="Text 116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136" name="Text 117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137" name="Shape 118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38" name="Text 119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39" name="Text 120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140" name="Text 121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141" name="Shape 122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42" name="Shape 123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143" name="Text 124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144" name="Text 125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145" name="Shape 126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46" name="Text 127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47" name="Text 128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148" name="Text 129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149" name="Shape 130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50" name="Shape 131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51" name="Text 132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152" name="Text 133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153" name="Shape 134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154" name="Text 135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155" name="Text 136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156" name="Text 137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157" name="Shape 138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58" name="Shape 139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159" name="Text 140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160" name="Text 141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161" name="Shape 142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162" name="Text 143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63" name="Text 144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164" name="Text 145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165" name="Shape 146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66" name="Shape 147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67" name="Text 148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168" name="Text 149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169" name="Shape 150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170" name="Text 151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171" name="Text 152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172" name="Text 153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5" name="Text 15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sp>
        <p:nvSpPr>
          <p:cNvPr id="30" name="Shape 18"/>
          <p:cNvSpPr/>
          <p:nvPr/>
        </p:nvSpPr>
        <p:spPr>
          <a:xfrm>
            <a:off x="114300" y="4243388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31" name="Shape 19"/>
          <p:cNvSpPr/>
          <p:nvPr/>
        </p:nvSpPr>
        <p:spPr>
          <a:xfrm>
            <a:off x="114300" y="4319588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4" name="Text 21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2860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 HEALTH ACROSS THE TEAM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286000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Status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382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2790825" y="1009650"/>
            <a:ext cx="76200" cy="85725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67" name="Text 48"/>
          <p:cNvSpPr/>
          <p:nvPr/>
        </p:nvSpPr>
        <p:spPr>
          <a:xfrm>
            <a:off x="2943225" y="981075"/>
            <a:ext cx="111918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DAEMONS</a:t>
            </a:r>
            <a:endParaRPr lang="en-US" sz="750" dirty="0"/>
          </a:p>
        </p:txBody>
      </p:sp>
      <p:sp>
        <p:nvSpPr>
          <p:cNvPr id="68" name="Text 49"/>
          <p:cNvSpPr/>
          <p:nvPr/>
        </p:nvSpPr>
        <p:spPr>
          <a:xfrm>
            <a:off x="2790825" y="12001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69" name="Text 50"/>
          <p:cNvSpPr/>
          <p:nvPr/>
        </p:nvSpPr>
        <p:spPr>
          <a:xfrm>
            <a:off x="2985135" y="1271588"/>
            <a:ext cx="2819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9</a:t>
            </a:r>
            <a:endParaRPr lang="en-US" sz="900" dirty="0"/>
          </a:p>
        </p:txBody>
      </p:sp>
      <p:sp>
        <p:nvSpPr>
          <p:cNvPr id="70" name="Text 51"/>
          <p:cNvSpPr/>
          <p:nvPr/>
        </p:nvSpPr>
        <p:spPr>
          <a:xfrm>
            <a:off x="2790825" y="1519238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syncing on schedule</a:t>
            </a:r>
            <a:endParaRPr lang="en-US" sz="825" dirty="0"/>
          </a:p>
        </p:txBody>
      </p:sp>
      <p:sp>
        <p:nvSpPr>
          <p:cNvPr id="71" name="Shape 52"/>
          <p:cNvSpPr/>
          <p:nvPr/>
        </p:nvSpPr>
        <p:spPr>
          <a:xfrm>
            <a:off x="5088731" y="8382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2" name="Shape 53"/>
          <p:cNvSpPr/>
          <p:nvPr/>
        </p:nvSpPr>
        <p:spPr>
          <a:xfrm>
            <a:off x="5250656" y="1009650"/>
            <a:ext cx="76200" cy="85725"/>
          </a:xfrm>
          <a:prstGeom prst="rect">
            <a:avLst/>
          </a:prstGeom>
          <a:solidFill>
            <a:srgbClr val="E0A22E"/>
          </a:solidFill>
          <a:ln/>
        </p:spPr>
      </p:sp>
      <p:sp>
        <p:nvSpPr>
          <p:cNvPr id="73" name="Text 54"/>
          <p:cNvSpPr/>
          <p:nvPr/>
        </p:nvSpPr>
        <p:spPr>
          <a:xfrm>
            <a:off x="5403056" y="981075"/>
            <a:ext cx="63246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5250656" y="12001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75" name="Text 56"/>
          <p:cNvSpPr/>
          <p:nvPr/>
        </p:nvSpPr>
        <p:spPr>
          <a:xfrm>
            <a:off x="5250656" y="1504950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backoff / retrying</a:t>
            </a:r>
            <a:endParaRPr lang="en-US" sz="825" dirty="0"/>
          </a:p>
        </p:txBody>
      </p:sp>
      <p:sp>
        <p:nvSpPr>
          <p:cNvPr id="76" name="Shape 57"/>
          <p:cNvSpPr/>
          <p:nvPr/>
        </p:nvSpPr>
        <p:spPr>
          <a:xfrm>
            <a:off x="7548563" y="8382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7" name="Shape 58"/>
          <p:cNvSpPr/>
          <p:nvPr/>
        </p:nvSpPr>
        <p:spPr>
          <a:xfrm>
            <a:off x="7710487" y="1009650"/>
            <a:ext cx="76200" cy="85725"/>
          </a:xfrm>
          <a:prstGeom prst="rect">
            <a:avLst/>
          </a:prstGeom>
          <a:solidFill>
            <a:srgbClr val="8B97A8"/>
          </a:solidFill>
          <a:ln/>
        </p:spPr>
      </p:sp>
      <p:sp>
        <p:nvSpPr>
          <p:cNvPr id="78" name="Text 59"/>
          <p:cNvSpPr/>
          <p:nvPr/>
        </p:nvSpPr>
        <p:spPr>
          <a:xfrm>
            <a:off x="7862888" y="981075"/>
            <a:ext cx="5629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750" dirty="0"/>
          </a:p>
        </p:txBody>
      </p:sp>
      <p:sp>
        <p:nvSpPr>
          <p:cNvPr id="79" name="Text 60"/>
          <p:cNvSpPr/>
          <p:nvPr/>
        </p:nvSpPr>
        <p:spPr>
          <a:xfrm>
            <a:off x="7710487" y="12001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0" name="Text 61"/>
          <p:cNvSpPr/>
          <p:nvPr/>
        </p:nvSpPr>
        <p:spPr>
          <a:xfrm>
            <a:off x="7710487" y="1504950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recent successful sync</a:t>
            </a:r>
            <a:endParaRPr lang="en-US" sz="825" dirty="0"/>
          </a:p>
        </p:txBody>
      </p:sp>
      <p:sp>
        <p:nvSpPr>
          <p:cNvPr id="81" name="Shape 62"/>
          <p:cNvSpPr/>
          <p:nvPr/>
        </p:nvSpPr>
        <p:spPr>
          <a:xfrm>
            <a:off x="10008394" y="8382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82" name="Shape 63"/>
          <p:cNvSpPr/>
          <p:nvPr/>
        </p:nvSpPr>
        <p:spPr>
          <a:xfrm>
            <a:off x="10170319" y="1009650"/>
            <a:ext cx="76200" cy="85725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83" name="Text 64"/>
          <p:cNvSpPr/>
          <p:nvPr/>
        </p:nvSpPr>
        <p:spPr>
          <a:xfrm>
            <a:off x="10322719" y="981075"/>
            <a:ext cx="98012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SYNC RATE</a:t>
            </a:r>
            <a:endParaRPr lang="en-US" sz="750" dirty="0"/>
          </a:p>
        </p:txBody>
      </p:sp>
      <p:sp>
        <p:nvSpPr>
          <p:cNvPr id="84" name="Text 65"/>
          <p:cNvSpPr/>
          <p:nvPr/>
        </p:nvSpPr>
        <p:spPr>
          <a:xfrm>
            <a:off x="10170319" y="12001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800" dirty="0"/>
          </a:p>
        </p:txBody>
      </p:sp>
      <p:sp>
        <p:nvSpPr>
          <p:cNvPr id="85" name="Text 66"/>
          <p:cNvSpPr/>
          <p:nvPr/>
        </p:nvSpPr>
        <p:spPr>
          <a:xfrm>
            <a:off x="10364629" y="1271588"/>
            <a:ext cx="3505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/min</a:t>
            </a:r>
            <a:endParaRPr lang="en-US" sz="900" dirty="0"/>
          </a:p>
        </p:txBody>
      </p:sp>
      <p:sp>
        <p:nvSpPr>
          <p:cNvPr id="86" name="Text 67"/>
          <p:cNvSpPr/>
          <p:nvPr/>
        </p:nvSpPr>
        <p:spPr>
          <a:xfrm>
            <a:off x="10170319" y="1519238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active daemons</a:t>
            </a:r>
            <a:endParaRPr lang="en-US" sz="825" dirty="0"/>
          </a:p>
        </p:txBody>
      </p:sp>
      <p:sp>
        <p:nvSpPr>
          <p:cNvPr id="87" name="Shape 68"/>
          <p:cNvSpPr/>
          <p:nvPr/>
        </p:nvSpPr>
        <p:spPr>
          <a:xfrm>
            <a:off x="2628900" y="2009775"/>
            <a:ext cx="9686925" cy="6386513"/>
          </a:xfrm>
          <a:prstGeom prst="roundRect">
            <a:avLst>
              <a:gd name="adj" fmla="val 179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88" name="Shape 69"/>
          <p:cNvSpPr/>
          <p:nvPr/>
        </p:nvSpPr>
        <p:spPr>
          <a:xfrm>
            <a:off x="2638425" y="2557463"/>
            <a:ext cx="966787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89" name="Text 70"/>
          <p:cNvSpPr/>
          <p:nvPr/>
        </p:nvSpPr>
        <p:spPr>
          <a:xfrm>
            <a:off x="2790825" y="2209800"/>
            <a:ext cx="20904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 HEALTH BY DEVELOPER</a:t>
            </a:r>
            <a:endParaRPr lang="en-US" sz="825" dirty="0"/>
          </a:p>
        </p:txBody>
      </p:sp>
      <p:sp>
        <p:nvSpPr>
          <p:cNvPr id="90" name="Shape 71"/>
          <p:cNvSpPr/>
          <p:nvPr/>
        </p:nvSpPr>
        <p:spPr>
          <a:xfrm>
            <a:off x="9237662" y="2133600"/>
            <a:ext cx="458153" cy="309563"/>
          </a:xfrm>
          <a:prstGeom prst="roundRect">
            <a:avLst>
              <a:gd name="adj" fmla="val 18462"/>
            </a:avLst>
          </a:prstGeom>
          <a:solidFill>
            <a:srgbClr val="E0246F">
              <a:alpha val="13000"/>
            </a:srgbClr>
          </a:solidFill>
          <a:ln w="9525">
            <a:solidFill>
              <a:srgbClr val="E0246F">
                <a:alpha val="55000"/>
              </a:srgbClr>
            </a:solidFill>
            <a:prstDash val="solid"/>
          </a:ln>
        </p:spPr>
      </p:sp>
      <p:sp>
        <p:nvSpPr>
          <p:cNvPr id="91" name="Text 72"/>
          <p:cNvSpPr/>
          <p:nvPr/>
        </p:nvSpPr>
        <p:spPr>
          <a:xfrm>
            <a:off x="9323387" y="2209800"/>
            <a:ext cx="28670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825" dirty="0"/>
          </a:p>
        </p:txBody>
      </p:sp>
      <p:sp>
        <p:nvSpPr>
          <p:cNvPr id="92" name="Shape 73"/>
          <p:cNvSpPr/>
          <p:nvPr/>
        </p:nvSpPr>
        <p:spPr>
          <a:xfrm>
            <a:off x="9752965" y="2133600"/>
            <a:ext cx="738822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93" name="Text 74"/>
          <p:cNvSpPr/>
          <p:nvPr/>
        </p:nvSpPr>
        <p:spPr>
          <a:xfrm>
            <a:off x="9838690" y="2209800"/>
            <a:ext cx="56737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825" dirty="0"/>
          </a:p>
        </p:txBody>
      </p:sp>
      <p:sp>
        <p:nvSpPr>
          <p:cNvPr id="94" name="Shape 75"/>
          <p:cNvSpPr/>
          <p:nvPr/>
        </p:nvSpPr>
        <p:spPr>
          <a:xfrm>
            <a:off x="10548938" y="2133600"/>
            <a:ext cx="808990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95" name="Text 76"/>
          <p:cNvSpPr/>
          <p:nvPr/>
        </p:nvSpPr>
        <p:spPr>
          <a:xfrm>
            <a:off x="10634663" y="2209800"/>
            <a:ext cx="6375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825" dirty="0"/>
          </a:p>
        </p:txBody>
      </p:sp>
      <p:sp>
        <p:nvSpPr>
          <p:cNvPr id="96" name="Shape 77"/>
          <p:cNvSpPr/>
          <p:nvPr/>
        </p:nvSpPr>
        <p:spPr>
          <a:xfrm>
            <a:off x="11415078" y="2133600"/>
            <a:ext cx="738822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97" name="Text 78"/>
          <p:cNvSpPr/>
          <p:nvPr/>
        </p:nvSpPr>
        <p:spPr>
          <a:xfrm>
            <a:off x="11500803" y="2209800"/>
            <a:ext cx="56737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825" dirty="0"/>
          </a:p>
        </p:txBody>
      </p:sp>
      <p:sp>
        <p:nvSpPr>
          <p:cNvPr id="98" name="Shape 79"/>
          <p:cNvSpPr/>
          <p:nvPr/>
        </p:nvSpPr>
        <p:spPr>
          <a:xfrm>
            <a:off x="2638425" y="2900363"/>
            <a:ext cx="966787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99" name="Text 80"/>
          <p:cNvSpPr/>
          <p:nvPr/>
        </p:nvSpPr>
        <p:spPr>
          <a:xfrm>
            <a:off x="3152775" y="266223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</a:t>
            </a:r>
            <a:endParaRPr lang="en-US" sz="750" dirty="0"/>
          </a:p>
        </p:txBody>
      </p:sp>
      <p:sp>
        <p:nvSpPr>
          <p:cNvPr id="100" name="Text 81"/>
          <p:cNvSpPr/>
          <p:nvPr/>
        </p:nvSpPr>
        <p:spPr>
          <a:xfrm>
            <a:off x="6076950" y="2662238"/>
            <a:ext cx="1314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750" dirty="0"/>
          </a:p>
        </p:txBody>
      </p:sp>
      <p:sp>
        <p:nvSpPr>
          <p:cNvPr id="101" name="Text 82"/>
          <p:cNvSpPr/>
          <p:nvPr/>
        </p:nvSpPr>
        <p:spPr>
          <a:xfrm>
            <a:off x="7429500" y="2662238"/>
            <a:ext cx="12192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</a:t>
            </a:r>
            <a:endParaRPr lang="en-US" sz="750" dirty="0"/>
          </a:p>
        </p:txBody>
      </p:sp>
      <p:sp>
        <p:nvSpPr>
          <p:cNvPr id="102" name="Text 83"/>
          <p:cNvSpPr/>
          <p:nvPr/>
        </p:nvSpPr>
        <p:spPr>
          <a:xfrm>
            <a:off x="8686800" y="2662238"/>
            <a:ext cx="12192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103" name="Text 84"/>
          <p:cNvSpPr/>
          <p:nvPr/>
        </p:nvSpPr>
        <p:spPr>
          <a:xfrm>
            <a:off x="9944100" y="2662238"/>
            <a:ext cx="1314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CONSECUTIVE FAILS</a:t>
            </a:r>
            <a:endParaRPr lang="en-US" sz="750" dirty="0"/>
          </a:p>
        </p:txBody>
      </p:sp>
      <p:sp>
        <p:nvSpPr>
          <p:cNvPr id="104" name="Text 85"/>
          <p:cNvSpPr/>
          <p:nvPr/>
        </p:nvSpPr>
        <p:spPr>
          <a:xfrm>
            <a:off x="11296650" y="2662238"/>
            <a:ext cx="93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</a:t>
            </a:r>
            <a:endParaRPr lang="en-US" sz="750" dirty="0"/>
          </a:p>
        </p:txBody>
      </p:sp>
      <p:sp>
        <p:nvSpPr>
          <p:cNvPr id="105" name="Shape 86"/>
          <p:cNvSpPr/>
          <p:nvPr/>
        </p:nvSpPr>
        <p:spPr>
          <a:xfrm>
            <a:off x="2638425" y="350996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06" name="Shape 87"/>
          <p:cNvSpPr/>
          <p:nvPr/>
        </p:nvSpPr>
        <p:spPr>
          <a:xfrm>
            <a:off x="2790825" y="30861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107" name="Text 88"/>
          <p:cNvSpPr/>
          <p:nvPr/>
        </p:nvSpPr>
        <p:spPr>
          <a:xfrm>
            <a:off x="2864168" y="31678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663" dirty="0"/>
          </a:p>
        </p:txBody>
      </p:sp>
      <p:sp>
        <p:nvSpPr>
          <p:cNvPr id="108" name="Text 89"/>
          <p:cNvSpPr/>
          <p:nvPr/>
        </p:nvSpPr>
        <p:spPr>
          <a:xfrm>
            <a:off x="3152775" y="3063557"/>
            <a:ext cx="6477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938" dirty="0"/>
          </a:p>
        </p:txBody>
      </p:sp>
      <p:sp>
        <p:nvSpPr>
          <p:cNvPr id="109" name="Text 90"/>
          <p:cNvSpPr/>
          <p:nvPr/>
        </p:nvSpPr>
        <p:spPr>
          <a:xfrm>
            <a:off x="3152775" y="325278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50" dirty="0"/>
          </a:p>
        </p:txBody>
      </p:sp>
      <p:sp>
        <p:nvSpPr>
          <p:cNvPr id="110" name="Text 91"/>
          <p:cNvSpPr/>
          <p:nvPr/>
        </p:nvSpPr>
        <p:spPr>
          <a:xfrm>
            <a:off x="6076950" y="31242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900" dirty="0"/>
          </a:p>
        </p:txBody>
      </p:sp>
      <p:sp>
        <p:nvSpPr>
          <p:cNvPr id="111" name="Shape 92"/>
          <p:cNvSpPr/>
          <p:nvPr/>
        </p:nvSpPr>
        <p:spPr>
          <a:xfrm>
            <a:off x="7429500" y="3096736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12" name="Shape 93"/>
          <p:cNvSpPr/>
          <p:nvPr/>
        </p:nvSpPr>
        <p:spPr>
          <a:xfrm>
            <a:off x="7524750" y="3181191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13" name="Shape 94"/>
          <p:cNvSpPr/>
          <p:nvPr/>
        </p:nvSpPr>
        <p:spPr>
          <a:xfrm>
            <a:off x="7496175" y="3152616"/>
            <a:ext cx="114300" cy="114300"/>
          </a:xfrm>
          <a:prstGeom prst="ellipse">
            <a:avLst/>
          </a:prstGeom>
          <a:ln w="9525">
            <a:solidFill>
              <a:srgbClr val="22B85C">
                <a:alpha val="81000"/>
              </a:srgbClr>
            </a:solidFill>
            <a:prstDash val="solid"/>
          </a:ln>
        </p:spPr>
      </p:sp>
      <p:sp>
        <p:nvSpPr>
          <p:cNvPr id="114" name="Text 95"/>
          <p:cNvSpPr/>
          <p:nvPr/>
        </p:nvSpPr>
        <p:spPr>
          <a:xfrm>
            <a:off x="7658100" y="314309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115" name="Text 96"/>
          <p:cNvSpPr/>
          <p:nvPr/>
        </p:nvSpPr>
        <p:spPr>
          <a:xfrm>
            <a:off x="8686800" y="31276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 ago</a:t>
            </a:r>
            <a:endParaRPr lang="en-US" sz="863" dirty="0"/>
          </a:p>
        </p:txBody>
      </p:sp>
      <p:sp>
        <p:nvSpPr>
          <p:cNvPr id="116" name="Text 97"/>
          <p:cNvSpPr/>
          <p:nvPr/>
        </p:nvSpPr>
        <p:spPr>
          <a:xfrm>
            <a:off x="9944100" y="31242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· clean</a:t>
            </a:r>
            <a:endParaRPr lang="en-US" sz="900" dirty="0"/>
          </a:p>
        </p:txBody>
      </p:sp>
      <p:sp>
        <p:nvSpPr>
          <p:cNvPr id="117" name="Text 98"/>
          <p:cNvSpPr/>
          <p:nvPr/>
        </p:nvSpPr>
        <p:spPr>
          <a:xfrm>
            <a:off x="11296650" y="31242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16/min</a:t>
            </a:r>
            <a:endParaRPr lang="en-US" sz="900" dirty="0"/>
          </a:p>
        </p:txBody>
      </p:sp>
      <p:sp>
        <p:nvSpPr>
          <p:cNvPr id="118" name="Shape 99"/>
          <p:cNvSpPr/>
          <p:nvPr/>
        </p:nvSpPr>
        <p:spPr>
          <a:xfrm>
            <a:off x="2638425" y="4119562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9" name="Shape 100"/>
          <p:cNvSpPr/>
          <p:nvPr/>
        </p:nvSpPr>
        <p:spPr>
          <a:xfrm>
            <a:off x="2790825" y="36957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120" name="Text 101"/>
          <p:cNvSpPr/>
          <p:nvPr/>
        </p:nvSpPr>
        <p:spPr>
          <a:xfrm>
            <a:off x="2864168" y="37774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663" dirty="0"/>
          </a:p>
        </p:txBody>
      </p:sp>
      <p:sp>
        <p:nvSpPr>
          <p:cNvPr id="121" name="Text 102"/>
          <p:cNvSpPr/>
          <p:nvPr/>
        </p:nvSpPr>
        <p:spPr>
          <a:xfrm>
            <a:off x="3152775" y="3673157"/>
            <a:ext cx="86201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938" dirty="0"/>
          </a:p>
        </p:txBody>
      </p:sp>
      <p:sp>
        <p:nvSpPr>
          <p:cNvPr id="122" name="Text 103"/>
          <p:cNvSpPr/>
          <p:nvPr/>
        </p:nvSpPr>
        <p:spPr>
          <a:xfrm>
            <a:off x="3152775" y="3862387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50" dirty="0"/>
          </a:p>
        </p:txBody>
      </p:sp>
      <p:sp>
        <p:nvSpPr>
          <p:cNvPr id="123" name="Text 104"/>
          <p:cNvSpPr/>
          <p:nvPr/>
        </p:nvSpPr>
        <p:spPr>
          <a:xfrm>
            <a:off x="6076950" y="37338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900" dirty="0"/>
          </a:p>
        </p:txBody>
      </p:sp>
      <p:sp>
        <p:nvSpPr>
          <p:cNvPr id="124" name="Shape 105"/>
          <p:cNvSpPr/>
          <p:nvPr/>
        </p:nvSpPr>
        <p:spPr>
          <a:xfrm>
            <a:off x="7429500" y="3706336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25" name="Shape 106"/>
          <p:cNvSpPr/>
          <p:nvPr/>
        </p:nvSpPr>
        <p:spPr>
          <a:xfrm>
            <a:off x="7524750" y="3790791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26" name="Shape 107"/>
          <p:cNvSpPr/>
          <p:nvPr/>
        </p:nvSpPr>
        <p:spPr>
          <a:xfrm>
            <a:off x="7496175" y="3762216"/>
            <a:ext cx="114300" cy="114300"/>
          </a:xfrm>
          <a:prstGeom prst="ellipse">
            <a:avLst/>
          </a:prstGeom>
          <a:ln w="9525">
            <a:solidFill>
              <a:srgbClr val="22B85C">
                <a:alpha val="81000"/>
              </a:srgbClr>
            </a:solidFill>
            <a:prstDash val="solid"/>
          </a:ln>
        </p:spPr>
      </p:sp>
      <p:sp>
        <p:nvSpPr>
          <p:cNvPr id="127" name="Text 108"/>
          <p:cNvSpPr/>
          <p:nvPr/>
        </p:nvSpPr>
        <p:spPr>
          <a:xfrm>
            <a:off x="7658100" y="375269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128" name="Text 109"/>
          <p:cNvSpPr/>
          <p:nvPr/>
        </p:nvSpPr>
        <p:spPr>
          <a:xfrm>
            <a:off x="8686800" y="37372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14m ago</a:t>
            </a:r>
            <a:endParaRPr lang="en-US" sz="863" dirty="0"/>
          </a:p>
        </p:txBody>
      </p:sp>
      <p:sp>
        <p:nvSpPr>
          <p:cNvPr id="129" name="Text 110"/>
          <p:cNvSpPr/>
          <p:nvPr/>
        </p:nvSpPr>
        <p:spPr>
          <a:xfrm>
            <a:off x="9944100" y="37338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· clean</a:t>
            </a:r>
            <a:endParaRPr lang="en-US" sz="900" dirty="0"/>
          </a:p>
        </p:txBody>
      </p:sp>
      <p:sp>
        <p:nvSpPr>
          <p:cNvPr id="130" name="Text 111"/>
          <p:cNvSpPr/>
          <p:nvPr/>
        </p:nvSpPr>
        <p:spPr>
          <a:xfrm>
            <a:off x="11296650" y="37338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19/min</a:t>
            </a:r>
            <a:endParaRPr lang="en-US" sz="900" dirty="0"/>
          </a:p>
        </p:txBody>
      </p:sp>
      <p:sp>
        <p:nvSpPr>
          <p:cNvPr id="131" name="Shape 112"/>
          <p:cNvSpPr/>
          <p:nvPr/>
        </p:nvSpPr>
        <p:spPr>
          <a:xfrm>
            <a:off x="2638425" y="472916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32" name="Shape 113"/>
          <p:cNvSpPr/>
          <p:nvPr/>
        </p:nvSpPr>
        <p:spPr>
          <a:xfrm>
            <a:off x="2790825" y="43053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33" name="Text 114"/>
          <p:cNvSpPr/>
          <p:nvPr/>
        </p:nvSpPr>
        <p:spPr>
          <a:xfrm>
            <a:off x="2864168" y="43870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663" dirty="0"/>
          </a:p>
        </p:txBody>
      </p:sp>
      <p:sp>
        <p:nvSpPr>
          <p:cNvPr id="134" name="Text 115"/>
          <p:cNvSpPr/>
          <p:nvPr/>
        </p:nvSpPr>
        <p:spPr>
          <a:xfrm>
            <a:off x="3152775" y="4282757"/>
            <a:ext cx="862013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938" dirty="0"/>
          </a:p>
        </p:txBody>
      </p:sp>
      <p:sp>
        <p:nvSpPr>
          <p:cNvPr id="135" name="Text 116"/>
          <p:cNvSpPr/>
          <p:nvPr/>
        </p:nvSpPr>
        <p:spPr>
          <a:xfrm>
            <a:off x="3152775" y="447198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50" dirty="0"/>
          </a:p>
        </p:txBody>
      </p:sp>
      <p:sp>
        <p:nvSpPr>
          <p:cNvPr id="136" name="Text 117"/>
          <p:cNvSpPr/>
          <p:nvPr/>
        </p:nvSpPr>
        <p:spPr>
          <a:xfrm>
            <a:off x="6076950" y="43434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900" dirty="0"/>
          </a:p>
        </p:txBody>
      </p:sp>
      <p:sp>
        <p:nvSpPr>
          <p:cNvPr id="137" name="Shape 118"/>
          <p:cNvSpPr/>
          <p:nvPr/>
        </p:nvSpPr>
        <p:spPr>
          <a:xfrm>
            <a:off x="7429500" y="4315936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38" name="Shape 119"/>
          <p:cNvSpPr/>
          <p:nvPr/>
        </p:nvSpPr>
        <p:spPr>
          <a:xfrm>
            <a:off x="7524750" y="4400391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39" name="Shape 120"/>
          <p:cNvSpPr/>
          <p:nvPr/>
        </p:nvSpPr>
        <p:spPr>
          <a:xfrm>
            <a:off x="7496175" y="4371816"/>
            <a:ext cx="114300" cy="114300"/>
          </a:xfrm>
          <a:prstGeom prst="ellipse">
            <a:avLst/>
          </a:prstGeom>
          <a:ln w="9525">
            <a:solidFill>
              <a:srgbClr val="22B85C">
                <a:alpha val="81000"/>
              </a:srgbClr>
            </a:solidFill>
            <a:prstDash val="solid"/>
          </a:ln>
        </p:spPr>
      </p:sp>
      <p:sp>
        <p:nvSpPr>
          <p:cNvPr id="140" name="Text 121"/>
          <p:cNvSpPr/>
          <p:nvPr/>
        </p:nvSpPr>
        <p:spPr>
          <a:xfrm>
            <a:off x="7658100" y="436229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141" name="Text 122"/>
          <p:cNvSpPr/>
          <p:nvPr/>
        </p:nvSpPr>
        <p:spPr>
          <a:xfrm>
            <a:off x="8686800" y="43468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863" dirty="0"/>
          </a:p>
        </p:txBody>
      </p:sp>
      <p:sp>
        <p:nvSpPr>
          <p:cNvPr id="142" name="Text 123"/>
          <p:cNvSpPr/>
          <p:nvPr/>
        </p:nvSpPr>
        <p:spPr>
          <a:xfrm>
            <a:off x="9944100" y="43434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1×</a:t>
            </a:r>
            <a:endParaRPr lang="en-US" sz="900" dirty="0"/>
          </a:p>
        </p:txBody>
      </p:sp>
      <p:sp>
        <p:nvSpPr>
          <p:cNvPr id="143" name="Text 124"/>
          <p:cNvSpPr/>
          <p:nvPr/>
        </p:nvSpPr>
        <p:spPr>
          <a:xfrm>
            <a:off x="11296650" y="43434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17/min</a:t>
            </a:r>
            <a:endParaRPr lang="en-US" sz="900" dirty="0"/>
          </a:p>
        </p:txBody>
      </p:sp>
      <p:sp>
        <p:nvSpPr>
          <p:cNvPr id="144" name="Shape 125"/>
          <p:cNvSpPr/>
          <p:nvPr/>
        </p:nvSpPr>
        <p:spPr>
          <a:xfrm>
            <a:off x="2638425" y="533876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45" name="Shape 126"/>
          <p:cNvSpPr/>
          <p:nvPr/>
        </p:nvSpPr>
        <p:spPr>
          <a:xfrm>
            <a:off x="2790825" y="49149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146" name="Text 127"/>
          <p:cNvSpPr/>
          <p:nvPr/>
        </p:nvSpPr>
        <p:spPr>
          <a:xfrm>
            <a:off x="2864168" y="49966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663" dirty="0"/>
          </a:p>
        </p:txBody>
      </p:sp>
      <p:sp>
        <p:nvSpPr>
          <p:cNvPr id="147" name="Text 128"/>
          <p:cNvSpPr/>
          <p:nvPr/>
        </p:nvSpPr>
        <p:spPr>
          <a:xfrm>
            <a:off x="3152775" y="4892357"/>
            <a:ext cx="6477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</a:t>
            </a:r>
            <a:endParaRPr lang="en-US" sz="938" dirty="0"/>
          </a:p>
        </p:txBody>
      </p:sp>
      <p:sp>
        <p:nvSpPr>
          <p:cNvPr id="148" name="Text 129"/>
          <p:cNvSpPr/>
          <p:nvPr/>
        </p:nvSpPr>
        <p:spPr>
          <a:xfrm>
            <a:off x="3152775" y="508158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50" dirty="0"/>
          </a:p>
        </p:txBody>
      </p:sp>
      <p:sp>
        <p:nvSpPr>
          <p:cNvPr id="149" name="Text 130"/>
          <p:cNvSpPr/>
          <p:nvPr/>
        </p:nvSpPr>
        <p:spPr>
          <a:xfrm>
            <a:off x="6076950" y="49530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900" dirty="0"/>
          </a:p>
        </p:txBody>
      </p:sp>
      <p:sp>
        <p:nvSpPr>
          <p:cNvPr id="150" name="Shape 131"/>
          <p:cNvSpPr/>
          <p:nvPr/>
        </p:nvSpPr>
        <p:spPr>
          <a:xfrm>
            <a:off x="7429500" y="4925537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151" name="Shape 132"/>
          <p:cNvSpPr/>
          <p:nvPr/>
        </p:nvSpPr>
        <p:spPr>
          <a:xfrm>
            <a:off x="7524750" y="5009991"/>
            <a:ext cx="57150" cy="57150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152" name="Text 133"/>
          <p:cNvSpPr/>
          <p:nvPr/>
        </p:nvSpPr>
        <p:spPr>
          <a:xfrm>
            <a:off x="7658100" y="4971891"/>
            <a:ext cx="636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788" dirty="0"/>
          </a:p>
        </p:txBody>
      </p:sp>
      <p:sp>
        <p:nvSpPr>
          <p:cNvPr id="153" name="Text 134"/>
          <p:cNvSpPr/>
          <p:nvPr/>
        </p:nvSpPr>
        <p:spPr>
          <a:xfrm>
            <a:off x="8686800" y="49564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38m ago</a:t>
            </a:r>
            <a:endParaRPr lang="en-US" sz="863" dirty="0"/>
          </a:p>
        </p:txBody>
      </p:sp>
      <p:sp>
        <p:nvSpPr>
          <p:cNvPr id="154" name="Text 135"/>
          <p:cNvSpPr/>
          <p:nvPr/>
        </p:nvSpPr>
        <p:spPr>
          <a:xfrm>
            <a:off x="9944100" y="49530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3× · backoff 16s</a:t>
            </a:r>
            <a:endParaRPr lang="en-US" sz="900" dirty="0"/>
          </a:p>
        </p:txBody>
      </p:sp>
      <p:sp>
        <p:nvSpPr>
          <p:cNvPr id="155" name="Text 136"/>
          <p:cNvSpPr/>
          <p:nvPr/>
        </p:nvSpPr>
        <p:spPr>
          <a:xfrm>
            <a:off x="11296650" y="49530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2/min</a:t>
            </a:r>
            <a:endParaRPr lang="en-US" sz="900" dirty="0"/>
          </a:p>
        </p:txBody>
      </p:sp>
      <p:sp>
        <p:nvSpPr>
          <p:cNvPr id="156" name="Shape 137"/>
          <p:cNvSpPr/>
          <p:nvPr/>
        </p:nvSpPr>
        <p:spPr>
          <a:xfrm>
            <a:off x="2638425" y="594836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57" name="Shape 138"/>
          <p:cNvSpPr/>
          <p:nvPr/>
        </p:nvSpPr>
        <p:spPr>
          <a:xfrm>
            <a:off x="2790825" y="55245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58" name="Text 139"/>
          <p:cNvSpPr/>
          <p:nvPr/>
        </p:nvSpPr>
        <p:spPr>
          <a:xfrm>
            <a:off x="2864168" y="56062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663" dirty="0"/>
          </a:p>
        </p:txBody>
      </p:sp>
      <p:sp>
        <p:nvSpPr>
          <p:cNvPr id="159" name="Text 140"/>
          <p:cNvSpPr/>
          <p:nvPr/>
        </p:nvSpPr>
        <p:spPr>
          <a:xfrm>
            <a:off x="3152775" y="5501957"/>
            <a:ext cx="719138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938" dirty="0"/>
          </a:p>
        </p:txBody>
      </p:sp>
      <p:sp>
        <p:nvSpPr>
          <p:cNvPr id="160" name="Text 141"/>
          <p:cNvSpPr/>
          <p:nvPr/>
        </p:nvSpPr>
        <p:spPr>
          <a:xfrm>
            <a:off x="3152775" y="569118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50" dirty="0"/>
          </a:p>
        </p:txBody>
      </p:sp>
      <p:sp>
        <p:nvSpPr>
          <p:cNvPr id="161" name="Text 142"/>
          <p:cNvSpPr/>
          <p:nvPr/>
        </p:nvSpPr>
        <p:spPr>
          <a:xfrm>
            <a:off x="6076950" y="55626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900" dirty="0"/>
          </a:p>
        </p:txBody>
      </p:sp>
      <p:sp>
        <p:nvSpPr>
          <p:cNvPr id="162" name="Shape 143"/>
          <p:cNvSpPr/>
          <p:nvPr/>
        </p:nvSpPr>
        <p:spPr>
          <a:xfrm>
            <a:off x="7429500" y="5535137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40000"/>
              </a:srgbClr>
            </a:solidFill>
            <a:prstDash val="solid"/>
          </a:ln>
        </p:spPr>
      </p:sp>
      <p:sp>
        <p:nvSpPr>
          <p:cNvPr id="163" name="Shape 144"/>
          <p:cNvSpPr/>
          <p:nvPr/>
        </p:nvSpPr>
        <p:spPr>
          <a:xfrm>
            <a:off x="7524750" y="5619591"/>
            <a:ext cx="57150" cy="57150"/>
          </a:xfrm>
          <a:prstGeom prst="ellipse">
            <a:avLst/>
          </a:prstGeom>
          <a:solidFill>
            <a:srgbClr val="8B97A8"/>
          </a:solidFill>
          <a:ln/>
        </p:spPr>
      </p:sp>
      <p:sp>
        <p:nvSpPr>
          <p:cNvPr id="164" name="Text 145"/>
          <p:cNvSpPr/>
          <p:nvPr/>
        </p:nvSpPr>
        <p:spPr>
          <a:xfrm>
            <a:off x="7658100" y="558149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788" dirty="0"/>
          </a:p>
        </p:txBody>
      </p:sp>
      <p:sp>
        <p:nvSpPr>
          <p:cNvPr id="165" name="Text 146"/>
          <p:cNvSpPr/>
          <p:nvPr/>
        </p:nvSpPr>
        <p:spPr>
          <a:xfrm>
            <a:off x="8686800" y="55660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863" dirty="0"/>
          </a:p>
        </p:txBody>
      </p:sp>
      <p:sp>
        <p:nvSpPr>
          <p:cNvPr id="166" name="Text 147"/>
          <p:cNvSpPr/>
          <p:nvPr/>
        </p:nvSpPr>
        <p:spPr>
          <a:xfrm>
            <a:off x="9944100" y="55626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7×</a:t>
            </a:r>
            <a:endParaRPr lang="en-US" sz="900" dirty="0"/>
          </a:p>
        </p:txBody>
      </p:sp>
      <p:sp>
        <p:nvSpPr>
          <p:cNvPr id="167" name="Text 148"/>
          <p:cNvSpPr/>
          <p:nvPr/>
        </p:nvSpPr>
        <p:spPr>
          <a:xfrm>
            <a:off x="11296650" y="55626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68" name="Shape 149"/>
          <p:cNvSpPr/>
          <p:nvPr/>
        </p:nvSpPr>
        <p:spPr>
          <a:xfrm>
            <a:off x="2638425" y="655796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69" name="Shape 150"/>
          <p:cNvSpPr/>
          <p:nvPr/>
        </p:nvSpPr>
        <p:spPr>
          <a:xfrm>
            <a:off x="2790825" y="61341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70" name="Text 151"/>
          <p:cNvSpPr/>
          <p:nvPr/>
        </p:nvSpPr>
        <p:spPr>
          <a:xfrm>
            <a:off x="2864168" y="62158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663" dirty="0"/>
          </a:p>
        </p:txBody>
      </p:sp>
      <p:sp>
        <p:nvSpPr>
          <p:cNvPr id="171" name="Text 152"/>
          <p:cNvSpPr/>
          <p:nvPr/>
        </p:nvSpPr>
        <p:spPr>
          <a:xfrm>
            <a:off x="3152775" y="6111557"/>
            <a:ext cx="6477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938" dirty="0"/>
          </a:p>
        </p:txBody>
      </p:sp>
      <p:sp>
        <p:nvSpPr>
          <p:cNvPr id="172" name="Text 153"/>
          <p:cNvSpPr/>
          <p:nvPr/>
        </p:nvSpPr>
        <p:spPr>
          <a:xfrm>
            <a:off x="3152775" y="630078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50" dirty="0"/>
          </a:p>
        </p:txBody>
      </p:sp>
      <p:sp>
        <p:nvSpPr>
          <p:cNvPr id="173" name="Text 154"/>
          <p:cNvSpPr/>
          <p:nvPr/>
        </p:nvSpPr>
        <p:spPr>
          <a:xfrm>
            <a:off x="6076950" y="61722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infra-terraform</a:t>
            </a:r>
            <a:endParaRPr lang="en-US" sz="900" dirty="0"/>
          </a:p>
        </p:txBody>
      </p:sp>
      <p:sp>
        <p:nvSpPr>
          <p:cNvPr id="174" name="Shape 155"/>
          <p:cNvSpPr/>
          <p:nvPr/>
        </p:nvSpPr>
        <p:spPr>
          <a:xfrm>
            <a:off x="7429500" y="6144737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175" name="Shape 156"/>
          <p:cNvSpPr/>
          <p:nvPr/>
        </p:nvSpPr>
        <p:spPr>
          <a:xfrm>
            <a:off x="7524750" y="6229191"/>
            <a:ext cx="57150" cy="57150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176" name="Text 157"/>
          <p:cNvSpPr/>
          <p:nvPr/>
        </p:nvSpPr>
        <p:spPr>
          <a:xfrm>
            <a:off x="7658100" y="6191091"/>
            <a:ext cx="6362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788" dirty="0"/>
          </a:p>
        </p:txBody>
      </p:sp>
      <p:sp>
        <p:nvSpPr>
          <p:cNvPr id="177" name="Text 158"/>
          <p:cNvSpPr/>
          <p:nvPr/>
        </p:nvSpPr>
        <p:spPr>
          <a:xfrm>
            <a:off x="8686800" y="61756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863" dirty="0"/>
          </a:p>
        </p:txBody>
      </p:sp>
      <p:sp>
        <p:nvSpPr>
          <p:cNvPr id="178" name="Text 159"/>
          <p:cNvSpPr/>
          <p:nvPr/>
        </p:nvSpPr>
        <p:spPr>
          <a:xfrm>
            <a:off x="9944100" y="61722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 · backoff 8s</a:t>
            </a:r>
            <a:endParaRPr lang="en-US" sz="900" dirty="0"/>
          </a:p>
        </p:txBody>
      </p:sp>
      <p:sp>
        <p:nvSpPr>
          <p:cNvPr id="179" name="Text 160"/>
          <p:cNvSpPr/>
          <p:nvPr/>
        </p:nvSpPr>
        <p:spPr>
          <a:xfrm>
            <a:off x="11296650" y="61722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1/min</a:t>
            </a:r>
            <a:endParaRPr lang="en-US" sz="900" dirty="0"/>
          </a:p>
        </p:txBody>
      </p:sp>
      <p:sp>
        <p:nvSpPr>
          <p:cNvPr id="180" name="Shape 161"/>
          <p:cNvSpPr/>
          <p:nvPr/>
        </p:nvSpPr>
        <p:spPr>
          <a:xfrm>
            <a:off x="2638425" y="716756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81" name="Shape 162"/>
          <p:cNvSpPr/>
          <p:nvPr/>
        </p:nvSpPr>
        <p:spPr>
          <a:xfrm>
            <a:off x="2790825" y="67437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182" name="Text 163"/>
          <p:cNvSpPr/>
          <p:nvPr/>
        </p:nvSpPr>
        <p:spPr>
          <a:xfrm>
            <a:off x="2864168" y="68254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663" dirty="0"/>
          </a:p>
        </p:txBody>
      </p:sp>
      <p:sp>
        <p:nvSpPr>
          <p:cNvPr id="183" name="Text 164"/>
          <p:cNvSpPr/>
          <p:nvPr/>
        </p:nvSpPr>
        <p:spPr>
          <a:xfrm>
            <a:off x="3152775" y="6721157"/>
            <a:ext cx="7905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938" dirty="0"/>
          </a:p>
        </p:txBody>
      </p:sp>
      <p:sp>
        <p:nvSpPr>
          <p:cNvPr id="184" name="Text 165"/>
          <p:cNvSpPr/>
          <p:nvPr/>
        </p:nvSpPr>
        <p:spPr>
          <a:xfrm>
            <a:off x="3152775" y="691038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750" dirty="0"/>
          </a:p>
        </p:txBody>
      </p:sp>
      <p:sp>
        <p:nvSpPr>
          <p:cNvPr id="185" name="Text 166"/>
          <p:cNvSpPr/>
          <p:nvPr/>
        </p:nvSpPr>
        <p:spPr>
          <a:xfrm>
            <a:off x="6076950" y="67818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900" dirty="0"/>
          </a:p>
        </p:txBody>
      </p:sp>
      <p:sp>
        <p:nvSpPr>
          <p:cNvPr id="186" name="Shape 167"/>
          <p:cNvSpPr/>
          <p:nvPr/>
        </p:nvSpPr>
        <p:spPr>
          <a:xfrm>
            <a:off x="7429500" y="6754337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40000"/>
              </a:srgbClr>
            </a:solidFill>
            <a:prstDash val="solid"/>
          </a:ln>
        </p:spPr>
      </p:sp>
      <p:sp>
        <p:nvSpPr>
          <p:cNvPr id="187" name="Shape 168"/>
          <p:cNvSpPr/>
          <p:nvPr/>
        </p:nvSpPr>
        <p:spPr>
          <a:xfrm>
            <a:off x="7524750" y="6838791"/>
            <a:ext cx="57150" cy="57150"/>
          </a:xfrm>
          <a:prstGeom prst="ellipse">
            <a:avLst/>
          </a:prstGeom>
          <a:solidFill>
            <a:srgbClr val="8B97A8"/>
          </a:solidFill>
          <a:ln/>
        </p:spPr>
      </p:sp>
      <p:sp>
        <p:nvSpPr>
          <p:cNvPr id="188" name="Text 169"/>
          <p:cNvSpPr/>
          <p:nvPr/>
        </p:nvSpPr>
        <p:spPr>
          <a:xfrm>
            <a:off x="7658100" y="680069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788" dirty="0"/>
          </a:p>
        </p:txBody>
      </p:sp>
      <p:sp>
        <p:nvSpPr>
          <p:cNvPr id="189" name="Text 170"/>
          <p:cNvSpPr/>
          <p:nvPr/>
        </p:nvSpPr>
        <p:spPr>
          <a:xfrm>
            <a:off x="8686800" y="67852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7h ago</a:t>
            </a:r>
            <a:endParaRPr lang="en-US" sz="863" dirty="0"/>
          </a:p>
        </p:txBody>
      </p:sp>
      <p:sp>
        <p:nvSpPr>
          <p:cNvPr id="190" name="Text 171"/>
          <p:cNvSpPr/>
          <p:nvPr/>
        </p:nvSpPr>
        <p:spPr>
          <a:xfrm>
            <a:off x="9944100" y="67818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· clean</a:t>
            </a:r>
            <a:endParaRPr lang="en-US" sz="900" dirty="0"/>
          </a:p>
        </p:txBody>
      </p:sp>
      <p:sp>
        <p:nvSpPr>
          <p:cNvPr id="191" name="Text 172"/>
          <p:cNvSpPr/>
          <p:nvPr/>
        </p:nvSpPr>
        <p:spPr>
          <a:xfrm>
            <a:off x="11296650" y="67818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00" dirty="0"/>
          </a:p>
        </p:txBody>
      </p:sp>
      <p:sp>
        <p:nvSpPr>
          <p:cNvPr id="192" name="Shape 173"/>
          <p:cNvSpPr/>
          <p:nvPr/>
        </p:nvSpPr>
        <p:spPr>
          <a:xfrm>
            <a:off x="2638425" y="777716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93" name="Shape 174"/>
          <p:cNvSpPr/>
          <p:nvPr/>
        </p:nvSpPr>
        <p:spPr>
          <a:xfrm>
            <a:off x="2790825" y="73533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94" name="Text 175"/>
          <p:cNvSpPr/>
          <p:nvPr/>
        </p:nvSpPr>
        <p:spPr>
          <a:xfrm>
            <a:off x="2864168" y="74350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663" dirty="0"/>
          </a:p>
        </p:txBody>
      </p:sp>
      <p:sp>
        <p:nvSpPr>
          <p:cNvPr id="195" name="Text 176"/>
          <p:cNvSpPr/>
          <p:nvPr/>
        </p:nvSpPr>
        <p:spPr>
          <a:xfrm>
            <a:off x="3152775" y="7330757"/>
            <a:ext cx="6477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</a:t>
            </a:r>
            <a:endParaRPr lang="en-US" sz="938" dirty="0"/>
          </a:p>
        </p:txBody>
      </p:sp>
      <p:sp>
        <p:nvSpPr>
          <p:cNvPr id="196" name="Text 177"/>
          <p:cNvSpPr/>
          <p:nvPr/>
        </p:nvSpPr>
        <p:spPr>
          <a:xfrm>
            <a:off x="3152775" y="751998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750" dirty="0"/>
          </a:p>
        </p:txBody>
      </p:sp>
      <p:sp>
        <p:nvSpPr>
          <p:cNvPr id="197" name="Text 178"/>
          <p:cNvSpPr/>
          <p:nvPr/>
        </p:nvSpPr>
        <p:spPr>
          <a:xfrm>
            <a:off x="6076950" y="73914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infra-terraform</a:t>
            </a:r>
            <a:endParaRPr lang="en-US" sz="900" dirty="0"/>
          </a:p>
        </p:txBody>
      </p:sp>
      <p:sp>
        <p:nvSpPr>
          <p:cNvPr id="198" name="Shape 179"/>
          <p:cNvSpPr/>
          <p:nvPr/>
        </p:nvSpPr>
        <p:spPr>
          <a:xfrm>
            <a:off x="7429500" y="7363937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99" name="Shape 180"/>
          <p:cNvSpPr/>
          <p:nvPr/>
        </p:nvSpPr>
        <p:spPr>
          <a:xfrm>
            <a:off x="7524750" y="7448391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200" name="Shape 181"/>
          <p:cNvSpPr/>
          <p:nvPr/>
        </p:nvSpPr>
        <p:spPr>
          <a:xfrm>
            <a:off x="7496175" y="7419816"/>
            <a:ext cx="114300" cy="114300"/>
          </a:xfrm>
          <a:prstGeom prst="ellipse">
            <a:avLst/>
          </a:prstGeom>
          <a:ln w="9525">
            <a:solidFill>
              <a:srgbClr val="22B85C">
                <a:alpha val="81000"/>
              </a:srgbClr>
            </a:solidFill>
            <a:prstDash val="solid"/>
          </a:ln>
        </p:spPr>
      </p:sp>
      <p:sp>
        <p:nvSpPr>
          <p:cNvPr id="201" name="Text 182"/>
          <p:cNvSpPr/>
          <p:nvPr/>
        </p:nvSpPr>
        <p:spPr>
          <a:xfrm>
            <a:off x="7658100" y="741029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202" name="Text 183"/>
          <p:cNvSpPr/>
          <p:nvPr/>
        </p:nvSpPr>
        <p:spPr>
          <a:xfrm>
            <a:off x="8686800" y="73948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863" dirty="0"/>
          </a:p>
        </p:txBody>
      </p:sp>
      <p:sp>
        <p:nvSpPr>
          <p:cNvPr id="203" name="Text 184"/>
          <p:cNvSpPr/>
          <p:nvPr/>
        </p:nvSpPr>
        <p:spPr>
          <a:xfrm>
            <a:off x="9944100" y="73914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· clean</a:t>
            </a:r>
            <a:endParaRPr lang="en-US" sz="900" dirty="0"/>
          </a:p>
        </p:txBody>
      </p:sp>
      <p:sp>
        <p:nvSpPr>
          <p:cNvPr id="204" name="Text 185"/>
          <p:cNvSpPr/>
          <p:nvPr/>
        </p:nvSpPr>
        <p:spPr>
          <a:xfrm>
            <a:off x="11296650" y="73914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7/min</a:t>
            </a:r>
            <a:endParaRPr lang="en-US" sz="900" dirty="0"/>
          </a:p>
        </p:txBody>
      </p:sp>
      <p:sp>
        <p:nvSpPr>
          <p:cNvPr id="205" name="Shape 186"/>
          <p:cNvSpPr/>
          <p:nvPr/>
        </p:nvSpPr>
        <p:spPr>
          <a:xfrm>
            <a:off x="2790825" y="7962900"/>
            <a:ext cx="247650" cy="2476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206" name="Text 187"/>
          <p:cNvSpPr/>
          <p:nvPr/>
        </p:nvSpPr>
        <p:spPr>
          <a:xfrm>
            <a:off x="2864168" y="8044656"/>
            <a:ext cx="177165" cy="122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25"/>
              </a:lnSpc>
              <a:buNone/>
            </a:pPr>
            <a:r>
              <a:rPr lang="en-US" sz="663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663" dirty="0"/>
          </a:p>
        </p:txBody>
      </p:sp>
      <p:sp>
        <p:nvSpPr>
          <p:cNvPr id="207" name="Text 188"/>
          <p:cNvSpPr/>
          <p:nvPr/>
        </p:nvSpPr>
        <p:spPr>
          <a:xfrm>
            <a:off x="3152775" y="7940357"/>
            <a:ext cx="6477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agent-11</a:t>
            </a:r>
            <a:endParaRPr lang="en-US" sz="938" dirty="0"/>
          </a:p>
        </p:txBody>
      </p:sp>
      <p:sp>
        <p:nvSpPr>
          <p:cNvPr id="208" name="Text 189"/>
          <p:cNvSpPr/>
          <p:nvPr/>
        </p:nvSpPr>
        <p:spPr>
          <a:xfrm>
            <a:off x="3152775" y="8129588"/>
            <a:ext cx="289417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750" dirty="0"/>
          </a:p>
        </p:txBody>
      </p:sp>
      <p:sp>
        <p:nvSpPr>
          <p:cNvPr id="209" name="Text 190"/>
          <p:cNvSpPr/>
          <p:nvPr/>
        </p:nvSpPr>
        <p:spPr>
          <a:xfrm>
            <a:off x="6076950" y="80010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web-client</a:t>
            </a:r>
            <a:endParaRPr lang="en-US" sz="900" dirty="0"/>
          </a:p>
        </p:txBody>
      </p:sp>
      <p:sp>
        <p:nvSpPr>
          <p:cNvPr id="210" name="Shape 191"/>
          <p:cNvSpPr/>
          <p:nvPr/>
        </p:nvSpPr>
        <p:spPr>
          <a:xfrm>
            <a:off x="7429500" y="7973537"/>
            <a:ext cx="1143000" cy="226219"/>
          </a:xfrm>
          <a:prstGeom prst="roundRect">
            <a:avLst>
              <a:gd name="adj" fmla="val 16842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211" name="Shape 192"/>
          <p:cNvSpPr/>
          <p:nvPr/>
        </p:nvSpPr>
        <p:spPr>
          <a:xfrm>
            <a:off x="7524750" y="8057991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212" name="Shape 193"/>
          <p:cNvSpPr/>
          <p:nvPr/>
        </p:nvSpPr>
        <p:spPr>
          <a:xfrm>
            <a:off x="7496175" y="8029416"/>
            <a:ext cx="114300" cy="114300"/>
          </a:xfrm>
          <a:prstGeom prst="ellipse">
            <a:avLst/>
          </a:prstGeom>
          <a:ln w="9525">
            <a:solidFill>
              <a:srgbClr val="22B85C">
                <a:alpha val="81000"/>
              </a:srgbClr>
            </a:solidFill>
            <a:prstDash val="solid"/>
          </a:ln>
        </p:spPr>
      </p:sp>
      <p:sp>
        <p:nvSpPr>
          <p:cNvPr id="213" name="Text 194"/>
          <p:cNvSpPr/>
          <p:nvPr/>
        </p:nvSpPr>
        <p:spPr>
          <a:xfrm>
            <a:off x="7658100" y="8019891"/>
            <a:ext cx="5662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788" dirty="0"/>
          </a:p>
        </p:txBody>
      </p:sp>
      <p:sp>
        <p:nvSpPr>
          <p:cNvPr id="214" name="Text 195"/>
          <p:cNvSpPr/>
          <p:nvPr/>
        </p:nvSpPr>
        <p:spPr>
          <a:xfrm>
            <a:off x="8686800" y="8004493"/>
            <a:ext cx="1219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 ago</a:t>
            </a:r>
            <a:endParaRPr lang="en-US" sz="863" dirty="0"/>
          </a:p>
        </p:txBody>
      </p:sp>
      <p:sp>
        <p:nvSpPr>
          <p:cNvPr id="215" name="Text 196"/>
          <p:cNvSpPr/>
          <p:nvPr/>
        </p:nvSpPr>
        <p:spPr>
          <a:xfrm>
            <a:off x="9944100" y="8001000"/>
            <a:ext cx="1314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· clean</a:t>
            </a:r>
            <a:endParaRPr lang="en-US" sz="900" dirty="0"/>
          </a:p>
        </p:txBody>
      </p:sp>
      <p:sp>
        <p:nvSpPr>
          <p:cNvPr id="216" name="Text 197"/>
          <p:cNvSpPr/>
          <p:nvPr/>
        </p:nvSpPr>
        <p:spPr>
          <a:xfrm>
            <a:off x="11296650" y="8001000"/>
            <a:ext cx="933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18/min</a:t>
            </a:r>
            <a:endParaRPr lang="en-US" sz="900" dirty="0"/>
          </a:p>
        </p:txBody>
      </p:sp>
      <p:sp>
        <p:nvSpPr>
          <p:cNvPr id="217" name="Shape 198"/>
          <p:cNvSpPr/>
          <p:nvPr/>
        </p:nvSpPr>
        <p:spPr>
          <a:xfrm>
            <a:off x="2628900" y="8636794"/>
            <a:ext cx="57150" cy="57150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218" name="Shape 199"/>
          <p:cNvSpPr/>
          <p:nvPr/>
        </p:nvSpPr>
        <p:spPr>
          <a:xfrm>
            <a:off x="2600325" y="8608219"/>
            <a:ext cx="114300" cy="114300"/>
          </a:xfrm>
          <a:prstGeom prst="ellipse">
            <a:avLst/>
          </a:prstGeom>
          <a:ln w="9525">
            <a:solidFill>
              <a:srgbClr val="22B85C">
                <a:alpha val="81000"/>
              </a:srgbClr>
            </a:solidFill>
            <a:prstDash val="solid"/>
          </a:ln>
        </p:spPr>
      </p:sp>
      <p:sp>
        <p:nvSpPr>
          <p:cNvPr id="219" name="Text 200"/>
          <p:cNvSpPr/>
          <p:nvPr/>
        </p:nvSpPr>
        <p:spPr>
          <a:xfrm>
            <a:off x="2762250" y="8586788"/>
            <a:ext cx="744635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Polling central-store every 90s · degraded daemons retry with exponential backoff (base 1s · cap 60s · full jitter)</a:t>
            </a:r>
            <a:endParaRPr lang="en-US" sz="825" dirty="0"/>
          </a:p>
        </p:txBody>
      </p:sp>
      <p:sp>
        <p:nvSpPr>
          <p:cNvPr id="220" name="Shape 201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21" name="Shape 202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22" name="Shape 203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3" name="Text 204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24" name="Text 205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25" name="Text 206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26" name="Shape 207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7" name="Text 208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28" name="Text 209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29" name="Shape 210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30" name="Shape 211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1" name="Shape 212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32" name="Shape 213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33" name="Text 214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34" name="Text 215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35" name="Shape 216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36" name="Text 217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37" name="Text 218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38" name="Text 219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39" name="Shape 220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40" name="Shape 221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1" name="Shape 222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42" name="Shape 223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43" name="Text 224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44" name="Text 225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45" name="Shape 226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46" name="Text 227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47" name="Text 228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48" name="Text 229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49" name="Shape 230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50" name="Shape 231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1" name="Shape 232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52" name="Shape 233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53" name="Text 234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54" name="Text 235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255" name="Shape 236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56" name="Text 237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57" name="Text 238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258" name="Text 239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259" name="Shape 240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0" name="Shape 241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261" name="Text 242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262" name="Text 243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263" name="Shape 244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64" name="Text 245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65" name="Text 246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266" name="Text 247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267" name="Shape 248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8" name="Shape 249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69" name="Text 250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270" name="Text 251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271" name="Shape 252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72" name="Text 253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73" name="Text 254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274" name="Text 255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275" name="Shape 256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6" name="Shape 257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277" name="Text 258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278" name="Text 259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279" name="Shape 260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80" name="Text 261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81" name="Text 262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282" name="Text 263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283" name="Shape 264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4" name="Shape 265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85" name="Text 266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286" name="Text 267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287" name="Shape 268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288" name="Text 269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289" name="Text 270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290" name="Text 271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5" name="Text 15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2" name="Text 19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sp>
        <p:nvSpPr>
          <p:cNvPr id="33" name="Shape 20"/>
          <p:cNvSpPr/>
          <p:nvPr/>
        </p:nvSpPr>
        <p:spPr>
          <a:xfrm>
            <a:off x="114300" y="4969669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34" name="Shape 21"/>
          <p:cNvSpPr/>
          <p:nvPr/>
        </p:nvSpPr>
        <p:spPr>
          <a:xfrm>
            <a:off x="114300" y="5045869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7" name="Text 23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14478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ORG ANALYTICS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1447800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38200"/>
            <a:ext cx="9686925" cy="419100"/>
          </a:xfrm>
          <a:prstGeom prst="roundRect">
            <a:avLst>
              <a:gd name="adj" fmla="val 27273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2790825" y="1014413"/>
            <a:ext cx="66675" cy="66675"/>
          </a:xfrm>
          <a:prstGeom prst="ellipse">
            <a:avLst/>
          </a:prstGeom>
          <a:solidFill>
            <a:srgbClr val="E0246F"/>
          </a:solidFill>
          <a:ln/>
        </p:spPr>
      </p:sp>
      <p:sp>
        <p:nvSpPr>
          <p:cNvPr id="67" name="Text 48"/>
          <p:cNvSpPr/>
          <p:nvPr/>
        </p:nvSpPr>
        <p:spPr>
          <a:xfrm>
            <a:off x="2971800" y="962025"/>
            <a:ext cx="13106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Org-wide analytics</a:t>
            </a:r>
            <a:endParaRPr lang="en-US" sz="900" dirty="0"/>
          </a:p>
        </p:txBody>
      </p:sp>
      <p:sp>
        <p:nvSpPr>
          <p:cNvPr id="68" name="Text 49"/>
          <p:cNvSpPr/>
          <p:nvPr/>
        </p:nvSpPr>
        <p:spPr>
          <a:xfrm>
            <a:off x="4320540" y="965518"/>
            <a:ext cx="4332427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visibility across every developer, project and sync daemon.</a:t>
            </a:r>
            <a:endParaRPr lang="en-US" sz="863" dirty="0"/>
          </a:p>
        </p:txBody>
      </p:sp>
      <p:sp>
        <p:nvSpPr>
          <p:cNvPr id="69" name="Shape 50"/>
          <p:cNvSpPr/>
          <p:nvPr/>
        </p:nvSpPr>
        <p:spPr>
          <a:xfrm>
            <a:off x="2628900" y="14478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2790825" y="1619250"/>
            <a:ext cx="76200" cy="85725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71" name="Text 52"/>
          <p:cNvSpPr/>
          <p:nvPr/>
        </p:nvSpPr>
        <p:spPr>
          <a:xfrm>
            <a:off x="2943225" y="1590675"/>
            <a:ext cx="104965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MEMORIES</a:t>
            </a:r>
            <a:endParaRPr lang="en-US" sz="750" dirty="0"/>
          </a:p>
        </p:txBody>
      </p:sp>
      <p:sp>
        <p:nvSpPr>
          <p:cNvPr id="72" name="Text 53"/>
          <p:cNvSpPr/>
          <p:nvPr/>
        </p:nvSpPr>
        <p:spPr>
          <a:xfrm>
            <a:off x="2790825" y="1809750"/>
            <a:ext cx="7620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22.4k</a:t>
            </a:r>
            <a:endParaRPr lang="en-US" sz="1800" dirty="0"/>
          </a:p>
        </p:txBody>
      </p:sp>
      <p:sp>
        <p:nvSpPr>
          <p:cNvPr id="73" name="Text 54"/>
          <p:cNvSpPr/>
          <p:nvPr/>
        </p:nvSpPr>
        <p:spPr>
          <a:xfrm>
            <a:off x="2790825" y="2114550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all projects</a:t>
            </a:r>
            <a:endParaRPr lang="en-US" sz="825" dirty="0"/>
          </a:p>
        </p:txBody>
      </p:sp>
      <p:sp>
        <p:nvSpPr>
          <p:cNvPr id="74" name="Shape 55"/>
          <p:cNvSpPr/>
          <p:nvPr/>
        </p:nvSpPr>
        <p:spPr>
          <a:xfrm>
            <a:off x="5088731" y="14478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5" name="Shape 56"/>
          <p:cNvSpPr/>
          <p:nvPr/>
        </p:nvSpPr>
        <p:spPr>
          <a:xfrm>
            <a:off x="5250656" y="1619250"/>
            <a:ext cx="76200" cy="85725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76" name="Text 57"/>
          <p:cNvSpPr/>
          <p:nvPr/>
        </p:nvSpPr>
        <p:spPr>
          <a:xfrm>
            <a:off x="5403056" y="1590675"/>
            <a:ext cx="9105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CONTRIBUTORS</a:t>
            </a:r>
            <a:endParaRPr lang="en-US" sz="750" dirty="0"/>
          </a:p>
        </p:txBody>
      </p:sp>
      <p:sp>
        <p:nvSpPr>
          <p:cNvPr id="77" name="Text 58"/>
          <p:cNvSpPr/>
          <p:nvPr/>
        </p:nvSpPr>
        <p:spPr>
          <a:xfrm>
            <a:off x="5250656" y="18097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78" name="Text 59"/>
          <p:cNvSpPr/>
          <p:nvPr/>
        </p:nvSpPr>
        <p:spPr>
          <a:xfrm>
            <a:off x="5250656" y="2114550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this period</a:t>
            </a:r>
            <a:endParaRPr lang="en-US" sz="825" dirty="0"/>
          </a:p>
        </p:txBody>
      </p:sp>
      <p:sp>
        <p:nvSpPr>
          <p:cNvPr id="79" name="Shape 60"/>
          <p:cNvSpPr/>
          <p:nvPr/>
        </p:nvSpPr>
        <p:spPr>
          <a:xfrm>
            <a:off x="7548563" y="14478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80" name="Shape 61"/>
          <p:cNvSpPr/>
          <p:nvPr/>
        </p:nvSpPr>
        <p:spPr>
          <a:xfrm>
            <a:off x="7710487" y="1619250"/>
            <a:ext cx="76200" cy="85725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81" name="Text 62"/>
          <p:cNvSpPr/>
          <p:nvPr/>
        </p:nvSpPr>
        <p:spPr>
          <a:xfrm>
            <a:off x="7862888" y="1590675"/>
            <a:ext cx="7715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</a:t>
            </a:r>
            <a:endParaRPr lang="en-US" sz="750" dirty="0"/>
          </a:p>
        </p:txBody>
      </p:sp>
      <p:sp>
        <p:nvSpPr>
          <p:cNvPr id="82" name="Text 63"/>
          <p:cNvSpPr/>
          <p:nvPr/>
        </p:nvSpPr>
        <p:spPr>
          <a:xfrm>
            <a:off x="7710487" y="1809750"/>
            <a:ext cx="2133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83" name="Text 64"/>
          <p:cNvSpPr/>
          <p:nvPr/>
        </p:nvSpPr>
        <p:spPr>
          <a:xfrm>
            <a:off x="7710487" y="2114550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types</a:t>
            </a:r>
            <a:endParaRPr lang="en-US" sz="825" dirty="0"/>
          </a:p>
        </p:txBody>
      </p:sp>
      <p:sp>
        <p:nvSpPr>
          <p:cNvPr id="84" name="Shape 65"/>
          <p:cNvSpPr/>
          <p:nvPr/>
        </p:nvSpPr>
        <p:spPr>
          <a:xfrm>
            <a:off x="10008394" y="1447800"/>
            <a:ext cx="2307431" cy="981075"/>
          </a:xfrm>
          <a:prstGeom prst="roundRect">
            <a:avLst>
              <a:gd name="adj" fmla="val 11650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85" name="Shape 66"/>
          <p:cNvSpPr/>
          <p:nvPr/>
        </p:nvSpPr>
        <p:spPr>
          <a:xfrm>
            <a:off x="10170319" y="1619250"/>
            <a:ext cx="76200" cy="85725"/>
          </a:xfrm>
          <a:prstGeom prst="rect">
            <a:avLst/>
          </a:prstGeom>
          <a:solidFill>
            <a:srgbClr val="E0A22E"/>
          </a:solidFill>
          <a:ln/>
        </p:spPr>
      </p:sp>
      <p:sp>
        <p:nvSpPr>
          <p:cNvPr id="86" name="Text 67"/>
          <p:cNvSpPr/>
          <p:nvPr/>
        </p:nvSpPr>
        <p:spPr>
          <a:xfrm>
            <a:off x="10322719" y="1590675"/>
            <a:ext cx="84105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9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30-DAY PEAK</a:t>
            </a:r>
            <a:endParaRPr lang="en-US" sz="750" dirty="0"/>
          </a:p>
        </p:txBody>
      </p:sp>
      <p:sp>
        <p:nvSpPr>
          <p:cNvPr id="87" name="Text 68"/>
          <p:cNvSpPr/>
          <p:nvPr/>
        </p:nvSpPr>
        <p:spPr>
          <a:xfrm>
            <a:off x="10170319" y="1809750"/>
            <a:ext cx="4876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157</a:t>
            </a:r>
            <a:endParaRPr lang="en-US" sz="1800" dirty="0"/>
          </a:p>
        </p:txBody>
      </p:sp>
      <p:sp>
        <p:nvSpPr>
          <p:cNvPr id="88" name="Text 69"/>
          <p:cNvSpPr/>
          <p:nvPr/>
        </p:nvSpPr>
        <p:spPr>
          <a:xfrm>
            <a:off x="10638948" y="1881187"/>
            <a:ext cx="3505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/day</a:t>
            </a:r>
            <a:endParaRPr lang="en-US" sz="900" dirty="0"/>
          </a:p>
        </p:txBody>
      </p:sp>
      <p:sp>
        <p:nvSpPr>
          <p:cNvPr id="89" name="Text 70"/>
          <p:cNvSpPr/>
          <p:nvPr/>
        </p:nvSpPr>
        <p:spPr>
          <a:xfrm>
            <a:off x="10170319" y="2128838"/>
            <a:ext cx="20597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busiest day</a:t>
            </a:r>
            <a:endParaRPr lang="en-US" sz="825" dirty="0"/>
          </a:p>
        </p:txBody>
      </p:sp>
      <p:sp>
        <p:nvSpPr>
          <p:cNvPr id="90" name="Shape 71"/>
          <p:cNvSpPr/>
          <p:nvPr/>
        </p:nvSpPr>
        <p:spPr>
          <a:xfrm>
            <a:off x="2628900" y="2619375"/>
            <a:ext cx="9686925" cy="2571750"/>
          </a:xfrm>
          <a:prstGeom prst="roundRect">
            <a:avLst>
              <a:gd name="adj" fmla="val 4444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91" name="Shape 72"/>
          <p:cNvSpPr/>
          <p:nvPr/>
        </p:nvSpPr>
        <p:spPr>
          <a:xfrm>
            <a:off x="2638425" y="3038475"/>
            <a:ext cx="9667875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92" name="Text 73"/>
          <p:cNvSpPr/>
          <p:nvPr/>
        </p:nvSpPr>
        <p:spPr>
          <a:xfrm>
            <a:off x="2790825" y="2755106"/>
            <a:ext cx="139049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OVER TIME</a:t>
            </a:r>
            <a:endParaRPr lang="en-US" sz="825" dirty="0"/>
          </a:p>
        </p:txBody>
      </p:sp>
      <p:sp>
        <p:nvSpPr>
          <p:cNvPr id="93" name="Text 74"/>
          <p:cNvSpPr/>
          <p:nvPr/>
        </p:nvSpPr>
        <p:spPr>
          <a:xfrm>
            <a:off x="10330815" y="2755106"/>
            <a:ext cx="18992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 saved · last 30 days</a:t>
            </a:r>
            <a:endParaRPr lang="en-US" sz="825" dirty="0"/>
          </a:p>
        </p:txBody>
      </p:sp>
      <p:pic>
        <p:nvPicPr>
          <p:cNvPr id="9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52725" y="3200400"/>
            <a:ext cx="9439275" cy="1905000"/>
          </a:xfrm>
          <a:prstGeom prst="rect">
            <a:avLst/>
          </a:prstGeom>
        </p:spPr>
      </p:pic>
      <p:sp>
        <p:nvSpPr>
          <p:cNvPr id="95" name="Shape 75"/>
          <p:cNvSpPr/>
          <p:nvPr/>
        </p:nvSpPr>
        <p:spPr>
          <a:xfrm>
            <a:off x="2628900" y="5381625"/>
            <a:ext cx="4748213" cy="2457450"/>
          </a:xfrm>
          <a:prstGeom prst="roundRect">
            <a:avLst>
              <a:gd name="adj" fmla="val 4651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96" name="Shape 76"/>
          <p:cNvSpPr/>
          <p:nvPr/>
        </p:nvSpPr>
        <p:spPr>
          <a:xfrm>
            <a:off x="2638425" y="5800725"/>
            <a:ext cx="4729163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97" name="Text 77"/>
          <p:cNvSpPr/>
          <p:nvPr/>
        </p:nvSpPr>
        <p:spPr>
          <a:xfrm>
            <a:off x="2790825" y="5517356"/>
            <a:ext cx="163369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 BY CATEGORY</a:t>
            </a:r>
            <a:endParaRPr lang="en-US" sz="825" dirty="0"/>
          </a:p>
        </p:txBody>
      </p:sp>
      <p:pic>
        <p:nvPicPr>
          <p:cNvPr id="9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-5400000">
            <a:off x="2790825" y="6000750"/>
            <a:ext cx="1638300" cy="1638300"/>
          </a:xfrm>
          <a:prstGeom prst="rect">
            <a:avLst/>
          </a:prstGeom>
        </p:spPr>
      </p:pic>
      <p:sp>
        <p:nvSpPr>
          <p:cNvPr id="99" name="Text 78"/>
          <p:cNvSpPr/>
          <p:nvPr/>
        </p:nvSpPr>
        <p:spPr>
          <a:xfrm>
            <a:off x="3295650" y="6615113"/>
            <a:ext cx="7048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1,763</a:t>
            </a:r>
            <a:endParaRPr lang="en-US" sz="1650" dirty="0"/>
          </a:p>
        </p:txBody>
      </p:sp>
      <p:sp>
        <p:nvSpPr>
          <p:cNvPr id="100" name="Text 79"/>
          <p:cNvSpPr/>
          <p:nvPr/>
        </p:nvSpPr>
        <p:spPr>
          <a:xfrm>
            <a:off x="3297555" y="6881813"/>
            <a:ext cx="6248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50" spc="90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MEMORIES</a:t>
            </a:r>
            <a:endParaRPr lang="en-US" sz="750" dirty="0"/>
          </a:p>
        </p:txBody>
      </p:sp>
      <p:sp>
        <p:nvSpPr>
          <p:cNvPr id="101" name="Shape 80"/>
          <p:cNvSpPr/>
          <p:nvPr/>
        </p:nvSpPr>
        <p:spPr>
          <a:xfrm>
            <a:off x="4657725" y="6001862"/>
            <a:ext cx="85725" cy="85725"/>
          </a:xfrm>
          <a:prstGeom prst="roundRect">
            <a:avLst>
              <a:gd name="adj" fmla="val 22222"/>
            </a:avLst>
          </a:prstGeom>
          <a:solidFill>
            <a:srgbClr val="3B82E8"/>
          </a:solidFill>
          <a:ln/>
        </p:spPr>
      </p:sp>
      <p:sp>
        <p:nvSpPr>
          <p:cNvPr id="102" name="Text 81"/>
          <p:cNvSpPr/>
          <p:nvPr/>
        </p:nvSpPr>
        <p:spPr>
          <a:xfrm>
            <a:off x="4838700" y="5962650"/>
            <a:ext cx="106203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863" dirty="0"/>
          </a:p>
        </p:txBody>
      </p:sp>
      <p:sp>
        <p:nvSpPr>
          <p:cNvPr id="103" name="Text 82"/>
          <p:cNvSpPr/>
          <p:nvPr/>
        </p:nvSpPr>
        <p:spPr>
          <a:xfrm>
            <a:off x="5919788" y="5966143"/>
            <a:ext cx="2647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825" dirty="0"/>
          </a:p>
        </p:txBody>
      </p:sp>
      <p:sp>
        <p:nvSpPr>
          <p:cNvPr id="104" name="Shape 83"/>
          <p:cNvSpPr/>
          <p:nvPr/>
        </p:nvSpPr>
        <p:spPr>
          <a:xfrm>
            <a:off x="4657725" y="6223318"/>
            <a:ext cx="85725" cy="85725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105" name="Text 84"/>
          <p:cNvSpPr/>
          <p:nvPr/>
        </p:nvSpPr>
        <p:spPr>
          <a:xfrm>
            <a:off x="4838700" y="6184106"/>
            <a:ext cx="106203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863" dirty="0"/>
          </a:p>
        </p:txBody>
      </p:sp>
      <p:sp>
        <p:nvSpPr>
          <p:cNvPr id="106" name="Text 85"/>
          <p:cNvSpPr/>
          <p:nvPr/>
        </p:nvSpPr>
        <p:spPr>
          <a:xfrm>
            <a:off x="5919788" y="6187599"/>
            <a:ext cx="2647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16%</a:t>
            </a:r>
            <a:endParaRPr lang="en-US" sz="825" dirty="0"/>
          </a:p>
        </p:txBody>
      </p:sp>
      <p:sp>
        <p:nvSpPr>
          <p:cNvPr id="107" name="Shape 86"/>
          <p:cNvSpPr/>
          <p:nvPr/>
        </p:nvSpPr>
        <p:spPr>
          <a:xfrm>
            <a:off x="4657725" y="6444774"/>
            <a:ext cx="85725" cy="85725"/>
          </a:xfrm>
          <a:prstGeom prst="roundRect">
            <a:avLst>
              <a:gd name="adj" fmla="val 22222"/>
            </a:avLst>
          </a:prstGeom>
          <a:solidFill>
            <a:srgbClr val="E0246F"/>
          </a:solidFill>
          <a:ln/>
        </p:spPr>
      </p:sp>
      <p:sp>
        <p:nvSpPr>
          <p:cNvPr id="108" name="Text 87"/>
          <p:cNvSpPr/>
          <p:nvPr/>
        </p:nvSpPr>
        <p:spPr>
          <a:xfrm>
            <a:off x="4838700" y="6405563"/>
            <a:ext cx="106203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endParaRPr lang="en-US" sz="863" dirty="0"/>
          </a:p>
        </p:txBody>
      </p:sp>
      <p:sp>
        <p:nvSpPr>
          <p:cNvPr id="109" name="Text 88"/>
          <p:cNvSpPr/>
          <p:nvPr/>
        </p:nvSpPr>
        <p:spPr>
          <a:xfrm>
            <a:off x="5919788" y="6409055"/>
            <a:ext cx="2647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13%</a:t>
            </a:r>
            <a:endParaRPr lang="en-US" sz="825" dirty="0"/>
          </a:p>
        </p:txBody>
      </p:sp>
      <p:sp>
        <p:nvSpPr>
          <p:cNvPr id="110" name="Shape 89"/>
          <p:cNvSpPr/>
          <p:nvPr/>
        </p:nvSpPr>
        <p:spPr>
          <a:xfrm>
            <a:off x="4657725" y="6666230"/>
            <a:ext cx="85725" cy="85725"/>
          </a:xfrm>
          <a:prstGeom prst="roundRect">
            <a:avLst>
              <a:gd name="adj" fmla="val 22222"/>
            </a:avLst>
          </a:prstGeom>
          <a:solidFill>
            <a:srgbClr val="E0A22E"/>
          </a:solidFill>
          <a:ln/>
        </p:spPr>
      </p:sp>
      <p:sp>
        <p:nvSpPr>
          <p:cNvPr id="111" name="Text 90"/>
          <p:cNvSpPr/>
          <p:nvPr/>
        </p:nvSpPr>
        <p:spPr>
          <a:xfrm>
            <a:off x="4838700" y="6627019"/>
            <a:ext cx="106203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</a:t>
            </a:r>
            <a:endParaRPr lang="en-US" sz="863" dirty="0"/>
          </a:p>
        </p:txBody>
      </p:sp>
      <p:sp>
        <p:nvSpPr>
          <p:cNvPr id="112" name="Text 91"/>
          <p:cNvSpPr/>
          <p:nvPr/>
        </p:nvSpPr>
        <p:spPr>
          <a:xfrm>
            <a:off x="5919788" y="6630512"/>
            <a:ext cx="2647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</a:t>
            </a:r>
            <a:endParaRPr lang="en-US" sz="825" dirty="0"/>
          </a:p>
        </p:txBody>
      </p:sp>
      <p:sp>
        <p:nvSpPr>
          <p:cNvPr id="113" name="Shape 92"/>
          <p:cNvSpPr/>
          <p:nvPr/>
        </p:nvSpPr>
        <p:spPr>
          <a:xfrm>
            <a:off x="4657725" y="6887687"/>
            <a:ext cx="85725" cy="85725"/>
          </a:xfrm>
          <a:prstGeom prst="roundRect">
            <a:avLst>
              <a:gd name="adj" fmla="val 22222"/>
            </a:avLst>
          </a:prstGeom>
          <a:solidFill>
            <a:srgbClr val="A78BFA"/>
          </a:solidFill>
          <a:ln/>
        </p:spPr>
      </p:sp>
      <p:sp>
        <p:nvSpPr>
          <p:cNvPr id="114" name="Text 93"/>
          <p:cNvSpPr/>
          <p:nvPr/>
        </p:nvSpPr>
        <p:spPr>
          <a:xfrm>
            <a:off x="4838700" y="6848475"/>
            <a:ext cx="106203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863" dirty="0"/>
          </a:p>
        </p:txBody>
      </p:sp>
      <p:sp>
        <p:nvSpPr>
          <p:cNvPr id="115" name="Text 94"/>
          <p:cNvSpPr/>
          <p:nvPr/>
        </p:nvSpPr>
        <p:spPr>
          <a:xfrm>
            <a:off x="5919788" y="6851968"/>
            <a:ext cx="2647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13%</a:t>
            </a:r>
            <a:endParaRPr lang="en-US" sz="825" dirty="0"/>
          </a:p>
        </p:txBody>
      </p:sp>
      <p:sp>
        <p:nvSpPr>
          <p:cNvPr id="116" name="Shape 95"/>
          <p:cNvSpPr/>
          <p:nvPr/>
        </p:nvSpPr>
        <p:spPr>
          <a:xfrm>
            <a:off x="4657725" y="7109143"/>
            <a:ext cx="85725" cy="85725"/>
          </a:xfrm>
          <a:prstGeom prst="roundRect">
            <a:avLst>
              <a:gd name="adj" fmla="val 22222"/>
            </a:avLst>
          </a:prstGeom>
          <a:solidFill>
            <a:srgbClr val="8B97A8"/>
          </a:solidFill>
          <a:ln/>
        </p:spPr>
      </p:sp>
      <p:sp>
        <p:nvSpPr>
          <p:cNvPr id="117" name="Text 96"/>
          <p:cNvSpPr/>
          <p:nvPr/>
        </p:nvSpPr>
        <p:spPr>
          <a:xfrm>
            <a:off x="4838700" y="7069931"/>
            <a:ext cx="112490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863" dirty="0"/>
          </a:p>
        </p:txBody>
      </p:sp>
      <p:sp>
        <p:nvSpPr>
          <p:cNvPr id="118" name="Text 97"/>
          <p:cNvSpPr/>
          <p:nvPr/>
        </p:nvSpPr>
        <p:spPr>
          <a:xfrm>
            <a:off x="5982652" y="7073424"/>
            <a:ext cx="20193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9%</a:t>
            </a:r>
            <a:endParaRPr lang="en-US" sz="825" dirty="0"/>
          </a:p>
        </p:txBody>
      </p:sp>
      <p:sp>
        <p:nvSpPr>
          <p:cNvPr id="119" name="Shape 98"/>
          <p:cNvSpPr/>
          <p:nvPr/>
        </p:nvSpPr>
        <p:spPr>
          <a:xfrm>
            <a:off x="4657725" y="7330599"/>
            <a:ext cx="85725" cy="85725"/>
          </a:xfrm>
          <a:prstGeom prst="roundRect">
            <a:avLst>
              <a:gd name="adj" fmla="val 22222"/>
            </a:avLst>
          </a:prstGeom>
          <a:solidFill>
            <a:srgbClr val="2DD4BF"/>
          </a:solidFill>
          <a:ln/>
        </p:spPr>
      </p:sp>
      <p:sp>
        <p:nvSpPr>
          <p:cNvPr id="120" name="Text 99"/>
          <p:cNvSpPr/>
          <p:nvPr/>
        </p:nvSpPr>
        <p:spPr>
          <a:xfrm>
            <a:off x="4838700" y="7291388"/>
            <a:ext cx="106203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preference</a:t>
            </a:r>
            <a:endParaRPr lang="en-US" sz="863" dirty="0"/>
          </a:p>
        </p:txBody>
      </p:sp>
      <p:sp>
        <p:nvSpPr>
          <p:cNvPr id="121" name="Text 100"/>
          <p:cNvSpPr/>
          <p:nvPr/>
        </p:nvSpPr>
        <p:spPr>
          <a:xfrm>
            <a:off x="5919788" y="7294880"/>
            <a:ext cx="2647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825" dirty="0"/>
          </a:p>
        </p:txBody>
      </p:sp>
      <p:sp>
        <p:nvSpPr>
          <p:cNvPr id="122" name="Shape 101"/>
          <p:cNvSpPr/>
          <p:nvPr/>
        </p:nvSpPr>
        <p:spPr>
          <a:xfrm>
            <a:off x="4657725" y="7552055"/>
            <a:ext cx="85725" cy="85725"/>
          </a:xfrm>
          <a:prstGeom prst="roundRect">
            <a:avLst>
              <a:gd name="adj" fmla="val 22222"/>
            </a:avLst>
          </a:prstGeom>
          <a:solidFill>
            <a:srgbClr val="22B85C"/>
          </a:solidFill>
          <a:ln/>
        </p:spPr>
      </p:sp>
      <p:sp>
        <p:nvSpPr>
          <p:cNvPr id="123" name="Text 102"/>
          <p:cNvSpPr/>
          <p:nvPr/>
        </p:nvSpPr>
        <p:spPr>
          <a:xfrm>
            <a:off x="4838700" y="7512844"/>
            <a:ext cx="1062038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session_summary</a:t>
            </a:r>
            <a:endParaRPr lang="en-US" sz="863" dirty="0"/>
          </a:p>
        </p:txBody>
      </p:sp>
      <p:sp>
        <p:nvSpPr>
          <p:cNvPr id="124" name="Text 103"/>
          <p:cNvSpPr/>
          <p:nvPr/>
        </p:nvSpPr>
        <p:spPr>
          <a:xfrm>
            <a:off x="5919788" y="7516337"/>
            <a:ext cx="26479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825" dirty="0"/>
          </a:p>
        </p:txBody>
      </p:sp>
      <p:sp>
        <p:nvSpPr>
          <p:cNvPr id="125" name="Shape 104"/>
          <p:cNvSpPr/>
          <p:nvPr/>
        </p:nvSpPr>
        <p:spPr>
          <a:xfrm>
            <a:off x="7567612" y="5381625"/>
            <a:ext cx="4748213" cy="2457450"/>
          </a:xfrm>
          <a:prstGeom prst="roundRect">
            <a:avLst>
              <a:gd name="adj" fmla="val 4651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126" name="Shape 105"/>
          <p:cNvSpPr/>
          <p:nvPr/>
        </p:nvSpPr>
        <p:spPr>
          <a:xfrm>
            <a:off x="7577138" y="5800725"/>
            <a:ext cx="4729163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127" name="Text 106"/>
          <p:cNvSpPr/>
          <p:nvPr/>
        </p:nvSpPr>
        <p:spPr>
          <a:xfrm>
            <a:off x="7729538" y="5517356"/>
            <a:ext cx="158829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ACTIVE PROJECTS</a:t>
            </a:r>
            <a:endParaRPr lang="en-US" sz="825" dirty="0"/>
          </a:p>
        </p:txBody>
      </p:sp>
      <p:sp>
        <p:nvSpPr>
          <p:cNvPr id="128" name="Text 107"/>
          <p:cNvSpPr/>
          <p:nvPr/>
        </p:nvSpPr>
        <p:spPr>
          <a:xfrm>
            <a:off x="7653337" y="597566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63" dirty="0"/>
          </a:p>
        </p:txBody>
      </p:sp>
      <p:sp>
        <p:nvSpPr>
          <p:cNvPr id="129" name="Shape 108"/>
          <p:cNvSpPr/>
          <p:nvPr/>
        </p:nvSpPr>
        <p:spPr>
          <a:xfrm>
            <a:off x="8758238" y="596265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0" name="Shape 109"/>
          <p:cNvSpPr/>
          <p:nvPr/>
        </p:nvSpPr>
        <p:spPr>
          <a:xfrm>
            <a:off x="8758238" y="596265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131" name="Shape 110"/>
          <p:cNvSpPr/>
          <p:nvPr/>
        </p:nvSpPr>
        <p:spPr>
          <a:xfrm>
            <a:off x="11487150" y="5962650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32" name="Text 111"/>
          <p:cNvSpPr/>
          <p:nvPr/>
        </p:nvSpPr>
        <p:spPr>
          <a:xfrm>
            <a:off x="11544300" y="597217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5,210</a:t>
            </a:r>
            <a:endParaRPr lang="en-US" sz="900" dirty="0"/>
          </a:p>
        </p:txBody>
      </p:sp>
      <p:sp>
        <p:nvSpPr>
          <p:cNvPr id="133" name="Text 112"/>
          <p:cNvSpPr/>
          <p:nvPr/>
        </p:nvSpPr>
        <p:spPr>
          <a:xfrm>
            <a:off x="7653337" y="6270943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63" dirty="0"/>
          </a:p>
        </p:txBody>
      </p:sp>
      <p:sp>
        <p:nvSpPr>
          <p:cNvPr id="134" name="Shape 113"/>
          <p:cNvSpPr/>
          <p:nvPr/>
        </p:nvSpPr>
        <p:spPr>
          <a:xfrm>
            <a:off x="8758238" y="6257925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5" name="Shape 114"/>
          <p:cNvSpPr/>
          <p:nvPr/>
        </p:nvSpPr>
        <p:spPr>
          <a:xfrm>
            <a:off x="8758238" y="6257925"/>
            <a:ext cx="2542699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136" name="Shape 115"/>
          <p:cNvSpPr/>
          <p:nvPr/>
        </p:nvSpPr>
        <p:spPr>
          <a:xfrm>
            <a:off x="11281886" y="6257925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37" name="Text 116"/>
          <p:cNvSpPr/>
          <p:nvPr/>
        </p:nvSpPr>
        <p:spPr>
          <a:xfrm>
            <a:off x="11544300" y="6267450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4,821</a:t>
            </a:r>
            <a:endParaRPr lang="en-US" sz="900" dirty="0"/>
          </a:p>
        </p:txBody>
      </p:sp>
      <p:sp>
        <p:nvSpPr>
          <p:cNvPr id="138" name="Text 117"/>
          <p:cNvSpPr/>
          <p:nvPr/>
        </p:nvSpPr>
        <p:spPr>
          <a:xfrm>
            <a:off x="7653337" y="656621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web-client</a:t>
            </a:r>
            <a:endParaRPr lang="en-US" sz="863" dirty="0"/>
          </a:p>
        </p:txBody>
      </p:sp>
      <p:sp>
        <p:nvSpPr>
          <p:cNvPr id="139" name="Shape 118"/>
          <p:cNvSpPr/>
          <p:nvPr/>
        </p:nvSpPr>
        <p:spPr>
          <a:xfrm>
            <a:off x="8758238" y="655320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0" name="Shape 119"/>
          <p:cNvSpPr/>
          <p:nvPr/>
        </p:nvSpPr>
        <p:spPr>
          <a:xfrm>
            <a:off x="8758238" y="6553200"/>
            <a:ext cx="1886585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141" name="Shape 120"/>
          <p:cNvSpPr/>
          <p:nvPr/>
        </p:nvSpPr>
        <p:spPr>
          <a:xfrm>
            <a:off x="10625772" y="6553200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42" name="Text 121"/>
          <p:cNvSpPr/>
          <p:nvPr/>
        </p:nvSpPr>
        <p:spPr>
          <a:xfrm>
            <a:off x="11544300" y="656272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3,577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7653337" y="6861493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auth-service</a:t>
            </a:r>
            <a:endParaRPr lang="en-US" sz="863" dirty="0"/>
          </a:p>
        </p:txBody>
      </p:sp>
      <p:sp>
        <p:nvSpPr>
          <p:cNvPr id="144" name="Shape 123"/>
          <p:cNvSpPr/>
          <p:nvPr/>
        </p:nvSpPr>
        <p:spPr>
          <a:xfrm>
            <a:off x="8758238" y="6848475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5" name="Shape 124"/>
          <p:cNvSpPr/>
          <p:nvPr/>
        </p:nvSpPr>
        <p:spPr>
          <a:xfrm>
            <a:off x="8758238" y="6848475"/>
            <a:ext cx="1550670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146" name="Shape 125"/>
          <p:cNvSpPr/>
          <p:nvPr/>
        </p:nvSpPr>
        <p:spPr>
          <a:xfrm>
            <a:off x="10289858" y="6848475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47" name="Text 126"/>
          <p:cNvSpPr/>
          <p:nvPr/>
        </p:nvSpPr>
        <p:spPr>
          <a:xfrm>
            <a:off x="11544300" y="6858000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2,940</a:t>
            </a:r>
            <a:endParaRPr lang="en-US" sz="900" dirty="0"/>
          </a:p>
        </p:txBody>
      </p:sp>
      <p:sp>
        <p:nvSpPr>
          <p:cNvPr id="148" name="Text 127"/>
          <p:cNvSpPr/>
          <p:nvPr/>
        </p:nvSpPr>
        <p:spPr>
          <a:xfrm>
            <a:off x="7653337" y="715676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149" name="Shape 128"/>
          <p:cNvSpPr/>
          <p:nvPr/>
        </p:nvSpPr>
        <p:spPr>
          <a:xfrm>
            <a:off x="8758238" y="714375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0" name="Shape 129"/>
          <p:cNvSpPr/>
          <p:nvPr/>
        </p:nvSpPr>
        <p:spPr>
          <a:xfrm>
            <a:off x="8758238" y="7143750"/>
            <a:ext cx="1109663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151" name="Shape 130"/>
          <p:cNvSpPr/>
          <p:nvPr/>
        </p:nvSpPr>
        <p:spPr>
          <a:xfrm>
            <a:off x="9848850" y="7143750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52" name="Text 131"/>
          <p:cNvSpPr/>
          <p:nvPr/>
        </p:nvSpPr>
        <p:spPr>
          <a:xfrm>
            <a:off x="11544300" y="715327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2,104</a:t>
            </a:r>
            <a:endParaRPr lang="en-US" sz="900" dirty="0"/>
          </a:p>
        </p:txBody>
      </p:sp>
      <p:sp>
        <p:nvSpPr>
          <p:cNvPr id="153" name="Text 132"/>
          <p:cNvSpPr/>
          <p:nvPr/>
        </p:nvSpPr>
        <p:spPr>
          <a:xfrm>
            <a:off x="7653337" y="7452043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billing-worker</a:t>
            </a:r>
            <a:endParaRPr lang="en-US" sz="863" dirty="0"/>
          </a:p>
        </p:txBody>
      </p:sp>
      <p:sp>
        <p:nvSpPr>
          <p:cNvPr id="154" name="Shape 133"/>
          <p:cNvSpPr/>
          <p:nvPr/>
        </p:nvSpPr>
        <p:spPr>
          <a:xfrm>
            <a:off x="8758238" y="7439025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5" name="Shape 134"/>
          <p:cNvSpPr/>
          <p:nvPr/>
        </p:nvSpPr>
        <p:spPr>
          <a:xfrm>
            <a:off x="8758238" y="7439025"/>
            <a:ext cx="861219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156" name="Shape 135"/>
          <p:cNvSpPr/>
          <p:nvPr/>
        </p:nvSpPr>
        <p:spPr>
          <a:xfrm>
            <a:off x="9600406" y="7439025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57" name="Text 136"/>
          <p:cNvSpPr/>
          <p:nvPr/>
        </p:nvSpPr>
        <p:spPr>
          <a:xfrm>
            <a:off x="11544300" y="7448550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1,633</a:t>
            </a:r>
            <a:endParaRPr lang="en-US" sz="900" dirty="0"/>
          </a:p>
        </p:txBody>
      </p:sp>
      <p:sp>
        <p:nvSpPr>
          <p:cNvPr id="158" name="Shape 137"/>
          <p:cNvSpPr/>
          <p:nvPr/>
        </p:nvSpPr>
        <p:spPr>
          <a:xfrm>
            <a:off x="2628900" y="8029575"/>
            <a:ext cx="4748213" cy="4050506"/>
          </a:xfrm>
          <a:prstGeom prst="roundRect">
            <a:avLst>
              <a:gd name="adj" fmla="val 2822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159" name="Shape 138"/>
          <p:cNvSpPr/>
          <p:nvPr/>
        </p:nvSpPr>
        <p:spPr>
          <a:xfrm>
            <a:off x="2638425" y="8448675"/>
            <a:ext cx="4729163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160" name="Text 139"/>
          <p:cNvSpPr/>
          <p:nvPr/>
        </p:nvSpPr>
        <p:spPr>
          <a:xfrm>
            <a:off x="2790825" y="8165306"/>
            <a:ext cx="170259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MEMORIES BY DEVELOPER</a:t>
            </a:r>
            <a:endParaRPr lang="en-US" sz="825" dirty="0"/>
          </a:p>
        </p:txBody>
      </p:sp>
      <p:sp>
        <p:nvSpPr>
          <p:cNvPr id="161" name="Text 140"/>
          <p:cNvSpPr/>
          <p:nvPr/>
        </p:nvSpPr>
        <p:spPr>
          <a:xfrm>
            <a:off x="2714625" y="862361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63" dirty="0"/>
          </a:p>
        </p:txBody>
      </p:sp>
      <p:sp>
        <p:nvSpPr>
          <p:cNvPr id="162" name="Shape 141"/>
          <p:cNvSpPr/>
          <p:nvPr/>
        </p:nvSpPr>
        <p:spPr>
          <a:xfrm>
            <a:off x="3819525" y="861060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3" name="Shape 142"/>
          <p:cNvSpPr/>
          <p:nvPr/>
        </p:nvSpPr>
        <p:spPr>
          <a:xfrm>
            <a:off x="3819525" y="861060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9DC2F6">
              <a:alpha val="25000"/>
            </a:srgbClr>
          </a:solidFill>
          <a:ln/>
        </p:spPr>
      </p:sp>
      <p:sp>
        <p:nvSpPr>
          <p:cNvPr id="164" name="Shape 143"/>
          <p:cNvSpPr/>
          <p:nvPr/>
        </p:nvSpPr>
        <p:spPr>
          <a:xfrm>
            <a:off x="6548438" y="8610600"/>
            <a:ext cx="19050" cy="190500"/>
          </a:xfrm>
          <a:prstGeom prst="rect">
            <a:avLst/>
          </a:prstGeom>
          <a:solidFill>
            <a:srgbClr val="9DC2F6"/>
          </a:solidFill>
          <a:ln/>
        </p:spPr>
      </p:sp>
      <p:sp>
        <p:nvSpPr>
          <p:cNvPr id="165" name="Text 144"/>
          <p:cNvSpPr/>
          <p:nvPr/>
        </p:nvSpPr>
        <p:spPr>
          <a:xfrm>
            <a:off x="6605588" y="862012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</a:t>
            </a:r>
            <a:endParaRPr lang="en-US" sz="900" dirty="0"/>
          </a:p>
        </p:txBody>
      </p:sp>
      <p:sp>
        <p:nvSpPr>
          <p:cNvPr id="166" name="Text 145"/>
          <p:cNvSpPr/>
          <p:nvPr/>
        </p:nvSpPr>
        <p:spPr>
          <a:xfrm>
            <a:off x="2714625" y="890936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63" dirty="0"/>
          </a:p>
        </p:txBody>
      </p:sp>
      <p:sp>
        <p:nvSpPr>
          <p:cNvPr id="167" name="Shape 146"/>
          <p:cNvSpPr/>
          <p:nvPr/>
        </p:nvSpPr>
        <p:spPr>
          <a:xfrm>
            <a:off x="3819525" y="889635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8" name="Shape 147"/>
          <p:cNvSpPr/>
          <p:nvPr/>
        </p:nvSpPr>
        <p:spPr>
          <a:xfrm>
            <a:off x="3819525" y="8896350"/>
            <a:ext cx="2616994" cy="190500"/>
          </a:xfrm>
          <a:prstGeom prst="roundRect">
            <a:avLst>
              <a:gd name="adj" fmla="val 20000"/>
            </a:avLst>
          </a:prstGeom>
          <a:solidFill>
            <a:srgbClr val="2DD4BF">
              <a:alpha val="25000"/>
            </a:srgbClr>
          </a:solidFill>
          <a:ln/>
        </p:spPr>
      </p:sp>
      <p:sp>
        <p:nvSpPr>
          <p:cNvPr id="169" name="Shape 148"/>
          <p:cNvSpPr/>
          <p:nvPr/>
        </p:nvSpPr>
        <p:spPr>
          <a:xfrm>
            <a:off x="6417469" y="8896350"/>
            <a:ext cx="19050" cy="190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0" name="Text 149"/>
          <p:cNvSpPr/>
          <p:nvPr/>
        </p:nvSpPr>
        <p:spPr>
          <a:xfrm>
            <a:off x="6605588" y="890587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</a:t>
            </a:r>
            <a:endParaRPr lang="en-US" sz="900" dirty="0"/>
          </a:p>
        </p:txBody>
      </p:sp>
      <p:sp>
        <p:nvSpPr>
          <p:cNvPr id="171" name="Text 150"/>
          <p:cNvSpPr/>
          <p:nvPr/>
        </p:nvSpPr>
        <p:spPr>
          <a:xfrm>
            <a:off x="2714625" y="919511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63" dirty="0"/>
          </a:p>
        </p:txBody>
      </p:sp>
      <p:sp>
        <p:nvSpPr>
          <p:cNvPr id="172" name="Shape 151"/>
          <p:cNvSpPr/>
          <p:nvPr/>
        </p:nvSpPr>
        <p:spPr>
          <a:xfrm>
            <a:off x="3819525" y="918210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3" name="Shape 152"/>
          <p:cNvSpPr/>
          <p:nvPr/>
        </p:nvSpPr>
        <p:spPr>
          <a:xfrm>
            <a:off x="3819525" y="9182100"/>
            <a:ext cx="2409825" cy="190500"/>
          </a:xfrm>
          <a:prstGeom prst="roundRect">
            <a:avLst>
              <a:gd name="adj" fmla="val 20000"/>
            </a:avLst>
          </a:prstGeom>
          <a:solidFill>
            <a:srgbClr val="A78BFA">
              <a:alpha val="25000"/>
            </a:srgbClr>
          </a:solidFill>
          <a:ln/>
        </p:spPr>
      </p:sp>
      <p:sp>
        <p:nvSpPr>
          <p:cNvPr id="174" name="Shape 153"/>
          <p:cNvSpPr/>
          <p:nvPr/>
        </p:nvSpPr>
        <p:spPr>
          <a:xfrm>
            <a:off x="6210300" y="9182100"/>
            <a:ext cx="19050" cy="1905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5" name="Text 154"/>
          <p:cNvSpPr/>
          <p:nvPr/>
        </p:nvSpPr>
        <p:spPr>
          <a:xfrm>
            <a:off x="6605588" y="919162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221</a:t>
            </a:r>
            <a:endParaRPr lang="en-US" sz="900" dirty="0"/>
          </a:p>
        </p:txBody>
      </p:sp>
      <p:sp>
        <p:nvSpPr>
          <p:cNvPr id="176" name="Text 155"/>
          <p:cNvSpPr/>
          <p:nvPr/>
        </p:nvSpPr>
        <p:spPr>
          <a:xfrm>
            <a:off x="2714625" y="948086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177" name="Shape 156"/>
          <p:cNvSpPr/>
          <p:nvPr/>
        </p:nvSpPr>
        <p:spPr>
          <a:xfrm>
            <a:off x="3819525" y="946785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8" name="Shape 157"/>
          <p:cNvSpPr/>
          <p:nvPr/>
        </p:nvSpPr>
        <p:spPr>
          <a:xfrm>
            <a:off x="3819525" y="9467850"/>
            <a:ext cx="2137251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179" name="Shape 158"/>
          <p:cNvSpPr/>
          <p:nvPr/>
        </p:nvSpPr>
        <p:spPr>
          <a:xfrm>
            <a:off x="5937726" y="9467850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180" name="Text 159"/>
          <p:cNvSpPr/>
          <p:nvPr/>
        </p:nvSpPr>
        <p:spPr>
          <a:xfrm>
            <a:off x="6605588" y="947737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</a:t>
            </a:r>
            <a:endParaRPr lang="en-US" sz="900" dirty="0"/>
          </a:p>
        </p:txBody>
      </p:sp>
      <p:sp>
        <p:nvSpPr>
          <p:cNvPr id="181" name="Text 160"/>
          <p:cNvSpPr/>
          <p:nvPr/>
        </p:nvSpPr>
        <p:spPr>
          <a:xfrm>
            <a:off x="2714625" y="976661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82" name="Shape 161"/>
          <p:cNvSpPr/>
          <p:nvPr/>
        </p:nvSpPr>
        <p:spPr>
          <a:xfrm>
            <a:off x="3819525" y="975360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83" name="Shape 162"/>
          <p:cNvSpPr/>
          <p:nvPr/>
        </p:nvSpPr>
        <p:spPr>
          <a:xfrm>
            <a:off x="3819525" y="9753600"/>
            <a:ext cx="1646555" cy="190500"/>
          </a:xfrm>
          <a:prstGeom prst="roundRect">
            <a:avLst>
              <a:gd name="adj" fmla="val 20000"/>
            </a:avLst>
          </a:prstGeom>
          <a:solidFill>
            <a:srgbClr val="E0246F">
              <a:alpha val="25000"/>
            </a:srgbClr>
          </a:solidFill>
          <a:ln/>
        </p:spPr>
      </p:sp>
      <p:sp>
        <p:nvSpPr>
          <p:cNvPr id="184" name="Shape 163"/>
          <p:cNvSpPr/>
          <p:nvPr/>
        </p:nvSpPr>
        <p:spPr>
          <a:xfrm>
            <a:off x="5447030" y="9753600"/>
            <a:ext cx="19050" cy="190500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85" name="Text 164"/>
          <p:cNvSpPr/>
          <p:nvPr/>
        </p:nvSpPr>
        <p:spPr>
          <a:xfrm>
            <a:off x="6605588" y="976312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151</a:t>
            </a:r>
            <a:endParaRPr lang="en-US" sz="900" dirty="0"/>
          </a:p>
        </p:txBody>
      </p:sp>
      <p:sp>
        <p:nvSpPr>
          <p:cNvPr id="186" name="Text 165"/>
          <p:cNvSpPr/>
          <p:nvPr/>
        </p:nvSpPr>
        <p:spPr>
          <a:xfrm>
            <a:off x="2714625" y="1005236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863" dirty="0"/>
          </a:p>
        </p:txBody>
      </p:sp>
      <p:sp>
        <p:nvSpPr>
          <p:cNvPr id="187" name="Shape 166"/>
          <p:cNvSpPr/>
          <p:nvPr/>
        </p:nvSpPr>
        <p:spPr>
          <a:xfrm>
            <a:off x="3819525" y="1003935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88" name="Shape 167"/>
          <p:cNvSpPr/>
          <p:nvPr/>
        </p:nvSpPr>
        <p:spPr>
          <a:xfrm>
            <a:off x="3819525" y="10039350"/>
            <a:ext cx="1537494" cy="190500"/>
          </a:xfrm>
          <a:prstGeom prst="roundRect">
            <a:avLst>
              <a:gd name="adj" fmla="val 20000"/>
            </a:avLst>
          </a:prstGeom>
          <a:solidFill>
            <a:srgbClr val="22B85C">
              <a:alpha val="25000"/>
            </a:srgbClr>
          </a:solidFill>
          <a:ln/>
        </p:spPr>
      </p:sp>
      <p:sp>
        <p:nvSpPr>
          <p:cNvPr id="189" name="Shape 168"/>
          <p:cNvSpPr/>
          <p:nvPr/>
        </p:nvSpPr>
        <p:spPr>
          <a:xfrm>
            <a:off x="5337969" y="10039350"/>
            <a:ext cx="19050" cy="1905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190" name="Text 169"/>
          <p:cNvSpPr/>
          <p:nvPr/>
        </p:nvSpPr>
        <p:spPr>
          <a:xfrm>
            <a:off x="6605588" y="1004887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141</a:t>
            </a:r>
            <a:endParaRPr lang="en-US" sz="900" dirty="0"/>
          </a:p>
        </p:txBody>
      </p:sp>
      <p:sp>
        <p:nvSpPr>
          <p:cNvPr id="191" name="Text 170"/>
          <p:cNvSpPr/>
          <p:nvPr/>
        </p:nvSpPr>
        <p:spPr>
          <a:xfrm>
            <a:off x="2714625" y="1033811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</a:t>
            </a:r>
            <a:endParaRPr lang="en-US" sz="863" dirty="0"/>
          </a:p>
        </p:txBody>
      </p:sp>
      <p:sp>
        <p:nvSpPr>
          <p:cNvPr id="192" name="Shape 171"/>
          <p:cNvSpPr/>
          <p:nvPr/>
        </p:nvSpPr>
        <p:spPr>
          <a:xfrm>
            <a:off x="3819525" y="1032510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3" name="Shape 172"/>
          <p:cNvSpPr/>
          <p:nvPr/>
        </p:nvSpPr>
        <p:spPr>
          <a:xfrm>
            <a:off x="3819525" y="10325100"/>
            <a:ext cx="1133951" cy="190500"/>
          </a:xfrm>
          <a:prstGeom prst="roundRect">
            <a:avLst>
              <a:gd name="adj" fmla="val 20000"/>
            </a:avLst>
          </a:prstGeom>
          <a:solidFill>
            <a:srgbClr val="22B85C">
              <a:alpha val="25000"/>
            </a:srgbClr>
          </a:solidFill>
          <a:ln/>
        </p:spPr>
      </p:sp>
      <p:sp>
        <p:nvSpPr>
          <p:cNvPr id="194" name="Shape 173"/>
          <p:cNvSpPr/>
          <p:nvPr/>
        </p:nvSpPr>
        <p:spPr>
          <a:xfrm>
            <a:off x="4934426" y="10325100"/>
            <a:ext cx="19050" cy="1905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195" name="Text 174"/>
          <p:cNvSpPr/>
          <p:nvPr/>
        </p:nvSpPr>
        <p:spPr>
          <a:xfrm>
            <a:off x="6605588" y="1033462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104</a:t>
            </a:r>
            <a:endParaRPr lang="en-US" sz="900" dirty="0"/>
          </a:p>
        </p:txBody>
      </p:sp>
      <p:sp>
        <p:nvSpPr>
          <p:cNvPr id="196" name="Text 175"/>
          <p:cNvSpPr/>
          <p:nvPr/>
        </p:nvSpPr>
        <p:spPr>
          <a:xfrm>
            <a:off x="2714625" y="1062386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</a:t>
            </a:r>
            <a:endParaRPr lang="en-US" sz="863" dirty="0"/>
          </a:p>
        </p:txBody>
      </p:sp>
      <p:sp>
        <p:nvSpPr>
          <p:cNvPr id="197" name="Shape 176"/>
          <p:cNvSpPr/>
          <p:nvPr/>
        </p:nvSpPr>
        <p:spPr>
          <a:xfrm>
            <a:off x="3819525" y="1061085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8" name="Shape 177"/>
          <p:cNvSpPr/>
          <p:nvPr/>
        </p:nvSpPr>
        <p:spPr>
          <a:xfrm>
            <a:off x="3819525" y="10610850"/>
            <a:ext cx="1024890" cy="190500"/>
          </a:xfrm>
          <a:prstGeom prst="roundRect">
            <a:avLst>
              <a:gd name="adj" fmla="val 20000"/>
            </a:avLst>
          </a:prstGeom>
          <a:solidFill>
            <a:srgbClr val="E0A22E">
              <a:alpha val="25000"/>
            </a:srgbClr>
          </a:solidFill>
          <a:ln/>
        </p:spPr>
      </p:sp>
      <p:sp>
        <p:nvSpPr>
          <p:cNvPr id="199" name="Shape 178"/>
          <p:cNvSpPr/>
          <p:nvPr/>
        </p:nvSpPr>
        <p:spPr>
          <a:xfrm>
            <a:off x="4825365" y="10610850"/>
            <a:ext cx="19050" cy="190500"/>
          </a:xfrm>
          <a:prstGeom prst="rect">
            <a:avLst/>
          </a:prstGeom>
          <a:solidFill>
            <a:srgbClr val="E0A22E"/>
          </a:solidFill>
          <a:ln/>
        </p:spPr>
      </p:sp>
      <p:sp>
        <p:nvSpPr>
          <p:cNvPr id="200" name="Text 179"/>
          <p:cNvSpPr/>
          <p:nvPr/>
        </p:nvSpPr>
        <p:spPr>
          <a:xfrm>
            <a:off x="6605588" y="1062037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</a:t>
            </a:r>
            <a:endParaRPr lang="en-US" sz="900" dirty="0"/>
          </a:p>
        </p:txBody>
      </p:sp>
      <p:sp>
        <p:nvSpPr>
          <p:cNvPr id="201" name="Text 180"/>
          <p:cNvSpPr/>
          <p:nvPr/>
        </p:nvSpPr>
        <p:spPr>
          <a:xfrm>
            <a:off x="2714625" y="10909618"/>
            <a:ext cx="9906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agent-11</a:t>
            </a:r>
            <a:endParaRPr lang="en-US" sz="863" dirty="0"/>
          </a:p>
        </p:txBody>
      </p:sp>
      <p:sp>
        <p:nvSpPr>
          <p:cNvPr id="202" name="Shape 181"/>
          <p:cNvSpPr/>
          <p:nvPr/>
        </p:nvSpPr>
        <p:spPr>
          <a:xfrm>
            <a:off x="3819525" y="10896600"/>
            <a:ext cx="2747963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203" name="Shape 182"/>
          <p:cNvSpPr/>
          <p:nvPr/>
        </p:nvSpPr>
        <p:spPr>
          <a:xfrm>
            <a:off x="3819525" y="10896600"/>
            <a:ext cx="1003141" cy="190500"/>
          </a:xfrm>
          <a:prstGeom prst="roundRect">
            <a:avLst>
              <a:gd name="adj" fmla="val 20000"/>
            </a:avLst>
          </a:prstGeom>
          <a:solidFill>
            <a:srgbClr val="3B82E8">
              <a:alpha val="25000"/>
            </a:srgbClr>
          </a:solidFill>
          <a:ln/>
        </p:spPr>
      </p:sp>
      <p:sp>
        <p:nvSpPr>
          <p:cNvPr id="204" name="Shape 183"/>
          <p:cNvSpPr/>
          <p:nvPr/>
        </p:nvSpPr>
        <p:spPr>
          <a:xfrm>
            <a:off x="4803616" y="10896600"/>
            <a:ext cx="19050" cy="190500"/>
          </a:xfrm>
          <a:prstGeom prst="rect">
            <a:avLst/>
          </a:prstGeom>
          <a:solidFill>
            <a:srgbClr val="3B82E8"/>
          </a:solidFill>
          <a:ln/>
        </p:spPr>
      </p:sp>
      <p:sp>
        <p:nvSpPr>
          <p:cNvPr id="205" name="Text 184"/>
          <p:cNvSpPr/>
          <p:nvPr/>
        </p:nvSpPr>
        <p:spPr>
          <a:xfrm>
            <a:off x="6605588" y="10906125"/>
            <a:ext cx="609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</a:t>
            </a:r>
            <a:endParaRPr lang="en-US" sz="900" dirty="0"/>
          </a:p>
        </p:txBody>
      </p:sp>
      <p:sp>
        <p:nvSpPr>
          <p:cNvPr id="206" name="Shape 185"/>
          <p:cNvSpPr/>
          <p:nvPr/>
        </p:nvSpPr>
        <p:spPr>
          <a:xfrm>
            <a:off x="7567612" y="8029575"/>
            <a:ext cx="4748213" cy="4050506"/>
          </a:xfrm>
          <a:prstGeom prst="roundRect">
            <a:avLst>
              <a:gd name="adj" fmla="val 2822"/>
            </a:avLst>
          </a:prstGeom>
          <a:solidFill>
            <a:srgbClr val="131C2E"/>
          </a:solidFill>
          <a:ln w="9525">
            <a:solidFill>
              <a:srgbClr val="1B2333"/>
            </a:solidFill>
            <a:prstDash val="solid"/>
          </a:ln>
          <a:effectLst>
            <a:outerShdw sx="100000" sy="100000" kx="0" ky="0" algn="bl" rotWithShape="0" blurRad="323850" dist="133350" dir="5400000">
              <a:srgbClr val="000000">
                <a:alpha val="95000"/>
              </a:srgbClr>
            </a:outerShdw>
          </a:effectLst>
        </p:spPr>
      </p:sp>
      <p:sp>
        <p:nvSpPr>
          <p:cNvPr id="207" name="Shape 186"/>
          <p:cNvSpPr/>
          <p:nvPr/>
        </p:nvSpPr>
        <p:spPr>
          <a:xfrm>
            <a:off x="7577138" y="8448675"/>
            <a:ext cx="4729163" cy="9525"/>
          </a:xfrm>
          <a:prstGeom prst="rect">
            <a:avLst/>
          </a:prstGeom>
          <a:solidFill>
            <a:srgbClr val="1B2333"/>
          </a:solidFill>
          <a:ln/>
        </p:spPr>
      </p:sp>
      <p:sp>
        <p:nvSpPr>
          <p:cNvPr id="208" name="Text 187"/>
          <p:cNvSpPr/>
          <p:nvPr/>
        </p:nvSpPr>
        <p:spPr>
          <a:xfrm>
            <a:off x="7729538" y="8165306"/>
            <a:ext cx="248046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b="1" spc="116" kern="0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SUCCESS RATIO · BY DEVELOPER</a:t>
            </a:r>
            <a:endParaRPr lang="en-US" sz="825" dirty="0"/>
          </a:p>
        </p:txBody>
      </p:sp>
      <p:sp>
        <p:nvSpPr>
          <p:cNvPr id="209" name="Shape 188"/>
          <p:cNvSpPr/>
          <p:nvPr/>
        </p:nvSpPr>
        <p:spPr>
          <a:xfrm>
            <a:off x="7577138" y="8791575"/>
            <a:ext cx="4729163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210" name="Text 189"/>
          <p:cNvSpPr/>
          <p:nvPr/>
        </p:nvSpPr>
        <p:spPr>
          <a:xfrm>
            <a:off x="7729538" y="8553450"/>
            <a:ext cx="1123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</a:t>
            </a:r>
            <a:endParaRPr lang="en-US" sz="750" dirty="0"/>
          </a:p>
        </p:txBody>
      </p:sp>
      <p:sp>
        <p:nvSpPr>
          <p:cNvPr id="211" name="Text 190"/>
          <p:cNvSpPr/>
          <p:nvPr/>
        </p:nvSpPr>
        <p:spPr>
          <a:xfrm>
            <a:off x="8891588" y="8553450"/>
            <a:ext cx="261461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 VS FAIL</a:t>
            </a:r>
            <a:endParaRPr lang="en-US" sz="750" dirty="0"/>
          </a:p>
        </p:txBody>
      </p:sp>
      <p:sp>
        <p:nvSpPr>
          <p:cNvPr id="212" name="Text 191"/>
          <p:cNvSpPr/>
          <p:nvPr/>
        </p:nvSpPr>
        <p:spPr>
          <a:xfrm>
            <a:off x="11468100" y="8553450"/>
            <a:ext cx="6858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</a:t>
            </a:r>
            <a:endParaRPr lang="en-US" sz="750" dirty="0"/>
          </a:p>
        </p:txBody>
      </p:sp>
      <p:sp>
        <p:nvSpPr>
          <p:cNvPr id="213" name="Shape 192"/>
          <p:cNvSpPr/>
          <p:nvPr/>
        </p:nvSpPr>
        <p:spPr>
          <a:xfrm>
            <a:off x="7577138" y="9155906"/>
            <a:ext cx="4729163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14" name="Text 193"/>
          <p:cNvSpPr/>
          <p:nvPr/>
        </p:nvSpPr>
        <p:spPr>
          <a:xfrm>
            <a:off x="7729538" y="8896350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15" name="Shape 194"/>
          <p:cNvSpPr/>
          <p:nvPr/>
        </p:nvSpPr>
        <p:spPr>
          <a:xfrm>
            <a:off x="8891588" y="8940324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16" name="Shape 195"/>
          <p:cNvSpPr/>
          <p:nvPr/>
        </p:nvSpPr>
        <p:spPr>
          <a:xfrm>
            <a:off x="8891588" y="8940324"/>
            <a:ext cx="2335213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17" name="Shape 196"/>
          <p:cNvSpPr/>
          <p:nvPr/>
        </p:nvSpPr>
        <p:spPr>
          <a:xfrm>
            <a:off x="11226800" y="8940324"/>
            <a:ext cx="203041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18" name="Text 197"/>
          <p:cNvSpPr/>
          <p:nvPr/>
        </p:nvSpPr>
        <p:spPr>
          <a:xfrm>
            <a:off x="11468100" y="8896350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92%</a:t>
            </a:r>
            <a:endParaRPr lang="en-US" sz="863" dirty="0"/>
          </a:p>
        </p:txBody>
      </p:sp>
      <p:sp>
        <p:nvSpPr>
          <p:cNvPr id="219" name="Shape 198"/>
          <p:cNvSpPr/>
          <p:nvPr/>
        </p:nvSpPr>
        <p:spPr>
          <a:xfrm>
            <a:off x="7577138" y="9520238"/>
            <a:ext cx="4729163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0" name="Text 199"/>
          <p:cNvSpPr/>
          <p:nvPr/>
        </p:nvSpPr>
        <p:spPr>
          <a:xfrm>
            <a:off x="7729538" y="9260681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221" name="Shape 200"/>
          <p:cNvSpPr/>
          <p:nvPr/>
        </p:nvSpPr>
        <p:spPr>
          <a:xfrm>
            <a:off x="8891588" y="9304655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22" name="Shape 201"/>
          <p:cNvSpPr/>
          <p:nvPr/>
        </p:nvSpPr>
        <p:spPr>
          <a:xfrm>
            <a:off x="8891588" y="9304655"/>
            <a:ext cx="2436812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23" name="Shape 202"/>
          <p:cNvSpPr/>
          <p:nvPr/>
        </p:nvSpPr>
        <p:spPr>
          <a:xfrm>
            <a:off x="11328400" y="9304655"/>
            <a:ext cx="101441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24" name="Text 203"/>
          <p:cNvSpPr/>
          <p:nvPr/>
        </p:nvSpPr>
        <p:spPr>
          <a:xfrm>
            <a:off x="11468100" y="9260681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96%</a:t>
            </a:r>
            <a:endParaRPr lang="en-US" sz="863" dirty="0"/>
          </a:p>
        </p:txBody>
      </p:sp>
      <p:sp>
        <p:nvSpPr>
          <p:cNvPr id="225" name="Shape 204"/>
          <p:cNvSpPr/>
          <p:nvPr/>
        </p:nvSpPr>
        <p:spPr>
          <a:xfrm>
            <a:off x="7577138" y="9884569"/>
            <a:ext cx="4729163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6" name="Text 205"/>
          <p:cNvSpPr/>
          <p:nvPr/>
        </p:nvSpPr>
        <p:spPr>
          <a:xfrm>
            <a:off x="7729538" y="9625013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863" dirty="0"/>
          </a:p>
        </p:txBody>
      </p:sp>
      <p:sp>
        <p:nvSpPr>
          <p:cNvPr id="227" name="Shape 206"/>
          <p:cNvSpPr/>
          <p:nvPr/>
        </p:nvSpPr>
        <p:spPr>
          <a:xfrm>
            <a:off x="8891588" y="9668987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28" name="Shape 207"/>
          <p:cNvSpPr/>
          <p:nvPr/>
        </p:nvSpPr>
        <p:spPr>
          <a:xfrm>
            <a:off x="8891588" y="9668987"/>
            <a:ext cx="2411413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29" name="Shape 208"/>
          <p:cNvSpPr/>
          <p:nvPr/>
        </p:nvSpPr>
        <p:spPr>
          <a:xfrm>
            <a:off x="11303000" y="9668987"/>
            <a:ext cx="126841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30" name="Text 209"/>
          <p:cNvSpPr/>
          <p:nvPr/>
        </p:nvSpPr>
        <p:spPr>
          <a:xfrm>
            <a:off x="11468100" y="9625013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</a:t>
            </a:r>
            <a:endParaRPr lang="en-US" sz="863" dirty="0"/>
          </a:p>
        </p:txBody>
      </p:sp>
      <p:sp>
        <p:nvSpPr>
          <p:cNvPr id="231" name="Shape 210"/>
          <p:cNvSpPr/>
          <p:nvPr/>
        </p:nvSpPr>
        <p:spPr>
          <a:xfrm>
            <a:off x="7577138" y="10248900"/>
            <a:ext cx="4729163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2" name="Text 211"/>
          <p:cNvSpPr/>
          <p:nvPr/>
        </p:nvSpPr>
        <p:spPr>
          <a:xfrm>
            <a:off x="7729538" y="9989344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</a:t>
            </a:r>
            <a:endParaRPr lang="en-US" sz="863" dirty="0"/>
          </a:p>
        </p:txBody>
      </p:sp>
      <p:sp>
        <p:nvSpPr>
          <p:cNvPr id="233" name="Shape 212"/>
          <p:cNvSpPr/>
          <p:nvPr/>
        </p:nvSpPr>
        <p:spPr>
          <a:xfrm>
            <a:off x="8891588" y="10033318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34" name="Shape 213"/>
          <p:cNvSpPr/>
          <p:nvPr/>
        </p:nvSpPr>
        <p:spPr>
          <a:xfrm>
            <a:off x="8891588" y="10033318"/>
            <a:ext cx="1954530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35" name="Shape 214"/>
          <p:cNvSpPr/>
          <p:nvPr/>
        </p:nvSpPr>
        <p:spPr>
          <a:xfrm>
            <a:off x="10846117" y="10033318"/>
            <a:ext cx="583724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36" name="Text 215"/>
          <p:cNvSpPr/>
          <p:nvPr/>
        </p:nvSpPr>
        <p:spPr>
          <a:xfrm>
            <a:off x="11468100" y="9989344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77%</a:t>
            </a:r>
            <a:endParaRPr lang="en-US" sz="863" dirty="0"/>
          </a:p>
        </p:txBody>
      </p:sp>
      <p:sp>
        <p:nvSpPr>
          <p:cNvPr id="237" name="Shape 216"/>
          <p:cNvSpPr/>
          <p:nvPr/>
        </p:nvSpPr>
        <p:spPr>
          <a:xfrm>
            <a:off x="7577138" y="10613231"/>
            <a:ext cx="4729163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8" name="Text 217"/>
          <p:cNvSpPr/>
          <p:nvPr/>
        </p:nvSpPr>
        <p:spPr>
          <a:xfrm>
            <a:off x="7729538" y="10353675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63" dirty="0"/>
          </a:p>
        </p:txBody>
      </p:sp>
      <p:sp>
        <p:nvSpPr>
          <p:cNvPr id="239" name="Shape 218"/>
          <p:cNvSpPr/>
          <p:nvPr/>
        </p:nvSpPr>
        <p:spPr>
          <a:xfrm>
            <a:off x="8891588" y="10397649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40" name="Shape 219"/>
          <p:cNvSpPr/>
          <p:nvPr/>
        </p:nvSpPr>
        <p:spPr>
          <a:xfrm>
            <a:off x="8891588" y="10397649"/>
            <a:ext cx="812165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41" name="Shape 220"/>
          <p:cNvSpPr/>
          <p:nvPr/>
        </p:nvSpPr>
        <p:spPr>
          <a:xfrm>
            <a:off x="9703752" y="10397649"/>
            <a:ext cx="1726089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42" name="Text 221"/>
          <p:cNvSpPr/>
          <p:nvPr/>
        </p:nvSpPr>
        <p:spPr>
          <a:xfrm>
            <a:off x="11468100" y="10353675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32%</a:t>
            </a:r>
            <a:endParaRPr lang="en-US" sz="863" dirty="0"/>
          </a:p>
        </p:txBody>
      </p:sp>
      <p:sp>
        <p:nvSpPr>
          <p:cNvPr id="243" name="Shape 222"/>
          <p:cNvSpPr/>
          <p:nvPr/>
        </p:nvSpPr>
        <p:spPr>
          <a:xfrm>
            <a:off x="7577138" y="10977563"/>
            <a:ext cx="4729163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4" name="Text 223"/>
          <p:cNvSpPr/>
          <p:nvPr/>
        </p:nvSpPr>
        <p:spPr>
          <a:xfrm>
            <a:off x="7729538" y="10718006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63" dirty="0"/>
          </a:p>
        </p:txBody>
      </p:sp>
      <p:sp>
        <p:nvSpPr>
          <p:cNvPr id="245" name="Shape 224"/>
          <p:cNvSpPr/>
          <p:nvPr/>
        </p:nvSpPr>
        <p:spPr>
          <a:xfrm>
            <a:off x="8891588" y="10761980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46" name="Shape 225"/>
          <p:cNvSpPr/>
          <p:nvPr/>
        </p:nvSpPr>
        <p:spPr>
          <a:xfrm>
            <a:off x="8891588" y="10761980"/>
            <a:ext cx="1726089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47" name="Shape 226"/>
          <p:cNvSpPr/>
          <p:nvPr/>
        </p:nvSpPr>
        <p:spPr>
          <a:xfrm>
            <a:off x="10617676" y="10761980"/>
            <a:ext cx="812165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48" name="Text 227"/>
          <p:cNvSpPr/>
          <p:nvPr/>
        </p:nvSpPr>
        <p:spPr>
          <a:xfrm>
            <a:off x="11468100" y="10718006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68%</a:t>
            </a:r>
            <a:endParaRPr lang="en-US" sz="863" dirty="0"/>
          </a:p>
        </p:txBody>
      </p:sp>
      <p:sp>
        <p:nvSpPr>
          <p:cNvPr id="249" name="Shape 228"/>
          <p:cNvSpPr/>
          <p:nvPr/>
        </p:nvSpPr>
        <p:spPr>
          <a:xfrm>
            <a:off x="7577138" y="11341894"/>
            <a:ext cx="4729163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0" name="Text 229"/>
          <p:cNvSpPr/>
          <p:nvPr/>
        </p:nvSpPr>
        <p:spPr>
          <a:xfrm>
            <a:off x="7729538" y="11082338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863" dirty="0"/>
          </a:p>
        </p:txBody>
      </p:sp>
      <p:sp>
        <p:nvSpPr>
          <p:cNvPr id="251" name="Shape 230"/>
          <p:cNvSpPr/>
          <p:nvPr/>
        </p:nvSpPr>
        <p:spPr>
          <a:xfrm>
            <a:off x="8891588" y="11126312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52" name="Shape 231"/>
          <p:cNvSpPr/>
          <p:nvPr/>
        </p:nvSpPr>
        <p:spPr>
          <a:xfrm>
            <a:off x="8891588" y="11126312"/>
            <a:ext cx="1142206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53" name="Shape 232"/>
          <p:cNvSpPr/>
          <p:nvPr/>
        </p:nvSpPr>
        <p:spPr>
          <a:xfrm>
            <a:off x="10033793" y="11126312"/>
            <a:ext cx="1396047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54" name="Text 233"/>
          <p:cNvSpPr/>
          <p:nvPr/>
        </p:nvSpPr>
        <p:spPr>
          <a:xfrm>
            <a:off x="11468100" y="11082338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45%</a:t>
            </a:r>
            <a:endParaRPr lang="en-US" sz="863" dirty="0"/>
          </a:p>
        </p:txBody>
      </p:sp>
      <p:sp>
        <p:nvSpPr>
          <p:cNvPr id="255" name="Shape 234"/>
          <p:cNvSpPr/>
          <p:nvPr/>
        </p:nvSpPr>
        <p:spPr>
          <a:xfrm>
            <a:off x="7577138" y="11706225"/>
            <a:ext cx="4729163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6" name="Text 235"/>
          <p:cNvSpPr/>
          <p:nvPr/>
        </p:nvSpPr>
        <p:spPr>
          <a:xfrm>
            <a:off x="7729538" y="11446669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</a:t>
            </a:r>
            <a:endParaRPr lang="en-US" sz="863" dirty="0"/>
          </a:p>
        </p:txBody>
      </p:sp>
      <p:sp>
        <p:nvSpPr>
          <p:cNvPr id="257" name="Shape 236"/>
          <p:cNvSpPr/>
          <p:nvPr/>
        </p:nvSpPr>
        <p:spPr>
          <a:xfrm>
            <a:off x="8891588" y="11490643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58" name="Shape 237"/>
          <p:cNvSpPr/>
          <p:nvPr/>
        </p:nvSpPr>
        <p:spPr>
          <a:xfrm>
            <a:off x="8891588" y="11490643"/>
            <a:ext cx="2335213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59" name="Shape 238"/>
          <p:cNvSpPr/>
          <p:nvPr/>
        </p:nvSpPr>
        <p:spPr>
          <a:xfrm>
            <a:off x="11226800" y="11490643"/>
            <a:ext cx="203041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60" name="Text 239"/>
          <p:cNvSpPr/>
          <p:nvPr/>
        </p:nvSpPr>
        <p:spPr>
          <a:xfrm>
            <a:off x="11468100" y="11446669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92%</a:t>
            </a:r>
            <a:endParaRPr lang="en-US" sz="863" dirty="0"/>
          </a:p>
        </p:txBody>
      </p:sp>
      <p:sp>
        <p:nvSpPr>
          <p:cNvPr id="261" name="Text 240"/>
          <p:cNvSpPr/>
          <p:nvPr/>
        </p:nvSpPr>
        <p:spPr>
          <a:xfrm>
            <a:off x="7729538" y="11811000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agent-11</a:t>
            </a:r>
            <a:endParaRPr lang="en-US" sz="863" dirty="0"/>
          </a:p>
        </p:txBody>
      </p:sp>
      <p:sp>
        <p:nvSpPr>
          <p:cNvPr id="262" name="Shape 241"/>
          <p:cNvSpPr/>
          <p:nvPr/>
        </p:nvSpPr>
        <p:spPr>
          <a:xfrm>
            <a:off x="8891588" y="11854974"/>
            <a:ext cx="2538413" cy="76200"/>
          </a:xfrm>
          <a:prstGeom prst="roundRect">
            <a:avLst>
              <a:gd name="adj" fmla="val 50000"/>
            </a:avLst>
          </a:prstGeom>
          <a:solidFill>
            <a:srgbClr val="161D2A"/>
          </a:solidFill>
          <a:ln/>
        </p:spPr>
      </p:sp>
      <p:sp>
        <p:nvSpPr>
          <p:cNvPr id="263" name="Shape 242"/>
          <p:cNvSpPr/>
          <p:nvPr/>
        </p:nvSpPr>
        <p:spPr>
          <a:xfrm>
            <a:off x="8891588" y="11854974"/>
            <a:ext cx="2487613" cy="76200"/>
          </a:xfrm>
          <a:prstGeom prst="rect">
            <a:avLst/>
          </a:prstGeom>
          <a:solidFill>
            <a:srgbClr val="22B85C"/>
          </a:solidFill>
          <a:ln/>
        </p:spPr>
      </p:sp>
      <p:sp>
        <p:nvSpPr>
          <p:cNvPr id="264" name="Shape 243"/>
          <p:cNvSpPr/>
          <p:nvPr/>
        </p:nvSpPr>
        <p:spPr>
          <a:xfrm>
            <a:off x="11379200" y="11854974"/>
            <a:ext cx="50641" cy="76200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65" name="Text 244"/>
          <p:cNvSpPr/>
          <p:nvPr/>
        </p:nvSpPr>
        <p:spPr>
          <a:xfrm>
            <a:off x="11468100" y="11811000"/>
            <a:ext cx="6858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98%</a:t>
            </a:r>
            <a:endParaRPr lang="en-US" sz="863" dirty="0"/>
          </a:p>
        </p:txBody>
      </p:sp>
      <p:sp>
        <p:nvSpPr>
          <p:cNvPr id="266" name="Shape 245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67" name="Shape 246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68" name="Shape 247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9" name="Text 248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70" name="Text 249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71" name="Text 250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72" name="Shape 251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3" name="Text 252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74" name="Text 253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75" name="Shape 254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76" name="Shape 255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7" name="Shape 256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78" name="Shape 257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79" name="Text 258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80" name="Text 259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81" name="Shape 260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82" name="Text 261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83" name="Text 262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84" name="Text 263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85" name="Shape 264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86" name="Shape 265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7" name="Shape 266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88" name="Shape 267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89" name="Text 268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90" name="Text 269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91" name="Shape 270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92" name="Text 271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93" name="Text 272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94" name="Text 273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95" name="Shape 274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96" name="Shape 275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97" name="Shape 276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98" name="Shape 277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99" name="Text 278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300" name="Text 279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301" name="Shape 280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302" name="Text 281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303" name="Text 282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304" name="Text 283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305" name="Shape 284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06" name="Shape 285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307" name="Text 286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308" name="Text 287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309" name="Shape 288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310" name="Text 289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11" name="Text 290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312" name="Text 291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313" name="Shape 292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14" name="Shape 293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315" name="Text 294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316" name="Text 295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317" name="Shape 296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318" name="Text 297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319" name="Text 298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320" name="Text 299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321" name="Shape 300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22" name="Shape 301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323" name="Text 302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324" name="Text 303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325" name="Shape 304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326" name="Text 305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327" name="Text 306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328" name="Text 307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329" name="Shape 308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30" name="Shape 309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331" name="Text 310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332" name="Text 311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333" name="Shape 312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334" name="Text 313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335" name="Text 314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336" name="Text 315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5" name="Text 15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2" name="Text 19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5" name="Text 21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sp>
        <p:nvSpPr>
          <p:cNvPr id="36" name="Shape 22"/>
          <p:cNvSpPr/>
          <p:nvPr/>
        </p:nvSpPr>
        <p:spPr>
          <a:xfrm>
            <a:off x="114300" y="5695950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37" name="Shape 23"/>
          <p:cNvSpPr/>
          <p:nvPr/>
        </p:nvSpPr>
        <p:spPr>
          <a:xfrm>
            <a:off x="114300" y="5772150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057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ROLES, ACCESS &amp; GOVERNANCE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057400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Management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38200"/>
            <a:ext cx="9686925" cy="419100"/>
          </a:xfrm>
          <a:prstGeom prst="roundRect">
            <a:avLst>
              <a:gd name="adj" fmla="val 27273"/>
            </a:avLst>
          </a:prstGeom>
          <a:solidFill>
            <a:srgbClr val="E0A22E">
              <a:alpha val="7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2790825" y="1014413"/>
            <a:ext cx="66675" cy="66675"/>
          </a:xfrm>
          <a:prstGeom prst="ellipse">
            <a:avLst/>
          </a:prstGeom>
          <a:solidFill>
            <a:srgbClr val="E0A22E"/>
          </a:solidFill>
          <a:ln/>
        </p:spPr>
      </p:sp>
      <p:sp>
        <p:nvSpPr>
          <p:cNvPr id="67" name="Shape 48"/>
          <p:cNvSpPr/>
          <p:nvPr/>
        </p:nvSpPr>
        <p:spPr>
          <a:xfrm>
            <a:off x="2762250" y="985838"/>
            <a:ext cx="123825" cy="123825"/>
          </a:xfrm>
          <a:prstGeom prst="ellipse">
            <a:avLst/>
          </a:prstGeom>
          <a:ln w="9525">
            <a:solidFill>
              <a:srgbClr val="E0A22E">
                <a:alpha val="84000"/>
              </a:srgbClr>
            </a:solidFill>
            <a:prstDash val="solid"/>
          </a:ln>
        </p:spPr>
      </p:sp>
      <p:sp>
        <p:nvSpPr>
          <p:cNvPr id="68" name="Text 49"/>
          <p:cNvSpPr/>
          <p:nvPr/>
        </p:nvSpPr>
        <p:spPr>
          <a:xfrm>
            <a:off x="2971800" y="962025"/>
            <a:ext cx="15163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3/3</a:t>
            </a:r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seats used.</a:t>
            </a:r>
            <a:endParaRPr lang="en-US" sz="900" dirty="0"/>
          </a:p>
        </p:txBody>
      </p:sp>
      <p:sp>
        <p:nvSpPr>
          <p:cNvPr id="69" name="Text 50"/>
          <p:cNvSpPr/>
          <p:nvPr/>
        </p:nvSpPr>
        <p:spPr>
          <a:xfrm>
            <a:off x="4526280" y="965518"/>
            <a:ext cx="5415534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reached — promoting another user to admin is blocked until one is demoted.</a:t>
            </a:r>
            <a:endParaRPr lang="en-US" sz="863" dirty="0"/>
          </a:p>
        </p:txBody>
      </p:sp>
      <p:sp>
        <p:nvSpPr>
          <p:cNvPr id="70" name="Shape 51"/>
          <p:cNvSpPr/>
          <p:nvPr/>
        </p:nvSpPr>
        <p:spPr>
          <a:xfrm>
            <a:off x="2628900" y="1409700"/>
            <a:ext cx="9686925" cy="5453063"/>
          </a:xfrm>
          <a:prstGeom prst="roundRect">
            <a:avLst>
              <a:gd name="adj" fmla="val 2096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1" name="Shape 52"/>
          <p:cNvSpPr/>
          <p:nvPr/>
        </p:nvSpPr>
        <p:spPr>
          <a:xfrm>
            <a:off x="2638425" y="1752600"/>
            <a:ext cx="966787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72" name="Text 53"/>
          <p:cNvSpPr/>
          <p:nvPr/>
        </p:nvSpPr>
        <p:spPr>
          <a:xfrm>
            <a:off x="3190875" y="1514475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750" dirty="0"/>
          </a:p>
        </p:txBody>
      </p:sp>
      <p:sp>
        <p:nvSpPr>
          <p:cNvPr id="73" name="Text 54"/>
          <p:cNvSpPr/>
          <p:nvPr/>
        </p:nvSpPr>
        <p:spPr>
          <a:xfrm>
            <a:off x="5905500" y="1514475"/>
            <a:ext cx="19812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750" dirty="0"/>
          </a:p>
        </p:txBody>
      </p:sp>
      <p:sp>
        <p:nvSpPr>
          <p:cNvPr id="74" name="Text 55"/>
          <p:cNvSpPr/>
          <p:nvPr/>
        </p:nvSpPr>
        <p:spPr>
          <a:xfrm>
            <a:off x="7924800" y="1514475"/>
            <a:ext cx="21717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750" dirty="0"/>
          </a:p>
        </p:txBody>
      </p:sp>
      <p:sp>
        <p:nvSpPr>
          <p:cNvPr id="75" name="Text 56"/>
          <p:cNvSpPr/>
          <p:nvPr/>
        </p:nvSpPr>
        <p:spPr>
          <a:xfrm>
            <a:off x="10134600" y="1514475"/>
            <a:ext cx="1123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SYNC</a:t>
            </a:r>
            <a:endParaRPr lang="en-US" sz="750" dirty="0"/>
          </a:p>
        </p:txBody>
      </p:sp>
      <p:sp>
        <p:nvSpPr>
          <p:cNvPr id="76" name="Text 57"/>
          <p:cNvSpPr/>
          <p:nvPr/>
        </p:nvSpPr>
        <p:spPr>
          <a:xfrm>
            <a:off x="11296650" y="1514475"/>
            <a:ext cx="933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750" dirty="0"/>
          </a:p>
        </p:txBody>
      </p:sp>
      <p:sp>
        <p:nvSpPr>
          <p:cNvPr id="77" name="Shape 58"/>
          <p:cNvSpPr/>
          <p:nvPr/>
        </p:nvSpPr>
        <p:spPr>
          <a:xfrm>
            <a:off x="2638425" y="2319338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78" name="Shape 59"/>
          <p:cNvSpPr/>
          <p:nvPr/>
        </p:nvSpPr>
        <p:spPr>
          <a:xfrm>
            <a:off x="2790825" y="190738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79" name="Text 60"/>
          <p:cNvSpPr/>
          <p:nvPr/>
        </p:nvSpPr>
        <p:spPr>
          <a:xfrm>
            <a:off x="2869724" y="199532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80" name="Text 61"/>
          <p:cNvSpPr/>
          <p:nvPr/>
        </p:nvSpPr>
        <p:spPr>
          <a:xfrm>
            <a:off x="3190875" y="1888331"/>
            <a:ext cx="6956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75" dirty="0"/>
          </a:p>
        </p:txBody>
      </p:sp>
      <p:sp>
        <p:nvSpPr>
          <p:cNvPr id="81" name="Shape 62"/>
          <p:cNvSpPr/>
          <p:nvPr/>
        </p:nvSpPr>
        <p:spPr>
          <a:xfrm>
            <a:off x="3886517" y="1895475"/>
            <a:ext cx="313372" cy="147638"/>
          </a:xfrm>
          <a:prstGeom prst="roundRect">
            <a:avLst>
              <a:gd name="adj" fmla="val 25806"/>
            </a:avLst>
          </a:prstGeom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82" name="Text 63"/>
          <p:cNvSpPr/>
          <p:nvPr/>
        </p:nvSpPr>
        <p:spPr>
          <a:xfrm>
            <a:off x="3953192" y="1905000"/>
            <a:ext cx="25622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spc="68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</a:t>
            </a:r>
            <a:endParaRPr lang="en-US" sz="675" dirty="0"/>
          </a:p>
        </p:txBody>
      </p:sp>
      <p:sp>
        <p:nvSpPr>
          <p:cNvPr id="83" name="Text 64"/>
          <p:cNvSpPr/>
          <p:nvPr/>
        </p:nvSpPr>
        <p:spPr>
          <a:xfrm>
            <a:off x="3190875" y="2062163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750" dirty="0"/>
          </a:p>
        </p:txBody>
      </p:sp>
      <p:sp>
        <p:nvSpPr>
          <p:cNvPr id="84" name="Text 65"/>
          <p:cNvSpPr/>
          <p:nvPr/>
        </p:nvSpPr>
        <p:spPr>
          <a:xfrm>
            <a:off x="5905500" y="1958499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863" dirty="0"/>
          </a:p>
        </p:txBody>
      </p:sp>
      <p:sp>
        <p:nvSpPr>
          <p:cNvPr id="85" name="Shape 66"/>
          <p:cNvSpPr/>
          <p:nvPr/>
        </p:nvSpPr>
        <p:spPr>
          <a:xfrm>
            <a:off x="7924800" y="1898968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>
                <a:alpha val="45000"/>
              </a:srgbClr>
            </a:solidFill>
            <a:prstDash val="solid"/>
          </a:ln>
        </p:spPr>
      </p:sp>
      <p:sp>
        <p:nvSpPr>
          <p:cNvPr id="86" name="Text 67"/>
          <p:cNvSpPr/>
          <p:nvPr/>
        </p:nvSpPr>
        <p:spPr>
          <a:xfrm>
            <a:off x="7991475" y="1965643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87" name="Shape 68"/>
          <p:cNvSpPr/>
          <p:nvPr/>
        </p:nvSpPr>
        <p:spPr>
          <a:xfrm>
            <a:off x="8508682" y="1908493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88" name="Text 69"/>
          <p:cNvSpPr/>
          <p:nvPr/>
        </p:nvSpPr>
        <p:spPr>
          <a:xfrm>
            <a:off x="8575357" y="1965643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89" name="Shape 70"/>
          <p:cNvSpPr/>
          <p:nvPr/>
        </p:nvSpPr>
        <p:spPr>
          <a:xfrm>
            <a:off x="9092565" y="1908493"/>
            <a:ext cx="519906" cy="264319"/>
          </a:xfrm>
          <a:prstGeom prst="rect">
            <a:avLst/>
          </a:prstGeom>
          <a:solidFill>
            <a:srgbClr val="E0246F">
              <a:alpha val="18000"/>
            </a:srgbClr>
          </a:solidFill>
          <a:ln/>
        </p:spPr>
      </p:sp>
      <p:sp>
        <p:nvSpPr>
          <p:cNvPr id="90" name="Shape 71"/>
          <p:cNvSpPr/>
          <p:nvPr/>
        </p:nvSpPr>
        <p:spPr>
          <a:xfrm>
            <a:off x="9092565" y="1908493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91" name="Text 72"/>
          <p:cNvSpPr/>
          <p:nvPr/>
        </p:nvSpPr>
        <p:spPr>
          <a:xfrm>
            <a:off x="9159240" y="1965643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92" name="Text 73"/>
          <p:cNvSpPr/>
          <p:nvPr/>
        </p:nvSpPr>
        <p:spPr>
          <a:xfrm>
            <a:off x="10134600" y="1958499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2m ago</a:t>
            </a:r>
            <a:endParaRPr lang="en-US" sz="863" dirty="0"/>
          </a:p>
        </p:txBody>
      </p:sp>
      <p:sp>
        <p:nvSpPr>
          <p:cNvPr id="93" name="Shape 74"/>
          <p:cNvSpPr/>
          <p:nvPr/>
        </p:nvSpPr>
        <p:spPr>
          <a:xfrm>
            <a:off x="11296650" y="1898968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22B85C">
              <a:alpha val="3000"/>
            </a:srgbClr>
          </a:solidFill>
          <a:ln w="9525">
            <a:solidFill>
              <a:srgbClr val="22B85C">
                <a:alpha val="16000"/>
              </a:srgbClr>
            </a:solidFill>
            <a:prstDash val="solid"/>
          </a:ln>
        </p:spPr>
      </p:sp>
      <p:sp>
        <p:nvSpPr>
          <p:cNvPr id="94" name="Text 75"/>
          <p:cNvSpPr/>
          <p:nvPr/>
        </p:nvSpPr>
        <p:spPr>
          <a:xfrm>
            <a:off x="11363325" y="1965643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5FD08C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788" dirty="0"/>
          </a:p>
        </p:txBody>
      </p:sp>
      <p:sp>
        <p:nvSpPr>
          <p:cNvPr id="95" name="Shape 76"/>
          <p:cNvSpPr/>
          <p:nvPr/>
        </p:nvSpPr>
        <p:spPr>
          <a:xfrm>
            <a:off x="2638425" y="2886075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96" name="Shape 77"/>
          <p:cNvSpPr/>
          <p:nvPr/>
        </p:nvSpPr>
        <p:spPr>
          <a:xfrm>
            <a:off x="2790825" y="247411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97" name="Text 78"/>
          <p:cNvSpPr/>
          <p:nvPr/>
        </p:nvSpPr>
        <p:spPr>
          <a:xfrm>
            <a:off x="2869724" y="256206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</a:t>
            </a:r>
            <a:endParaRPr lang="en-US" sz="714" dirty="0"/>
          </a:p>
        </p:txBody>
      </p:sp>
      <p:sp>
        <p:nvSpPr>
          <p:cNvPr id="98" name="Text 79"/>
          <p:cNvSpPr/>
          <p:nvPr/>
        </p:nvSpPr>
        <p:spPr>
          <a:xfrm>
            <a:off x="3190875" y="2443163"/>
            <a:ext cx="2678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Mikael Lindqvist</a:t>
            </a:r>
            <a:endParaRPr lang="en-US" sz="975" dirty="0"/>
          </a:p>
        </p:txBody>
      </p:sp>
      <p:sp>
        <p:nvSpPr>
          <p:cNvPr id="99" name="Text 80"/>
          <p:cNvSpPr/>
          <p:nvPr/>
        </p:nvSpPr>
        <p:spPr>
          <a:xfrm>
            <a:off x="3190875" y="2628900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750" dirty="0"/>
          </a:p>
        </p:txBody>
      </p:sp>
      <p:sp>
        <p:nvSpPr>
          <p:cNvPr id="100" name="Text 81"/>
          <p:cNvSpPr/>
          <p:nvPr/>
        </p:nvSpPr>
        <p:spPr>
          <a:xfrm>
            <a:off x="5905500" y="2525236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mikael.l@nexus.dev</a:t>
            </a:r>
            <a:endParaRPr lang="en-US" sz="863" dirty="0"/>
          </a:p>
        </p:txBody>
      </p:sp>
      <p:sp>
        <p:nvSpPr>
          <p:cNvPr id="101" name="Shape 82"/>
          <p:cNvSpPr/>
          <p:nvPr/>
        </p:nvSpPr>
        <p:spPr>
          <a:xfrm>
            <a:off x="7924800" y="2465705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02" name="Text 83"/>
          <p:cNvSpPr/>
          <p:nvPr/>
        </p:nvSpPr>
        <p:spPr>
          <a:xfrm>
            <a:off x="7991475" y="2532380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103" name="Shape 84"/>
          <p:cNvSpPr/>
          <p:nvPr/>
        </p:nvSpPr>
        <p:spPr>
          <a:xfrm>
            <a:off x="8508682" y="2475230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04" name="Text 85"/>
          <p:cNvSpPr/>
          <p:nvPr/>
        </p:nvSpPr>
        <p:spPr>
          <a:xfrm>
            <a:off x="8575357" y="2532380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105" name="Shape 86"/>
          <p:cNvSpPr/>
          <p:nvPr/>
        </p:nvSpPr>
        <p:spPr>
          <a:xfrm>
            <a:off x="9092565" y="2475230"/>
            <a:ext cx="519906" cy="264319"/>
          </a:xfrm>
          <a:prstGeom prst="rect">
            <a:avLst/>
          </a:prstGeom>
          <a:solidFill>
            <a:srgbClr val="E0246F">
              <a:alpha val="18000"/>
            </a:srgbClr>
          </a:solidFill>
          <a:ln/>
        </p:spPr>
      </p:sp>
      <p:sp>
        <p:nvSpPr>
          <p:cNvPr id="106" name="Shape 87"/>
          <p:cNvSpPr/>
          <p:nvPr/>
        </p:nvSpPr>
        <p:spPr>
          <a:xfrm>
            <a:off x="9092565" y="2475230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07" name="Text 88"/>
          <p:cNvSpPr/>
          <p:nvPr/>
        </p:nvSpPr>
        <p:spPr>
          <a:xfrm>
            <a:off x="9159240" y="2532380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108" name="Text 89"/>
          <p:cNvSpPr/>
          <p:nvPr/>
        </p:nvSpPr>
        <p:spPr>
          <a:xfrm>
            <a:off x="10134600" y="2525236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14m ago</a:t>
            </a:r>
            <a:endParaRPr lang="en-US" sz="863" dirty="0"/>
          </a:p>
        </p:txBody>
      </p:sp>
      <p:sp>
        <p:nvSpPr>
          <p:cNvPr id="109" name="Shape 90"/>
          <p:cNvSpPr/>
          <p:nvPr/>
        </p:nvSpPr>
        <p:spPr>
          <a:xfrm>
            <a:off x="11296650" y="2465705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10" name="Text 91"/>
          <p:cNvSpPr/>
          <p:nvPr/>
        </p:nvSpPr>
        <p:spPr>
          <a:xfrm>
            <a:off x="11363325" y="2532380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788" dirty="0"/>
          </a:p>
        </p:txBody>
      </p:sp>
      <p:sp>
        <p:nvSpPr>
          <p:cNvPr id="111" name="Shape 92"/>
          <p:cNvSpPr/>
          <p:nvPr/>
        </p:nvSpPr>
        <p:spPr>
          <a:xfrm>
            <a:off x="2638425" y="345281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2" name="Shape 93"/>
          <p:cNvSpPr/>
          <p:nvPr/>
        </p:nvSpPr>
        <p:spPr>
          <a:xfrm>
            <a:off x="2790825" y="304085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13" name="Text 94"/>
          <p:cNvSpPr/>
          <p:nvPr/>
        </p:nvSpPr>
        <p:spPr>
          <a:xfrm>
            <a:off x="2869724" y="312880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114" name="Text 95"/>
          <p:cNvSpPr/>
          <p:nvPr/>
        </p:nvSpPr>
        <p:spPr>
          <a:xfrm>
            <a:off x="3190875" y="3009900"/>
            <a:ext cx="2678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Rémy Delacroix</a:t>
            </a:r>
            <a:endParaRPr lang="en-US" sz="975" dirty="0"/>
          </a:p>
        </p:txBody>
      </p:sp>
      <p:sp>
        <p:nvSpPr>
          <p:cNvPr id="115" name="Text 96"/>
          <p:cNvSpPr/>
          <p:nvPr/>
        </p:nvSpPr>
        <p:spPr>
          <a:xfrm>
            <a:off x="3190875" y="3195638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750" dirty="0"/>
          </a:p>
        </p:txBody>
      </p:sp>
      <p:sp>
        <p:nvSpPr>
          <p:cNvPr id="116" name="Text 97"/>
          <p:cNvSpPr/>
          <p:nvPr/>
        </p:nvSpPr>
        <p:spPr>
          <a:xfrm>
            <a:off x="5905500" y="3091974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remy.d@nexus.dev</a:t>
            </a:r>
            <a:endParaRPr lang="en-US" sz="863" dirty="0"/>
          </a:p>
        </p:txBody>
      </p:sp>
      <p:sp>
        <p:nvSpPr>
          <p:cNvPr id="117" name="Shape 98"/>
          <p:cNvSpPr/>
          <p:nvPr/>
        </p:nvSpPr>
        <p:spPr>
          <a:xfrm>
            <a:off x="7924800" y="3032443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18" name="Text 99"/>
          <p:cNvSpPr/>
          <p:nvPr/>
        </p:nvSpPr>
        <p:spPr>
          <a:xfrm>
            <a:off x="7991475" y="3099118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119" name="Shape 100"/>
          <p:cNvSpPr/>
          <p:nvPr/>
        </p:nvSpPr>
        <p:spPr>
          <a:xfrm>
            <a:off x="8508682" y="3041968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20" name="Text 101"/>
          <p:cNvSpPr/>
          <p:nvPr/>
        </p:nvSpPr>
        <p:spPr>
          <a:xfrm>
            <a:off x="8575357" y="3099118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121" name="Shape 102"/>
          <p:cNvSpPr/>
          <p:nvPr/>
        </p:nvSpPr>
        <p:spPr>
          <a:xfrm>
            <a:off x="9092565" y="3041968"/>
            <a:ext cx="519906" cy="264319"/>
          </a:xfrm>
          <a:prstGeom prst="rect">
            <a:avLst/>
          </a:prstGeom>
          <a:solidFill>
            <a:srgbClr val="E0246F">
              <a:alpha val="18000"/>
            </a:srgbClr>
          </a:solidFill>
          <a:ln/>
        </p:spPr>
      </p:sp>
      <p:sp>
        <p:nvSpPr>
          <p:cNvPr id="122" name="Shape 103"/>
          <p:cNvSpPr/>
          <p:nvPr/>
        </p:nvSpPr>
        <p:spPr>
          <a:xfrm>
            <a:off x="9092565" y="3041968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23" name="Text 104"/>
          <p:cNvSpPr/>
          <p:nvPr/>
        </p:nvSpPr>
        <p:spPr>
          <a:xfrm>
            <a:off x="9159240" y="3099118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124" name="Text 105"/>
          <p:cNvSpPr/>
          <p:nvPr/>
        </p:nvSpPr>
        <p:spPr>
          <a:xfrm>
            <a:off x="10134600" y="3091974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863" dirty="0"/>
          </a:p>
        </p:txBody>
      </p:sp>
      <p:sp>
        <p:nvSpPr>
          <p:cNvPr id="125" name="Shape 106"/>
          <p:cNvSpPr/>
          <p:nvPr/>
        </p:nvSpPr>
        <p:spPr>
          <a:xfrm>
            <a:off x="11296650" y="3032443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26" name="Text 107"/>
          <p:cNvSpPr/>
          <p:nvPr/>
        </p:nvSpPr>
        <p:spPr>
          <a:xfrm>
            <a:off x="11363325" y="3099118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788" dirty="0"/>
          </a:p>
        </p:txBody>
      </p:sp>
      <p:sp>
        <p:nvSpPr>
          <p:cNvPr id="127" name="Shape 108"/>
          <p:cNvSpPr/>
          <p:nvPr/>
        </p:nvSpPr>
        <p:spPr>
          <a:xfrm>
            <a:off x="2638425" y="40195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28" name="Shape 109"/>
          <p:cNvSpPr/>
          <p:nvPr/>
        </p:nvSpPr>
        <p:spPr>
          <a:xfrm>
            <a:off x="2790825" y="36075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129" name="Text 110"/>
          <p:cNvSpPr/>
          <p:nvPr/>
        </p:nvSpPr>
        <p:spPr>
          <a:xfrm>
            <a:off x="2869724" y="36955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130" name="Text 111"/>
          <p:cNvSpPr/>
          <p:nvPr/>
        </p:nvSpPr>
        <p:spPr>
          <a:xfrm>
            <a:off x="3190875" y="3576638"/>
            <a:ext cx="2678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Tanaka</a:t>
            </a:r>
            <a:endParaRPr lang="en-US" sz="975" dirty="0"/>
          </a:p>
        </p:txBody>
      </p:sp>
      <p:sp>
        <p:nvSpPr>
          <p:cNvPr id="131" name="Text 112"/>
          <p:cNvSpPr/>
          <p:nvPr/>
        </p:nvSpPr>
        <p:spPr>
          <a:xfrm>
            <a:off x="3190875" y="3762375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</a:t>
            </a:r>
            <a:endParaRPr lang="en-US" sz="750" dirty="0"/>
          </a:p>
        </p:txBody>
      </p:sp>
      <p:sp>
        <p:nvSpPr>
          <p:cNvPr id="132" name="Text 113"/>
          <p:cNvSpPr/>
          <p:nvPr/>
        </p:nvSpPr>
        <p:spPr>
          <a:xfrm>
            <a:off x="5905500" y="3658711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jun.tanaka@nexus.dev</a:t>
            </a:r>
            <a:endParaRPr lang="en-US" sz="863" dirty="0"/>
          </a:p>
        </p:txBody>
      </p:sp>
      <p:sp>
        <p:nvSpPr>
          <p:cNvPr id="133" name="Shape 114"/>
          <p:cNvSpPr/>
          <p:nvPr/>
        </p:nvSpPr>
        <p:spPr>
          <a:xfrm>
            <a:off x="7924800" y="3599180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34" name="Text 115"/>
          <p:cNvSpPr/>
          <p:nvPr/>
        </p:nvSpPr>
        <p:spPr>
          <a:xfrm>
            <a:off x="7991475" y="3665855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135" name="Shape 116"/>
          <p:cNvSpPr/>
          <p:nvPr/>
        </p:nvSpPr>
        <p:spPr>
          <a:xfrm>
            <a:off x="8508682" y="3608705"/>
            <a:ext cx="583883" cy="264319"/>
          </a:xfrm>
          <a:prstGeom prst="rect">
            <a:avLst/>
          </a:prstGeom>
          <a:solidFill>
            <a:srgbClr val="3B82E8">
              <a:alpha val="18000"/>
            </a:srgbClr>
          </a:solidFill>
          <a:ln/>
        </p:spPr>
      </p:sp>
      <p:sp>
        <p:nvSpPr>
          <p:cNvPr id="136" name="Shape 117"/>
          <p:cNvSpPr/>
          <p:nvPr/>
        </p:nvSpPr>
        <p:spPr>
          <a:xfrm>
            <a:off x="8508682" y="3608705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37" name="Text 118"/>
          <p:cNvSpPr/>
          <p:nvPr/>
        </p:nvSpPr>
        <p:spPr>
          <a:xfrm>
            <a:off x="8575357" y="3665855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138" name="Shape 119"/>
          <p:cNvSpPr/>
          <p:nvPr/>
        </p:nvSpPr>
        <p:spPr>
          <a:xfrm>
            <a:off x="9092565" y="3608705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39" name="Text 120"/>
          <p:cNvSpPr/>
          <p:nvPr/>
        </p:nvSpPr>
        <p:spPr>
          <a:xfrm>
            <a:off x="9159240" y="3665855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140" name="Text 121"/>
          <p:cNvSpPr/>
          <p:nvPr/>
        </p:nvSpPr>
        <p:spPr>
          <a:xfrm>
            <a:off x="10134600" y="3658711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38m ago</a:t>
            </a:r>
            <a:endParaRPr lang="en-US" sz="863" dirty="0"/>
          </a:p>
        </p:txBody>
      </p:sp>
      <p:sp>
        <p:nvSpPr>
          <p:cNvPr id="141" name="Shape 122"/>
          <p:cNvSpPr/>
          <p:nvPr/>
        </p:nvSpPr>
        <p:spPr>
          <a:xfrm>
            <a:off x="11296650" y="3599180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42" name="Text 123"/>
          <p:cNvSpPr/>
          <p:nvPr/>
        </p:nvSpPr>
        <p:spPr>
          <a:xfrm>
            <a:off x="11363325" y="3665855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788" dirty="0"/>
          </a:p>
        </p:txBody>
      </p:sp>
      <p:sp>
        <p:nvSpPr>
          <p:cNvPr id="143" name="Shape 124"/>
          <p:cNvSpPr/>
          <p:nvPr/>
        </p:nvSpPr>
        <p:spPr>
          <a:xfrm>
            <a:off x="2638425" y="4586288"/>
            <a:ext cx="9667875" cy="9525"/>
          </a:xfrm>
          <a:prstGeom prst="rect">
            <a:avLst/>
          </a:prstGeom>
          <a:solidFill>
            <a:srgbClr val="141B27">
              <a:alpha val="60000"/>
            </a:srgbClr>
          </a:solidFill>
          <a:ln/>
        </p:spPr>
      </p:sp>
      <p:sp>
        <p:nvSpPr>
          <p:cNvPr id="144" name="Shape 125"/>
          <p:cNvSpPr/>
          <p:nvPr/>
        </p:nvSpPr>
        <p:spPr>
          <a:xfrm>
            <a:off x="2790825" y="417433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45" name="Text 126"/>
          <p:cNvSpPr/>
          <p:nvPr/>
        </p:nvSpPr>
        <p:spPr>
          <a:xfrm>
            <a:off x="2869724" y="426227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146" name="Text 127"/>
          <p:cNvSpPr/>
          <p:nvPr/>
        </p:nvSpPr>
        <p:spPr>
          <a:xfrm>
            <a:off x="3190875" y="4143375"/>
            <a:ext cx="2678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Sergei Abramov</a:t>
            </a:r>
            <a:endParaRPr lang="en-US" sz="975" dirty="0"/>
          </a:p>
        </p:txBody>
      </p:sp>
      <p:sp>
        <p:nvSpPr>
          <p:cNvPr id="147" name="Text 128"/>
          <p:cNvSpPr/>
          <p:nvPr/>
        </p:nvSpPr>
        <p:spPr>
          <a:xfrm>
            <a:off x="3190875" y="4329113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750" dirty="0"/>
          </a:p>
        </p:txBody>
      </p:sp>
      <p:sp>
        <p:nvSpPr>
          <p:cNvPr id="148" name="Text 129"/>
          <p:cNvSpPr/>
          <p:nvPr/>
        </p:nvSpPr>
        <p:spPr>
          <a:xfrm>
            <a:off x="5905500" y="4225449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sergei.a@nexus.dev</a:t>
            </a:r>
            <a:endParaRPr lang="en-US" sz="863" dirty="0"/>
          </a:p>
        </p:txBody>
      </p:sp>
      <p:sp>
        <p:nvSpPr>
          <p:cNvPr id="149" name="Shape 130"/>
          <p:cNvSpPr/>
          <p:nvPr/>
        </p:nvSpPr>
        <p:spPr>
          <a:xfrm>
            <a:off x="7924800" y="4165918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50" name="Text 131"/>
          <p:cNvSpPr/>
          <p:nvPr/>
        </p:nvSpPr>
        <p:spPr>
          <a:xfrm>
            <a:off x="7991475" y="4232593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151" name="Shape 132"/>
          <p:cNvSpPr/>
          <p:nvPr/>
        </p:nvSpPr>
        <p:spPr>
          <a:xfrm>
            <a:off x="8508682" y="4175443"/>
            <a:ext cx="583883" cy="264319"/>
          </a:xfrm>
          <a:prstGeom prst="rect">
            <a:avLst/>
          </a:prstGeom>
          <a:solidFill>
            <a:srgbClr val="3B82E8">
              <a:alpha val="18000"/>
            </a:srgbClr>
          </a:solidFill>
          <a:ln/>
        </p:spPr>
      </p:sp>
      <p:sp>
        <p:nvSpPr>
          <p:cNvPr id="152" name="Shape 133"/>
          <p:cNvSpPr/>
          <p:nvPr/>
        </p:nvSpPr>
        <p:spPr>
          <a:xfrm>
            <a:off x="8508682" y="4175443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53" name="Text 134"/>
          <p:cNvSpPr/>
          <p:nvPr/>
        </p:nvSpPr>
        <p:spPr>
          <a:xfrm>
            <a:off x="8575357" y="4232593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154" name="Shape 135"/>
          <p:cNvSpPr/>
          <p:nvPr/>
        </p:nvSpPr>
        <p:spPr>
          <a:xfrm>
            <a:off x="9092565" y="4175443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55" name="Text 136"/>
          <p:cNvSpPr/>
          <p:nvPr/>
        </p:nvSpPr>
        <p:spPr>
          <a:xfrm>
            <a:off x="9159240" y="4232593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156" name="Text 137"/>
          <p:cNvSpPr/>
          <p:nvPr/>
        </p:nvSpPr>
        <p:spPr>
          <a:xfrm>
            <a:off x="10134600" y="4225449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2d ago</a:t>
            </a:r>
            <a:endParaRPr lang="en-US" sz="863" dirty="0"/>
          </a:p>
        </p:txBody>
      </p:sp>
      <p:sp>
        <p:nvSpPr>
          <p:cNvPr id="157" name="Shape 138"/>
          <p:cNvSpPr/>
          <p:nvPr/>
        </p:nvSpPr>
        <p:spPr>
          <a:xfrm>
            <a:off x="11296650" y="4165918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EF4444">
              <a:alpha val="8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58" name="Text 139"/>
          <p:cNvSpPr/>
          <p:nvPr/>
        </p:nvSpPr>
        <p:spPr>
          <a:xfrm>
            <a:off x="11363325" y="4232593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INACTIVE</a:t>
            </a:r>
            <a:endParaRPr lang="en-US" sz="788" dirty="0"/>
          </a:p>
        </p:txBody>
      </p:sp>
      <p:sp>
        <p:nvSpPr>
          <p:cNvPr id="159" name="Shape 140"/>
          <p:cNvSpPr/>
          <p:nvPr/>
        </p:nvSpPr>
        <p:spPr>
          <a:xfrm>
            <a:off x="2638425" y="5153025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60" name="Shape 141"/>
          <p:cNvSpPr/>
          <p:nvPr/>
        </p:nvSpPr>
        <p:spPr>
          <a:xfrm>
            <a:off x="2790825" y="474106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61" name="Text 142"/>
          <p:cNvSpPr/>
          <p:nvPr/>
        </p:nvSpPr>
        <p:spPr>
          <a:xfrm>
            <a:off x="2869724" y="482901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162" name="Text 143"/>
          <p:cNvSpPr/>
          <p:nvPr/>
        </p:nvSpPr>
        <p:spPr>
          <a:xfrm>
            <a:off x="3190875" y="4710113"/>
            <a:ext cx="2678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Mensah</a:t>
            </a:r>
            <a:endParaRPr lang="en-US" sz="975" dirty="0"/>
          </a:p>
        </p:txBody>
      </p:sp>
      <p:sp>
        <p:nvSpPr>
          <p:cNvPr id="163" name="Text 144"/>
          <p:cNvSpPr/>
          <p:nvPr/>
        </p:nvSpPr>
        <p:spPr>
          <a:xfrm>
            <a:off x="3190875" y="4895850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750" dirty="0"/>
          </a:p>
        </p:txBody>
      </p:sp>
      <p:sp>
        <p:nvSpPr>
          <p:cNvPr id="164" name="Text 145"/>
          <p:cNvSpPr/>
          <p:nvPr/>
        </p:nvSpPr>
        <p:spPr>
          <a:xfrm>
            <a:off x="5905500" y="4792186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kwame.m@nexus.dev</a:t>
            </a:r>
            <a:endParaRPr lang="en-US" sz="863" dirty="0"/>
          </a:p>
        </p:txBody>
      </p:sp>
      <p:sp>
        <p:nvSpPr>
          <p:cNvPr id="165" name="Shape 146"/>
          <p:cNvSpPr/>
          <p:nvPr/>
        </p:nvSpPr>
        <p:spPr>
          <a:xfrm>
            <a:off x="7924800" y="4732655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66" name="Text 147"/>
          <p:cNvSpPr/>
          <p:nvPr/>
        </p:nvSpPr>
        <p:spPr>
          <a:xfrm>
            <a:off x="7991475" y="4799330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167" name="Shape 148"/>
          <p:cNvSpPr/>
          <p:nvPr/>
        </p:nvSpPr>
        <p:spPr>
          <a:xfrm>
            <a:off x="8508682" y="4742180"/>
            <a:ext cx="583883" cy="264319"/>
          </a:xfrm>
          <a:prstGeom prst="rect">
            <a:avLst/>
          </a:prstGeom>
          <a:solidFill>
            <a:srgbClr val="3B82E8">
              <a:alpha val="18000"/>
            </a:srgbClr>
          </a:solidFill>
          <a:ln/>
        </p:spPr>
      </p:sp>
      <p:sp>
        <p:nvSpPr>
          <p:cNvPr id="168" name="Shape 149"/>
          <p:cNvSpPr/>
          <p:nvPr/>
        </p:nvSpPr>
        <p:spPr>
          <a:xfrm>
            <a:off x="8508682" y="4742180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69" name="Text 150"/>
          <p:cNvSpPr/>
          <p:nvPr/>
        </p:nvSpPr>
        <p:spPr>
          <a:xfrm>
            <a:off x="8575357" y="4799330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170" name="Shape 151"/>
          <p:cNvSpPr/>
          <p:nvPr/>
        </p:nvSpPr>
        <p:spPr>
          <a:xfrm>
            <a:off x="9092565" y="4742180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71" name="Text 152"/>
          <p:cNvSpPr/>
          <p:nvPr/>
        </p:nvSpPr>
        <p:spPr>
          <a:xfrm>
            <a:off x="9159240" y="4799330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172" name="Text 153"/>
          <p:cNvSpPr/>
          <p:nvPr/>
        </p:nvSpPr>
        <p:spPr>
          <a:xfrm>
            <a:off x="10134600" y="4792186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863" dirty="0"/>
          </a:p>
        </p:txBody>
      </p:sp>
      <p:sp>
        <p:nvSpPr>
          <p:cNvPr id="173" name="Shape 154"/>
          <p:cNvSpPr/>
          <p:nvPr/>
        </p:nvSpPr>
        <p:spPr>
          <a:xfrm>
            <a:off x="11296650" y="4732655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74" name="Text 155"/>
          <p:cNvSpPr/>
          <p:nvPr/>
        </p:nvSpPr>
        <p:spPr>
          <a:xfrm>
            <a:off x="11363325" y="4799330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788" dirty="0"/>
          </a:p>
        </p:txBody>
      </p:sp>
      <p:sp>
        <p:nvSpPr>
          <p:cNvPr id="175" name="Shape 156"/>
          <p:cNvSpPr/>
          <p:nvPr/>
        </p:nvSpPr>
        <p:spPr>
          <a:xfrm>
            <a:off x="2638425" y="5719763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76" name="Shape 157"/>
          <p:cNvSpPr/>
          <p:nvPr/>
        </p:nvSpPr>
        <p:spPr>
          <a:xfrm>
            <a:off x="2790825" y="530780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9DC2F6">
                <a:alpha val="33000"/>
              </a:srgbClr>
            </a:solidFill>
            <a:prstDash val="solid"/>
          </a:ln>
        </p:spPr>
      </p:sp>
      <p:sp>
        <p:nvSpPr>
          <p:cNvPr id="177" name="Text 158"/>
          <p:cNvSpPr/>
          <p:nvPr/>
        </p:nvSpPr>
        <p:spPr>
          <a:xfrm>
            <a:off x="2869724" y="539575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9DC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</a:t>
            </a:r>
            <a:endParaRPr lang="en-US" sz="714" dirty="0"/>
          </a:p>
        </p:txBody>
      </p:sp>
      <p:sp>
        <p:nvSpPr>
          <p:cNvPr id="178" name="Text 159"/>
          <p:cNvSpPr/>
          <p:nvPr/>
        </p:nvSpPr>
        <p:spPr>
          <a:xfrm>
            <a:off x="3190875" y="5276850"/>
            <a:ext cx="2678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Léa Fontaine</a:t>
            </a:r>
            <a:endParaRPr lang="en-US" sz="975" dirty="0"/>
          </a:p>
        </p:txBody>
      </p:sp>
      <p:sp>
        <p:nvSpPr>
          <p:cNvPr id="179" name="Text 160"/>
          <p:cNvSpPr/>
          <p:nvPr/>
        </p:nvSpPr>
        <p:spPr>
          <a:xfrm>
            <a:off x="3190875" y="5462588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l.fontaine</a:t>
            </a:r>
            <a:endParaRPr lang="en-US" sz="750" dirty="0"/>
          </a:p>
        </p:txBody>
      </p:sp>
      <p:sp>
        <p:nvSpPr>
          <p:cNvPr id="180" name="Text 161"/>
          <p:cNvSpPr/>
          <p:nvPr/>
        </p:nvSpPr>
        <p:spPr>
          <a:xfrm>
            <a:off x="5905500" y="5358924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lea.fontaine@nexus.dev</a:t>
            </a:r>
            <a:endParaRPr lang="en-US" sz="863" dirty="0"/>
          </a:p>
        </p:txBody>
      </p:sp>
      <p:sp>
        <p:nvSpPr>
          <p:cNvPr id="181" name="Shape 162"/>
          <p:cNvSpPr/>
          <p:nvPr/>
        </p:nvSpPr>
        <p:spPr>
          <a:xfrm>
            <a:off x="7924800" y="5299393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82" name="Shape 163"/>
          <p:cNvSpPr/>
          <p:nvPr/>
        </p:nvSpPr>
        <p:spPr>
          <a:xfrm>
            <a:off x="7934325" y="5308918"/>
            <a:ext cx="574358" cy="264319"/>
          </a:xfrm>
          <a:prstGeom prst="rect">
            <a:avLst/>
          </a:prstGeom>
          <a:solidFill>
            <a:srgbClr val="8B97A8">
              <a:alpha val="18000"/>
            </a:srgbClr>
          </a:solidFill>
          <a:ln/>
        </p:spPr>
      </p:sp>
      <p:sp>
        <p:nvSpPr>
          <p:cNvPr id="183" name="Text 164"/>
          <p:cNvSpPr/>
          <p:nvPr/>
        </p:nvSpPr>
        <p:spPr>
          <a:xfrm>
            <a:off x="7991475" y="5366068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184" name="Shape 165"/>
          <p:cNvSpPr/>
          <p:nvPr/>
        </p:nvSpPr>
        <p:spPr>
          <a:xfrm>
            <a:off x="8508682" y="5308918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85" name="Text 166"/>
          <p:cNvSpPr/>
          <p:nvPr/>
        </p:nvSpPr>
        <p:spPr>
          <a:xfrm>
            <a:off x="8575357" y="5366068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186" name="Shape 167"/>
          <p:cNvSpPr/>
          <p:nvPr/>
        </p:nvSpPr>
        <p:spPr>
          <a:xfrm>
            <a:off x="9092565" y="5308918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187" name="Text 168"/>
          <p:cNvSpPr/>
          <p:nvPr/>
        </p:nvSpPr>
        <p:spPr>
          <a:xfrm>
            <a:off x="9159240" y="5366068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188" name="Text 169"/>
          <p:cNvSpPr/>
          <p:nvPr/>
        </p:nvSpPr>
        <p:spPr>
          <a:xfrm>
            <a:off x="10134600" y="5358924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7h ago</a:t>
            </a:r>
            <a:endParaRPr lang="en-US" sz="863" dirty="0"/>
          </a:p>
        </p:txBody>
      </p:sp>
      <p:sp>
        <p:nvSpPr>
          <p:cNvPr id="189" name="Shape 170"/>
          <p:cNvSpPr/>
          <p:nvPr/>
        </p:nvSpPr>
        <p:spPr>
          <a:xfrm>
            <a:off x="11296650" y="5299393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90" name="Text 171"/>
          <p:cNvSpPr/>
          <p:nvPr/>
        </p:nvSpPr>
        <p:spPr>
          <a:xfrm>
            <a:off x="11363325" y="5366068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788" dirty="0"/>
          </a:p>
        </p:txBody>
      </p:sp>
      <p:sp>
        <p:nvSpPr>
          <p:cNvPr id="191" name="Shape 172"/>
          <p:cNvSpPr/>
          <p:nvPr/>
        </p:nvSpPr>
        <p:spPr>
          <a:xfrm>
            <a:off x="2638425" y="62865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92" name="Shape 173"/>
          <p:cNvSpPr/>
          <p:nvPr/>
        </p:nvSpPr>
        <p:spPr>
          <a:xfrm>
            <a:off x="2790825" y="587454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193" name="Text 174"/>
          <p:cNvSpPr/>
          <p:nvPr/>
        </p:nvSpPr>
        <p:spPr>
          <a:xfrm>
            <a:off x="2869724" y="596249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194" name="Text 175"/>
          <p:cNvSpPr/>
          <p:nvPr/>
        </p:nvSpPr>
        <p:spPr>
          <a:xfrm>
            <a:off x="3190875" y="5843588"/>
            <a:ext cx="2678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agent-07</a:t>
            </a:r>
            <a:endParaRPr lang="en-US" sz="975" dirty="0"/>
          </a:p>
        </p:txBody>
      </p:sp>
      <p:sp>
        <p:nvSpPr>
          <p:cNvPr id="195" name="Text 176"/>
          <p:cNvSpPr/>
          <p:nvPr/>
        </p:nvSpPr>
        <p:spPr>
          <a:xfrm>
            <a:off x="3190875" y="6029325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</a:t>
            </a:r>
            <a:endParaRPr lang="en-US" sz="750" dirty="0"/>
          </a:p>
        </p:txBody>
      </p:sp>
      <p:sp>
        <p:nvSpPr>
          <p:cNvPr id="196" name="Text 177"/>
          <p:cNvSpPr/>
          <p:nvPr/>
        </p:nvSpPr>
        <p:spPr>
          <a:xfrm>
            <a:off x="5905500" y="5925662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daemon+07@agents.nexus</a:t>
            </a:r>
            <a:endParaRPr lang="en-US" sz="863" dirty="0"/>
          </a:p>
        </p:txBody>
      </p:sp>
      <p:sp>
        <p:nvSpPr>
          <p:cNvPr id="197" name="Shape 178"/>
          <p:cNvSpPr/>
          <p:nvPr/>
        </p:nvSpPr>
        <p:spPr>
          <a:xfrm>
            <a:off x="7924800" y="5866130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198" name="Text 179"/>
          <p:cNvSpPr/>
          <p:nvPr/>
        </p:nvSpPr>
        <p:spPr>
          <a:xfrm>
            <a:off x="7991475" y="5932805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199" name="Shape 180"/>
          <p:cNvSpPr/>
          <p:nvPr/>
        </p:nvSpPr>
        <p:spPr>
          <a:xfrm>
            <a:off x="8508682" y="5875655"/>
            <a:ext cx="583883" cy="264319"/>
          </a:xfrm>
          <a:prstGeom prst="rect">
            <a:avLst/>
          </a:prstGeom>
          <a:solidFill>
            <a:srgbClr val="3B82E8">
              <a:alpha val="18000"/>
            </a:srgbClr>
          </a:solidFill>
          <a:ln/>
        </p:spPr>
      </p:sp>
      <p:sp>
        <p:nvSpPr>
          <p:cNvPr id="200" name="Shape 181"/>
          <p:cNvSpPr/>
          <p:nvPr/>
        </p:nvSpPr>
        <p:spPr>
          <a:xfrm>
            <a:off x="8508682" y="5875655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201" name="Text 182"/>
          <p:cNvSpPr/>
          <p:nvPr/>
        </p:nvSpPr>
        <p:spPr>
          <a:xfrm>
            <a:off x="8575357" y="5932805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202" name="Shape 183"/>
          <p:cNvSpPr/>
          <p:nvPr/>
        </p:nvSpPr>
        <p:spPr>
          <a:xfrm>
            <a:off x="9092565" y="5875655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203" name="Text 184"/>
          <p:cNvSpPr/>
          <p:nvPr/>
        </p:nvSpPr>
        <p:spPr>
          <a:xfrm>
            <a:off x="9159240" y="5932805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204" name="Text 185"/>
          <p:cNvSpPr/>
          <p:nvPr/>
        </p:nvSpPr>
        <p:spPr>
          <a:xfrm>
            <a:off x="10134600" y="5925662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863" dirty="0"/>
          </a:p>
        </p:txBody>
      </p:sp>
      <p:sp>
        <p:nvSpPr>
          <p:cNvPr id="205" name="Shape 186"/>
          <p:cNvSpPr/>
          <p:nvPr/>
        </p:nvSpPr>
        <p:spPr>
          <a:xfrm>
            <a:off x="11296650" y="5866130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206" name="Text 187"/>
          <p:cNvSpPr/>
          <p:nvPr/>
        </p:nvSpPr>
        <p:spPr>
          <a:xfrm>
            <a:off x="11363325" y="5932805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788" dirty="0"/>
          </a:p>
        </p:txBody>
      </p:sp>
      <p:sp>
        <p:nvSpPr>
          <p:cNvPr id="207" name="Shape 188"/>
          <p:cNvSpPr/>
          <p:nvPr/>
        </p:nvSpPr>
        <p:spPr>
          <a:xfrm>
            <a:off x="2790825" y="644128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208" name="Text 189"/>
          <p:cNvSpPr/>
          <p:nvPr/>
        </p:nvSpPr>
        <p:spPr>
          <a:xfrm>
            <a:off x="2869724" y="652922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714" dirty="0"/>
          </a:p>
        </p:txBody>
      </p:sp>
      <p:sp>
        <p:nvSpPr>
          <p:cNvPr id="209" name="Text 190"/>
          <p:cNvSpPr/>
          <p:nvPr/>
        </p:nvSpPr>
        <p:spPr>
          <a:xfrm>
            <a:off x="3190875" y="6410325"/>
            <a:ext cx="26783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agent-11</a:t>
            </a:r>
            <a:endParaRPr lang="en-US" sz="975" dirty="0"/>
          </a:p>
        </p:txBody>
      </p:sp>
      <p:sp>
        <p:nvSpPr>
          <p:cNvPr id="210" name="Text 191"/>
          <p:cNvSpPr/>
          <p:nvPr/>
        </p:nvSpPr>
        <p:spPr>
          <a:xfrm>
            <a:off x="3190875" y="6596063"/>
            <a:ext cx="267833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agent-11</a:t>
            </a:r>
            <a:endParaRPr lang="en-US" sz="750" dirty="0"/>
          </a:p>
        </p:txBody>
      </p:sp>
      <p:sp>
        <p:nvSpPr>
          <p:cNvPr id="211" name="Text 192"/>
          <p:cNvSpPr/>
          <p:nvPr/>
        </p:nvSpPr>
        <p:spPr>
          <a:xfrm>
            <a:off x="5905500" y="6492399"/>
            <a:ext cx="19812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daemon+11@agents.nexus</a:t>
            </a:r>
            <a:endParaRPr lang="en-US" sz="863" dirty="0"/>
          </a:p>
        </p:txBody>
      </p:sp>
      <p:sp>
        <p:nvSpPr>
          <p:cNvPr id="212" name="Shape 193"/>
          <p:cNvSpPr/>
          <p:nvPr/>
        </p:nvSpPr>
        <p:spPr>
          <a:xfrm>
            <a:off x="7924800" y="6432868"/>
            <a:ext cx="2095500" cy="283369"/>
          </a:xfrm>
          <a:prstGeom prst="roundRect">
            <a:avLst>
              <a:gd name="adj" fmla="val 20168"/>
            </a:avLst>
          </a:prstGeom>
          <a:ln w="9525">
            <a:solidFill>
              <a:srgbClr val="232C3C"/>
            </a:solidFill>
            <a:prstDash val="solid"/>
          </a:ln>
        </p:spPr>
      </p:sp>
      <p:sp>
        <p:nvSpPr>
          <p:cNvPr id="213" name="Text 194"/>
          <p:cNvSpPr/>
          <p:nvPr/>
        </p:nvSpPr>
        <p:spPr>
          <a:xfrm>
            <a:off x="7991475" y="6499543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</a:t>
            </a:r>
            <a:endParaRPr lang="en-US" sz="788" dirty="0"/>
          </a:p>
        </p:txBody>
      </p:sp>
      <p:sp>
        <p:nvSpPr>
          <p:cNvPr id="214" name="Shape 195"/>
          <p:cNvSpPr/>
          <p:nvPr/>
        </p:nvSpPr>
        <p:spPr>
          <a:xfrm>
            <a:off x="8508682" y="6442393"/>
            <a:ext cx="583883" cy="264319"/>
          </a:xfrm>
          <a:prstGeom prst="rect">
            <a:avLst/>
          </a:prstGeom>
          <a:solidFill>
            <a:srgbClr val="3B82E8">
              <a:alpha val="18000"/>
            </a:srgbClr>
          </a:solidFill>
          <a:ln/>
        </p:spPr>
      </p:sp>
      <p:sp>
        <p:nvSpPr>
          <p:cNvPr id="215" name="Shape 196"/>
          <p:cNvSpPr/>
          <p:nvPr/>
        </p:nvSpPr>
        <p:spPr>
          <a:xfrm>
            <a:off x="8508682" y="6442393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216" name="Text 197"/>
          <p:cNvSpPr/>
          <p:nvPr/>
        </p:nvSpPr>
        <p:spPr>
          <a:xfrm>
            <a:off x="8575357" y="6499543"/>
            <a:ext cx="4600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788" dirty="0"/>
          </a:p>
        </p:txBody>
      </p:sp>
      <p:sp>
        <p:nvSpPr>
          <p:cNvPr id="217" name="Shape 198"/>
          <p:cNvSpPr/>
          <p:nvPr/>
        </p:nvSpPr>
        <p:spPr>
          <a:xfrm>
            <a:off x="9092565" y="6442393"/>
            <a:ext cx="9525" cy="264319"/>
          </a:xfrm>
          <a:prstGeom prst="rect">
            <a:avLst/>
          </a:prstGeom>
          <a:solidFill>
            <a:srgbClr val="232C3C"/>
          </a:solidFill>
          <a:ln/>
        </p:spPr>
      </p:sp>
      <p:sp>
        <p:nvSpPr>
          <p:cNvPr id="218" name="Text 199"/>
          <p:cNvSpPr/>
          <p:nvPr/>
        </p:nvSpPr>
        <p:spPr>
          <a:xfrm>
            <a:off x="9159240" y="6499543"/>
            <a:ext cx="396081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32" kern="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88" dirty="0"/>
          </a:p>
        </p:txBody>
      </p:sp>
      <p:sp>
        <p:nvSpPr>
          <p:cNvPr id="219" name="Text 200"/>
          <p:cNvSpPr/>
          <p:nvPr/>
        </p:nvSpPr>
        <p:spPr>
          <a:xfrm>
            <a:off x="10134600" y="6492399"/>
            <a:ext cx="11239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 ago</a:t>
            </a:r>
            <a:endParaRPr lang="en-US" sz="863" dirty="0"/>
          </a:p>
        </p:txBody>
      </p:sp>
      <p:sp>
        <p:nvSpPr>
          <p:cNvPr id="220" name="Shape 201"/>
          <p:cNvSpPr/>
          <p:nvPr/>
        </p:nvSpPr>
        <p:spPr>
          <a:xfrm>
            <a:off x="11296650" y="6432868"/>
            <a:ext cx="857250" cy="283369"/>
          </a:xfrm>
          <a:prstGeom prst="roundRect">
            <a:avLst>
              <a:gd name="adj" fmla="val 20168"/>
            </a:avLst>
          </a:prstGeom>
          <a:solidFill>
            <a:srgbClr val="22B85C">
              <a:alpha val="8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221" name="Text 202"/>
          <p:cNvSpPr/>
          <p:nvPr/>
        </p:nvSpPr>
        <p:spPr>
          <a:xfrm>
            <a:off x="11363325" y="6499543"/>
            <a:ext cx="723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47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788" dirty="0"/>
          </a:p>
        </p:txBody>
      </p:sp>
      <p:sp>
        <p:nvSpPr>
          <p:cNvPr id="222" name="Shape 203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223" name="Shape 204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224" name="Shape 205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5" name="Text 206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26" name="Text 207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27" name="Text 208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28" name="Shape 209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9" name="Text 210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30" name="Text 211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31" name="Shape 212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32" name="Shape 213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3" name="Shape 214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34" name="Shape 215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35" name="Text 216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36" name="Text 217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37" name="Shape 218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38" name="Text 219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39" name="Text 220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40" name="Text 221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41" name="Shape 222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42" name="Shape 223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3" name="Shape 224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44" name="Shape 225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45" name="Text 226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46" name="Text 227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47" name="Shape 228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48" name="Text 229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49" name="Text 230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50" name="Text 231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51" name="Shape 232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52" name="Shape 233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3" name="Shape 234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54" name="Shape 235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55" name="Text 236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56" name="Text 237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257" name="Shape 238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58" name="Text 239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59" name="Text 240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260" name="Text 241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261" name="Shape 242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2" name="Shape 243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263" name="Text 244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264" name="Text 245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265" name="Shape 246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66" name="Text 247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67" name="Text 248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268" name="Text 249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269" name="Shape 250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0" name="Shape 251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71" name="Text 252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272" name="Text 253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273" name="Shape 254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74" name="Text 255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75" name="Text 256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276" name="Text 257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277" name="Shape 258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8" name="Shape 259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279" name="Text 260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280" name="Text 261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281" name="Shape 262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82" name="Text 263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83" name="Text 264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284" name="Text 265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285" name="Shape 266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6" name="Shape 267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87" name="Text 268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288" name="Text 269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289" name="Shape 270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290" name="Text 271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291" name="Text 272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292" name="Text 273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5" name="Text 15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2" name="Text 19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5" name="Text 21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sp>
        <p:nvSpPr>
          <p:cNvPr id="38" name="Shape 23"/>
          <p:cNvSpPr/>
          <p:nvPr/>
        </p:nvSpPr>
        <p:spPr>
          <a:xfrm>
            <a:off x="114300" y="6057900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39" name="Shape 24"/>
          <p:cNvSpPr/>
          <p:nvPr/>
        </p:nvSpPr>
        <p:spPr>
          <a:xfrm>
            <a:off x="114300" y="6134100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90398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OPERATIONS &amp; GOVERNANCE EVENTS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903982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Log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Shape 46"/>
          <p:cNvSpPr/>
          <p:nvPr/>
        </p:nvSpPr>
        <p:spPr>
          <a:xfrm>
            <a:off x="2628900" y="854869"/>
            <a:ext cx="949325" cy="309563"/>
          </a:xfrm>
          <a:prstGeom prst="roundRect">
            <a:avLst>
              <a:gd name="adj" fmla="val 18462"/>
            </a:avLst>
          </a:prstGeom>
          <a:solidFill>
            <a:srgbClr val="E0246F">
              <a:alpha val="13000"/>
            </a:srgbClr>
          </a:solidFill>
          <a:ln w="9525">
            <a:solidFill>
              <a:srgbClr val="E0246F">
                <a:alpha val="55000"/>
              </a:srgbClr>
            </a:solidFill>
            <a:prstDash val="solid"/>
          </a:ln>
        </p:spPr>
      </p:sp>
      <p:sp>
        <p:nvSpPr>
          <p:cNvPr id="66" name="Text 47"/>
          <p:cNvSpPr/>
          <p:nvPr/>
        </p:nvSpPr>
        <p:spPr>
          <a:xfrm>
            <a:off x="2714625" y="931069"/>
            <a:ext cx="7778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EVENTS</a:t>
            </a:r>
            <a:endParaRPr lang="en-US" sz="825" dirty="0"/>
          </a:p>
        </p:txBody>
      </p:sp>
      <p:sp>
        <p:nvSpPr>
          <p:cNvPr id="67" name="Shape 48"/>
          <p:cNvSpPr/>
          <p:nvPr/>
        </p:nvSpPr>
        <p:spPr>
          <a:xfrm>
            <a:off x="3654425" y="854869"/>
            <a:ext cx="1019492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8" name="Text 49"/>
          <p:cNvSpPr/>
          <p:nvPr/>
        </p:nvSpPr>
        <p:spPr>
          <a:xfrm>
            <a:off x="3740150" y="931069"/>
            <a:ext cx="84804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825" dirty="0"/>
          </a:p>
        </p:txBody>
      </p:sp>
      <p:sp>
        <p:nvSpPr>
          <p:cNvPr id="69" name="Shape 50"/>
          <p:cNvSpPr/>
          <p:nvPr/>
        </p:nvSpPr>
        <p:spPr>
          <a:xfrm>
            <a:off x="4750118" y="854869"/>
            <a:ext cx="1019493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0" name="Text 51"/>
          <p:cNvSpPr/>
          <p:nvPr/>
        </p:nvSpPr>
        <p:spPr>
          <a:xfrm>
            <a:off x="4835843" y="931069"/>
            <a:ext cx="8480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825" dirty="0"/>
          </a:p>
        </p:txBody>
      </p:sp>
      <p:sp>
        <p:nvSpPr>
          <p:cNvPr id="71" name="Shape 52"/>
          <p:cNvSpPr/>
          <p:nvPr/>
        </p:nvSpPr>
        <p:spPr>
          <a:xfrm>
            <a:off x="5845810" y="854869"/>
            <a:ext cx="1089660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5931535" y="931069"/>
            <a:ext cx="91821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825" dirty="0"/>
          </a:p>
        </p:txBody>
      </p:sp>
      <p:sp>
        <p:nvSpPr>
          <p:cNvPr id="73" name="Shape 54"/>
          <p:cNvSpPr/>
          <p:nvPr/>
        </p:nvSpPr>
        <p:spPr>
          <a:xfrm>
            <a:off x="7011670" y="854869"/>
            <a:ext cx="1159827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4" name="Text 55"/>
          <p:cNvSpPr/>
          <p:nvPr/>
        </p:nvSpPr>
        <p:spPr>
          <a:xfrm>
            <a:off x="7097395" y="931069"/>
            <a:ext cx="98837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MERGE</a:t>
            </a:r>
            <a:endParaRPr lang="en-US" sz="825" dirty="0"/>
          </a:p>
        </p:txBody>
      </p:sp>
      <p:sp>
        <p:nvSpPr>
          <p:cNvPr id="75" name="Shape 56"/>
          <p:cNvSpPr/>
          <p:nvPr/>
        </p:nvSpPr>
        <p:spPr>
          <a:xfrm>
            <a:off x="8247698" y="854869"/>
            <a:ext cx="808990" cy="309563"/>
          </a:xfrm>
          <a:prstGeom prst="roundRect">
            <a:avLst>
              <a:gd name="adj" fmla="val 18462"/>
            </a:avLst>
          </a:prstGeom>
          <a:solidFill>
            <a:srgbClr val="0D1320">
              <a:alpha val="40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6" name="Text 57"/>
          <p:cNvSpPr/>
          <p:nvPr/>
        </p:nvSpPr>
        <p:spPr>
          <a:xfrm>
            <a:off x="8333423" y="931069"/>
            <a:ext cx="6375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spc="58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825" dirty="0"/>
          </a:p>
        </p:txBody>
      </p:sp>
      <p:sp>
        <p:nvSpPr>
          <p:cNvPr id="77" name="Shape 58"/>
          <p:cNvSpPr/>
          <p:nvPr/>
        </p:nvSpPr>
        <p:spPr>
          <a:xfrm>
            <a:off x="9922827" y="838200"/>
            <a:ext cx="132984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78" name="Text 59"/>
          <p:cNvSpPr/>
          <p:nvPr/>
        </p:nvSpPr>
        <p:spPr>
          <a:xfrm>
            <a:off x="11104880" y="931069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79" name="Shape 60"/>
          <p:cNvSpPr/>
          <p:nvPr/>
        </p:nvSpPr>
        <p:spPr>
          <a:xfrm>
            <a:off x="11328876" y="838200"/>
            <a:ext cx="986949" cy="342900"/>
          </a:xfrm>
          <a:prstGeom prst="roundRect">
            <a:avLst>
              <a:gd name="adj" fmla="val 250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80" name="Text 61"/>
          <p:cNvSpPr/>
          <p:nvPr/>
        </p:nvSpPr>
        <p:spPr>
          <a:xfrm>
            <a:off x="12168029" y="931069"/>
            <a:ext cx="12874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825" dirty="0"/>
          </a:p>
        </p:txBody>
      </p:sp>
      <p:sp>
        <p:nvSpPr>
          <p:cNvPr id="81" name="Shape 62"/>
          <p:cNvSpPr/>
          <p:nvPr/>
        </p:nvSpPr>
        <p:spPr>
          <a:xfrm>
            <a:off x="2628900" y="1333500"/>
            <a:ext cx="9686925" cy="6076950"/>
          </a:xfrm>
          <a:prstGeom prst="roundRect">
            <a:avLst>
              <a:gd name="adj" fmla="val 1881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82" name="Shape 63"/>
          <p:cNvSpPr/>
          <p:nvPr/>
        </p:nvSpPr>
        <p:spPr>
          <a:xfrm>
            <a:off x="2638425" y="1676400"/>
            <a:ext cx="966787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83" name="Text 64"/>
          <p:cNvSpPr/>
          <p:nvPr/>
        </p:nvSpPr>
        <p:spPr>
          <a:xfrm>
            <a:off x="2790825" y="1438275"/>
            <a:ext cx="1504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750" dirty="0"/>
          </a:p>
        </p:txBody>
      </p:sp>
      <p:sp>
        <p:nvSpPr>
          <p:cNvPr id="84" name="Text 65"/>
          <p:cNvSpPr/>
          <p:nvPr/>
        </p:nvSpPr>
        <p:spPr>
          <a:xfrm>
            <a:off x="4333875" y="1438275"/>
            <a:ext cx="1314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</a:t>
            </a:r>
            <a:endParaRPr lang="en-US" sz="750" dirty="0"/>
          </a:p>
        </p:txBody>
      </p:sp>
      <p:sp>
        <p:nvSpPr>
          <p:cNvPr id="85" name="Text 66"/>
          <p:cNvSpPr/>
          <p:nvPr/>
        </p:nvSpPr>
        <p:spPr>
          <a:xfrm>
            <a:off x="5686425" y="1438275"/>
            <a:ext cx="1314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</a:t>
            </a:r>
            <a:endParaRPr lang="en-US" sz="750" dirty="0"/>
          </a:p>
        </p:txBody>
      </p:sp>
      <p:sp>
        <p:nvSpPr>
          <p:cNvPr id="86" name="Text 67"/>
          <p:cNvSpPr/>
          <p:nvPr/>
        </p:nvSpPr>
        <p:spPr>
          <a:xfrm>
            <a:off x="7038975" y="1438275"/>
            <a:ext cx="52683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DETAIL</a:t>
            </a:r>
            <a:endParaRPr lang="en-US" sz="750" dirty="0"/>
          </a:p>
        </p:txBody>
      </p:sp>
      <p:sp>
        <p:nvSpPr>
          <p:cNvPr id="87" name="Shape 68"/>
          <p:cNvSpPr/>
          <p:nvPr/>
        </p:nvSpPr>
        <p:spPr>
          <a:xfrm>
            <a:off x="2638425" y="21145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88" name="Text 69"/>
          <p:cNvSpPr/>
          <p:nvPr/>
        </p:nvSpPr>
        <p:spPr>
          <a:xfrm>
            <a:off x="2790825" y="18216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10:50:11·06 Jun</a:t>
            </a:r>
            <a:endParaRPr lang="en-US" sz="825" dirty="0"/>
          </a:p>
        </p:txBody>
      </p:sp>
      <p:sp>
        <p:nvSpPr>
          <p:cNvPr id="89" name="Shape 70"/>
          <p:cNvSpPr/>
          <p:nvPr/>
        </p:nvSpPr>
        <p:spPr>
          <a:xfrm>
            <a:off x="4333875" y="17811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90" name="Text 71"/>
          <p:cNvSpPr/>
          <p:nvPr/>
        </p:nvSpPr>
        <p:spPr>
          <a:xfrm>
            <a:off x="4419600" y="18288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91" name="Text 72"/>
          <p:cNvSpPr/>
          <p:nvPr/>
        </p:nvSpPr>
        <p:spPr>
          <a:xfrm>
            <a:off x="5686425" y="18180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92" name="Text 73"/>
          <p:cNvSpPr/>
          <p:nvPr/>
        </p:nvSpPr>
        <p:spPr>
          <a:xfrm>
            <a:off x="7038975" y="18145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batch rejected — schema version mismatch (v3 vs v4)</a:t>
            </a:r>
            <a:endParaRPr lang="en-US" sz="900" dirty="0"/>
          </a:p>
        </p:txBody>
      </p:sp>
      <p:sp>
        <p:nvSpPr>
          <p:cNvPr id="93" name="Shape 74"/>
          <p:cNvSpPr/>
          <p:nvPr/>
        </p:nvSpPr>
        <p:spPr>
          <a:xfrm>
            <a:off x="2638425" y="25527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94" name="Text 75"/>
          <p:cNvSpPr/>
          <p:nvPr/>
        </p:nvSpPr>
        <p:spPr>
          <a:xfrm>
            <a:off x="2790825" y="22598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09:19:11·06 Jun</a:t>
            </a:r>
            <a:endParaRPr lang="en-US" sz="825" dirty="0"/>
          </a:p>
        </p:txBody>
      </p:sp>
      <p:sp>
        <p:nvSpPr>
          <p:cNvPr id="95" name="Shape 76"/>
          <p:cNvSpPr/>
          <p:nvPr/>
        </p:nvSpPr>
        <p:spPr>
          <a:xfrm>
            <a:off x="4333875" y="22193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96" name="Text 77"/>
          <p:cNvSpPr/>
          <p:nvPr/>
        </p:nvSpPr>
        <p:spPr>
          <a:xfrm>
            <a:off x="4419600" y="22669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97" name="Text 78"/>
          <p:cNvSpPr/>
          <p:nvPr/>
        </p:nvSpPr>
        <p:spPr>
          <a:xfrm>
            <a:off x="5686425" y="22561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863" dirty="0"/>
          </a:p>
        </p:txBody>
      </p:sp>
      <p:sp>
        <p:nvSpPr>
          <p:cNvPr id="98" name="Text 79"/>
          <p:cNvSpPr/>
          <p:nvPr/>
        </p:nvSpPr>
        <p:spPr>
          <a:xfrm>
            <a:off x="7038975" y="22526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rejected — daemon in backoff after 3 consecutive failures</a:t>
            </a:r>
            <a:endParaRPr lang="en-US" sz="900" dirty="0"/>
          </a:p>
        </p:txBody>
      </p:sp>
      <p:sp>
        <p:nvSpPr>
          <p:cNvPr id="99" name="Shape 80"/>
          <p:cNvSpPr/>
          <p:nvPr/>
        </p:nvSpPr>
        <p:spPr>
          <a:xfrm>
            <a:off x="2638425" y="29908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00" name="Text 81"/>
          <p:cNvSpPr/>
          <p:nvPr/>
        </p:nvSpPr>
        <p:spPr>
          <a:xfrm>
            <a:off x="2790825" y="26979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05:16:11·06 Jun</a:t>
            </a:r>
            <a:endParaRPr lang="en-US" sz="825" dirty="0"/>
          </a:p>
        </p:txBody>
      </p:sp>
      <p:sp>
        <p:nvSpPr>
          <p:cNvPr id="101" name="Shape 82"/>
          <p:cNvSpPr/>
          <p:nvPr/>
        </p:nvSpPr>
        <p:spPr>
          <a:xfrm>
            <a:off x="4333875" y="26574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02" name="Text 83"/>
          <p:cNvSpPr/>
          <p:nvPr/>
        </p:nvSpPr>
        <p:spPr>
          <a:xfrm>
            <a:off x="4419600" y="27051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103" name="Text 84"/>
          <p:cNvSpPr/>
          <p:nvPr/>
        </p:nvSpPr>
        <p:spPr>
          <a:xfrm>
            <a:off x="5686425" y="26943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04" name="Text 85"/>
          <p:cNvSpPr/>
          <p:nvPr/>
        </p:nvSpPr>
        <p:spPr>
          <a:xfrm>
            <a:off x="7038975" y="26908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k.mensah: viewer → member</a:t>
            </a:r>
            <a:endParaRPr lang="en-US" sz="900" dirty="0"/>
          </a:p>
        </p:txBody>
      </p:sp>
      <p:sp>
        <p:nvSpPr>
          <p:cNvPr id="105" name="Shape 86"/>
          <p:cNvSpPr/>
          <p:nvPr/>
        </p:nvSpPr>
        <p:spPr>
          <a:xfrm>
            <a:off x="2638425" y="34290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06" name="Text 87"/>
          <p:cNvSpPr/>
          <p:nvPr/>
        </p:nvSpPr>
        <p:spPr>
          <a:xfrm>
            <a:off x="2790825" y="31361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04:17:11·06 Jun</a:t>
            </a:r>
            <a:endParaRPr lang="en-US" sz="825" dirty="0"/>
          </a:p>
        </p:txBody>
      </p:sp>
      <p:sp>
        <p:nvSpPr>
          <p:cNvPr id="107" name="Shape 88"/>
          <p:cNvSpPr/>
          <p:nvPr/>
        </p:nvSpPr>
        <p:spPr>
          <a:xfrm>
            <a:off x="4333875" y="30956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08" name="Text 89"/>
          <p:cNvSpPr/>
          <p:nvPr/>
        </p:nvSpPr>
        <p:spPr>
          <a:xfrm>
            <a:off x="4419600" y="31432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109" name="Text 90"/>
          <p:cNvSpPr/>
          <p:nvPr/>
        </p:nvSpPr>
        <p:spPr>
          <a:xfrm>
            <a:off x="5686425" y="31324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10" name="Text 91"/>
          <p:cNvSpPr/>
          <p:nvPr/>
        </p:nvSpPr>
        <p:spPr>
          <a:xfrm>
            <a:off x="7038975" y="31289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r.delacroix: member → admin</a:t>
            </a:r>
            <a:endParaRPr lang="en-US" sz="900" dirty="0"/>
          </a:p>
        </p:txBody>
      </p:sp>
      <p:sp>
        <p:nvSpPr>
          <p:cNvPr id="111" name="Shape 92"/>
          <p:cNvSpPr/>
          <p:nvPr/>
        </p:nvSpPr>
        <p:spPr>
          <a:xfrm>
            <a:off x="2638425" y="38671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2" name="Text 93"/>
          <p:cNvSpPr/>
          <p:nvPr/>
        </p:nvSpPr>
        <p:spPr>
          <a:xfrm>
            <a:off x="2790825" y="35742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03:50:11·06 Jun</a:t>
            </a:r>
            <a:endParaRPr lang="en-US" sz="825" dirty="0"/>
          </a:p>
        </p:txBody>
      </p:sp>
      <p:sp>
        <p:nvSpPr>
          <p:cNvPr id="113" name="Shape 94"/>
          <p:cNvSpPr/>
          <p:nvPr/>
        </p:nvSpPr>
        <p:spPr>
          <a:xfrm>
            <a:off x="4333875" y="35337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114" name="Text 95"/>
          <p:cNvSpPr/>
          <p:nvPr/>
        </p:nvSpPr>
        <p:spPr>
          <a:xfrm>
            <a:off x="4419600" y="35814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115" name="Text 96"/>
          <p:cNvSpPr/>
          <p:nvPr/>
        </p:nvSpPr>
        <p:spPr>
          <a:xfrm>
            <a:off x="5686425" y="35706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116" name="Text 97"/>
          <p:cNvSpPr/>
          <p:nvPr/>
        </p:nvSpPr>
        <p:spPr>
          <a:xfrm>
            <a:off x="7038975" y="35671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batch rejected — schema version mismatch (v3 vs v4)</a:t>
            </a:r>
            <a:endParaRPr lang="en-US" sz="900" dirty="0"/>
          </a:p>
        </p:txBody>
      </p:sp>
      <p:sp>
        <p:nvSpPr>
          <p:cNvPr id="117" name="Shape 98"/>
          <p:cNvSpPr/>
          <p:nvPr/>
        </p:nvSpPr>
        <p:spPr>
          <a:xfrm>
            <a:off x="2638425" y="43053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18" name="Text 99"/>
          <p:cNvSpPr/>
          <p:nvPr/>
        </p:nvSpPr>
        <p:spPr>
          <a:xfrm>
            <a:off x="2790825" y="40124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01:50:11·06 Jun</a:t>
            </a:r>
            <a:endParaRPr lang="en-US" sz="825" dirty="0"/>
          </a:p>
        </p:txBody>
      </p:sp>
      <p:sp>
        <p:nvSpPr>
          <p:cNvPr id="119" name="Shape 100"/>
          <p:cNvSpPr/>
          <p:nvPr/>
        </p:nvSpPr>
        <p:spPr>
          <a:xfrm>
            <a:off x="4333875" y="3971925"/>
            <a:ext cx="988695" cy="238125"/>
          </a:xfrm>
          <a:prstGeom prst="roundRect">
            <a:avLst>
              <a:gd name="adj" fmla="val 16000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20" name="Text 101"/>
          <p:cNvSpPr/>
          <p:nvPr/>
        </p:nvSpPr>
        <p:spPr>
          <a:xfrm>
            <a:off x="4419600" y="4019550"/>
            <a:ext cx="893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MERGE</a:t>
            </a:r>
            <a:endParaRPr lang="en-US" sz="750" dirty="0"/>
          </a:p>
        </p:txBody>
      </p:sp>
      <p:sp>
        <p:nvSpPr>
          <p:cNvPr id="121" name="Text 102"/>
          <p:cNvSpPr/>
          <p:nvPr/>
        </p:nvSpPr>
        <p:spPr>
          <a:xfrm>
            <a:off x="5686425" y="40087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22" name="Text 103"/>
          <p:cNvSpPr/>
          <p:nvPr/>
        </p:nvSpPr>
        <p:spPr>
          <a:xfrm>
            <a:off x="7038975" y="4005262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namespace auth-svc → auth-service (311 vectors)</a:t>
            </a:r>
            <a:endParaRPr lang="en-US" sz="900" dirty="0"/>
          </a:p>
        </p:txBody>
      </p:sp>
      <p:sp>
        <p:nvSpPr>
          <p:cNvPr id="123" name="Shape 104"/>
          <p:cNvSpPr/>
          <p:nvPr/>
        </p:nvSpPr>
        <p:spPr>
          <a:xfrm>
            <a:off x="2638425" y="47434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24" name="Text 105"/>
          <p:cNvSpPr/>
          <p:nvPr/>
        </p:nvSpPr>
        <p:spPr>
          <a:xfrm>
            <a:off x="2790825" y="44505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01:44:11·06 Jun</a:t>
            </a:r>
            <a:endParaRPr lang="en-US" sz="825" dirty="0"/>
          </a:p>
        </p:txBody>
      </p:sp>
      <p:sp>
        <p:nvSpPr>
          <p:cNvPr id="125" name="Shape 106"/>
          <p:cNvSpPr/>
          <p:nvPr/>
        </p:nvSpPr>
        <p:spPr>
          <a:xfrm>
            <a:off x="4333875" y="4410075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126" name="Text 107"/>
          <p:cNvSpPr/>
          <p:nvPr/>
        </p:nvSpPr>
        <p:spPr>
          <a:xfrm>
            <a:off x="4419600" y="4457700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127" name="Text 108"/>
          <p:cNvSpPr/>
          <p:nvPr/>
        </p:nvSpPr>
        <p:spPr>
          <a:xfrm>
            <a:off x="5686425" y="44469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128" name="Text 109"/>
          <p:cNvSpPr/>
          <p:nvPr/>
        </p:nvSpPr>
        <p:spPr>
          <a:xfrm>
            <a:off x="7038975" y="44434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config.hnsw-ef — awaiting admin review</a:t>
            </a:r>
            <a:endParaRPr lang="en-US" sz="900" dirty="0"/>
          </a:p>
        </p:txBody>
      </p:sp>
      <p:sp>
        <p:nvSpPr>
          <p:cNvPr id="129" name="Shape 110"/>
          <p:cNvSpPr/>
          <p:nvPr/>
        </p:nvSpPr>
        <p:spPr>
          <a:xfrm>
            <a:off x="2638425" y="51816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30" name="Text 111"/>
          <p:cNvSpPr/>
          <p:nvPr/>
        </p:nvSpPr>
        <p:spPr>
          <a:xfrm>
            <a:off x="2790825" y="48887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21:06:11·05 Jun</a:t>
            </a:r>
            <a:endParaRPr lang="en-US" sz="825" dirty="0"/>
          </a:p>
        </p:txBody>
      </p:sp>
      <p:sp>
        <p:nvSpPr>
          <p:cNvPr id="131" name="Shape 112"/>
          <p:cNvSpPr/>
          <p:nvPr/>
        </p:nvSpPr>
        <p:spPr>
          <a:xfrm>
            <a:off x="4333875" y="4848225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32" name="Text 113"/>
          <p:cNvSpPr/>
          <p:nvPr/>
        </p:nvSpPr>
        <p:spPr>
          <a:xfrm>
            <a:off x="4419600" y="4895850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133" name="Text 114"/>
          <p:cNvSpPr/>
          <p:nvPr/>
        </p:nvSpPr>
        <p:spPr>
          <a:xfrm>
            <a:off x="5686425" y="48850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134" name="Text 115"/>
          <p:cNvSpPr/>
          <p:nvPr/>
        </p:nvSpPr>
        <p:spPr>
          <a:xfrm>
            <a:off x="7038975" y="48815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deactivated user s.abramov (inactive 30d, sync unknown)</a:t>
            </a:r>
            <a:endParaRPr lang="en-US" sz="900" dirty="0"/>
          </a:p>
        </p:txBody>
      </p:sp>
      <p:sp>
        <p:nvSpPr>
          <p:cNvPr id="135" name="Shape 116"/>
          <p:cNvSpPr/>
          <p:nvPr/>
        </p:nvSpPr>
        <p:spPr>
          <a:xfrm>
            <a:off x="2638425" y="56197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36" name="Text 117"/>
          <p:cNvSpPr/>
          <p:nvPr/>
        </p:nvSpPr>
        <p:spPr>
          <a:xfrm>
            <a:off x="2790825" y="53268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20:26:11·05 Jun</a:t>
            </a:r>
            <a:endParaRPr lang="en-US" sz="825" dirty="0"/>
          </a:p>
        </p:txBody>
      </p:sp>
      <p:sp>
        <p:nvSpPr>
          <p:cNvPr id="137" name="Shape 118"/>
          <p:cNvSpPr/>
          <p:nvPr/>
        </p:nvSpPr>
        <p:spPr>
          <a:xfrm>
            <a:off x="4333875" y="5286375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138" name="Text 119"/>
          <p:cNvSpPr/>
          <p:nvPr/>
        </p:nvSpPr>
        <p:spPr>
          <a:xfrm>
            <a:off x="4419600" y="5334000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139" name="Text 120"/>
          <p:cNvSpPr/>
          <p:nvPr/>
        </p:nvSpPr>
        <p:spPr>
          <a:xfrm>
            <a:off x="5686425" y="53232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63" dirty="0"/>
          </a:p>
        </p:txBody>
      </p:sp>
      <p:sp>
        <p:nvSpPr>
          <p:cNvPr id="140" name="Text 121"/>
          <p:cNvSpPr/>
          <p:nvPr/>
        </p:nvSpPr>
        <p:spPr>
          <a:xfrm>
            <a:off x="7038975" y="53197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sync.crdt — losing version preserved</a:t>
            </a:r>
            <a:endParaRPr lang="en-US" sz="900" dirty="0"/>
          </a:p>
        </p:txBody>
      </p:sp>
      <p:sp>
        <p:nvSpPr>
          <p:cNvPr id="141" name="Shape 122"/>
          <p:cNvSpPr/>
          <p:nvPr/>
        </p:nvSpPr>
        <p:spPr>
          <a:xfrm>
            <a:off x="2638425" y="60579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42" name="Text 123"/>
          <p:cNvSpPr/>
          <p:nvPr/>
        </p:nvSpPr>
        <p:spPr>
          <a:xfrm>
            <a:off x="2790825" y="57650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19:27:11·05 Jun</a:t>
            </a:r>
            <a:endParaRPr lang="en-US" sz="825" dirty="0"/>
          </a:p>
        </p:txBody>
      </p:sp>
      <p:sp>
        <p:nvSpPr>
          <p:cNvPr id="143" name="Shape 124"/>
          <p:cNvSpPr/>
          <p:nvPr/>
        </p:nvSpPr>
        <p:spPr>
          <a:xfrm>
            <a:off x="4333875" y="57245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44" name="Text 125"/>
          <p:cNvSpPr/>
          <p:nvPr/>
        </p:nvSpPr>
        <p:spPr>
          <a:xfrm>
            <a:off x="4419600" y="57721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145" name="Text 126"/>
          <p:cNvSpPr/>
          <p:nvPr/>
        </p:nvSpPr>
        <p:spPr>
          <a:xfrm>
            <a:off x="5686425" y="57613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46" name="Text 127"/>
          <p:cNvSpPr/>
          <p:nvPr/>
        </p:nvSpPr>
        <p:spPr>
          <a:xfrm>
            <a:off x="7038975" y="57578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r.delacroix: member → admin</a:t>
            </a:r>
            <a:endParaRPr lang="en-US" sz="900" dirty="0"/>
          </a:p>
        </p:txBody>
      </p:sp>
      <p:sp>
        <p:nvSpPr>
          <p:cNvPr id="147" name="Shape 128"/>
          <p:cNvSpPr/>
          <p:nvPr/>
        </p:nvSpPr>
        <p:spPr>
          <a:xfrm>
            <a:off x="2638425" y="64960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48" name="Text 129"/>
          <p:cNvSpPr/>
          <p:nvPr/>
        </p:nvSpPr>
        <p:spPr>
          <a:xfrm>
            <a:off x="2790825" y="62031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17:47:11·05 Jun</a:t>
            </a:r>
            <a:endParaRPr lang="en-US" sz="825" dirty="0"/>
          </a:p>
        </p:txBody>
      </p:sp>
      <p:sp>
        <p:nvSpPr>
          <p:cNvPr id="149" name="Shape 130"/>
          <p:cNvSpPr/>
          <p:nvPr/>
        </p:nvSpPr>
        <p:spPr>
          <a:xfrm>
            <a:off x="4333875" y="61626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150" name="Text 131"/>
          <p:cNvSpPr/>
          <p:nvPr/>
        </p:nvSpPr>
        <p:spPr>
          <a:xfrm>
            <a:off x="4419600" y="62103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151" name="Text 132"/>
          <p:cNvSpPr/>
          <p:nvPr/>
        </p:nvSpPr>
        <p:spPr>
          <a:xfrm>
            <a:off x="5686425" y="61995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863" dirty="0"/>
          </a:p>
        </p:txBody>
      </p:sp>
      <p:sp>
        <p:nvSpPr>
          <p:cNvPr id="152" name="Text 133"/>
          <p:cNvSpPr/>
          <p:nvPr/>
        </p:nvSpPr>
        <p:spPr>
          <a:xfrm>
            <a:off x="7038975" y="61960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rejected — daemon in backoff after 3 consecutive failures</a:t>
            </a:r>
            <a:endParaRPr lang="en-US" sz="900" dirty="0"/>
          </a:p>
        </p:txBody>
      </p:sp>
      <p:sp>
        <p:nvSpPr>
          <p:cNvPr id="153" name="Shape 134"/>
          <p:cNvSpPr/>
          <p:nvPr/>
        </p:nvSpPr>
        <p:spPr>
          <a:xfrm>
            <a:off x="2638425" y="69342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54" name="Text 135"/>
          <p:cNvSpPr/>
          <p:nvPr/>
        </p:nvSpPr>
        <p:spPr>
          <a:xfrm>
            <a:off x="2790825" y="66413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16:58:11·05 Jun</a:t>
            </a:r>
            <a:endParaRPr lang="en-US" sz="825" dirty="0"/>
          </a:p>
        </p:txBody>
      </p:sp>
      <p:sp>
        <p:nvSpPr>
          <p:cNvPr id="155" name="Shape 136"/>
          <p:cNvSpPr/>
          <p:nvPr/>
        </p:nvSpPr>
        <p:spPr>
          <a:xfrm>
            <a:off x="4333875" y="6600825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156" name="Text 137"/>
          <p:cNvSpPr/>
          <p:nvPr/>
        </p:nvSpPr>
        <p:spPr>
          <a:xfrm>
            <a:off x="4419600" y="6648450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157" name="Text 138"/>
          <p:cNvSpPr/>
          <p:nvPr/>
        </p:nvSpPr>
        <p:spPr>
          <a:xfrm>
            <a:off x="5686425" y="66376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63" dirty="0"/>
          </a:p>
        </p:txBody>
      </p:sp>
      <p:sp>
        <p:nvSpPr>
          <p:cNvPr id="158" name="Text 139"/>
          <p:cNvSpPr/>
          <p:nvPr/>
        </p:nvSpPr>
        <p:spPr>
          <a:xfrm>
            <a:off x="7038975" y="66341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sync.crdt — losing version preserved</a:t>
            </a:r>
            <a:endParaRPr lang="en-US" sz="900" dirty="0"/>
          </a:p>
        </p:txBody>
      </p:sp>
      <p:sp>
        <p:nvSpPr>
          <p:cNvPr id="159" name="Shape 140"/>
          <p:cNvSpPr/>
          <p:nvPr/>
        </p:nvSpPr>
        <p:spPr>
          <a:xfrm>
            <a:off x="2638425" y="73723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60" name="Text 141"/>
          <p:cNvSpPr/>
          <p:nvPr/>
        </p:nvSpPr>
        <p:spPr>
          <a:xfrm>
            <a:off x="2790825" y="70794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10:50:11·05 Jun</a:t>
            </a:r>
            <a:endParaRPr lang="en-US" sz="825" dirty="0"/>
          </a:p>
        </p:txBody>
      </p:sp>
      <p:sp>
        <p:nvSpPr>
          <p:cNvPr id="161" name="Shape 142"/>
          <p:cNvSpPr/>
          <p:nvPr/>
        </p:nvSpPr>
        <p:spPr>
          <a:xfrm>
            <a:off x="4333875" y="7038975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62" name="Text 143"/>
          <p:cNvSpPr/>
          <p:nvPr/>
        </p:nvSpPr>
        <p:spPr>
          <a:xfrm>
            <a:off x="4419600" y="7086600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163" name="Text 144"/>
          <p:cNvSpPr/>
          <p:nvPr/>
        </p:nvSpPr>
        <p:spPr>
          <a:xfrm>
            <a:off x="5686425" y="70758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64" name="Text 145"/>
          <p:cNvSpPr/>
          <p:nvPr/>
        </p:nvSpPr>
        <p:spPr>
          <a:xfrm>
            <a:off x="7038975" y="70723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reactivated user l.fontaine (viewer)</a:t>
            </a:r>
            <a:endParaRPr lang="en-US" sz="900" dirty="0"/>
          </a:p>
        </p:txBody>
      </p:sp>
      <p:sp>
        <p:nvSpPr>
          <p:cNvPr id="165" name="Shape 146"/>
          <p:cNvSpPr/>
          <p:nvPr/>
        </p:nvSpPr>
        <p:spPr>
          <a:xfrm>
            <a:off x="2638425" y="78105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66" name="Text 147"/>
          <p:cNvSpPr/>
          <p:nvPr/>
        </p:nvSpPr>
        <p:spPr>
          <a:xfrm>
            <a:off x="2790825" y="75176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10:48:11·05 Jun</a:t>
            </a:r>
            <a:endParaRPr lang="en-US" sz="825" dirty="0"/>
          </a:p>
        </p:txBody>
      </p:sp>
      <p:sp>
        <p:nvSpPr>
          <p:cNvPr id="167" name="Shape 148"/>
          <p:cNvSpPr/>
          <p:nvPr/>
        </p:nvSpPr>
        <p:spPr>
          <a:xfrm>
            <a:off x="4333875" y="7477125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68" name="Text 149"/>
          <p:cNvSpPr/>
          <p:nvPr/>
        </p:nvSpPr>
        <p:spPr>
          <a:xfrm>
            <a:off x="4419600" y="7524750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169" name="Text 150"/>
          <p:cNvSpPr/>
          <p:nvPr/>
        </p:nvSpPr>
        <p:spPr>
          <a:xfrm>
            <a:off x="5686425" y="75139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170" name="Text 151"/>
          <p:cNvSpPr/>
          <p:nvPr/>
        </p:nvSpPr>
        <p:spPr>
          <a:xfrm>
            <a:off x="7038975" y="7510462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deactivated user s.abramov (inactive 30d, sync unknown)</a:t>
            </a:r>
            <a:endParaRPr lang="en-US" sz="900" dirty="0"/>
          </a:p>
        </p:txBody>
      </p:sp>
      <p:sp>
        <p:nvSpPr>
          <p:cNvPr id="171" name="Shape 152"/>
          <p:cNvSpPr/>
          <p:nvPr/>
        </p:nvSpPr>
        <p:spPr>
          <a:xfrm>
            <a:off x="2638425" y="82486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72" name="Text 153"/>
          <p:cNvSpPr/>
          <p:nvPr/>
        </p:nvSpPr>
        <p:spPr>
          <a:xfrm>
            <a:off x="2790825" y="79557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10:26:11·05 Jun</a:t>
            </a:r>
            <a:endParaRPr lang="en-US" sz="825" dirty="0"/>
          </a:p>
        </p:txBody>
      </p:sp>
      <p:sp>
        <p:nvSpPr>
          <p:cNvPr id="173" name="Shape 154"/>
          <p:cNvSpPr/>
          <p:nvPr/>
        </p:nvSpPr>
        <p:spPr>
          <a:xfrm>
            <a:off x="4333875" y="79152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74" name="Text 155"/>
          <p:cNvSpPr/>
          <p:nvPr/>
        </p:nvSpPr>
        <p:spPr>
          <a:xfrm>
            <a:off x="4419600" y="79629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175" name="Text 156"/>
          <p:cNvSpPr/>
          <p:nvPr/>
        </p:nvSpPr>
        <p:spPr>
          <a:xfrm>
            <a:off x="5686425" y="79521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76" name="Text 157"/>
          <p:cNvSpPr/>
          <p:nvPr/>
        </p:nvSpPr>
        <p:spPr>
          <a:xfrm>
            <a:off x="7038975" y="79486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k.mensah: viewer → member</a:t>
            </a:r>
            <a:endParaRPr lang="en-US" sz="900" dirty="0"/>
          </a:p>
        </p:txBody>
      </p:sp>
      <p:sp>
        <p:nvSpPr>
          <p:cNvPr id="177" name="Shape 158"/>
          <p:cNvSpPr/>
          <p:nvPr/>
        </p:nvSpPr>
        <p:spPr>
          <a:xfrm>
            <a:off x="2638425" y="86868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78" name="Text 159"/>
          <p:cNvSpPr/>
          <p:nvPr/>
        </p:nvSpPr>
        <p:spPr>
          <a:xfrm>
            <a:off x="2790825" y="83939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09:46:11·05 Jun</a:t>
            </a:r>
            <a:endParaRPr lang="en-US" sz="825" dirty="0"/>
          </a:p>
        </p:txBody>
      </p:sp>
      <p:sp>
        <p:nvSpPr>
          <p:cNvPr id="179" name="Shape 160"/>
          <p:cNvSpPr/>
          <p:nvPr/>
        </p:nvSpPr>
        <p:spPr>
          <a:xfrm>
            <a:off x="4333875" y="83534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80" name="Text 161"/>
          <p:cNvSpPr/>
          <p:nvPr/>
        </p:nvSpPr>
        <p:spPr>
          <a:xfrm>
            <a:off x="4419600" y="84010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181" name="Text 162"/>
          <p:cNvSpPr/>
          <p:nvPr/>
        </p:nvSpPr>
        <p:spPr>
          <a:xfrm>
            <a:off x="5686425" y="83902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82" name="Text 163"/>
          <p:cNvSpPr/>
          <p:nvPr/>
        </p:nvSpPr>
        <p:spPr>
          <a:xfrm>
            <a:off x="7038975" y="83867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k.mensah: viewer → member</a:t>
            </a:r>
            <a:endParaRPr lang="en-US" sz="900" dirty="0"/>
          </a:p>
        </p:txBody>
      </p:sp>
      <p:sp>
        <p:nvSpPr>
          <p:cNvPr id="183" name="Shape 164"/>
          <p:cNvSpPr/>
          <p:nvPr/>
        </p:nvSpPr>
        <p:spPr>
          <a:xfrm>
            <a:off x="2638425" y="91249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84" name="Text 165"/>
          <p:cNvSpPr/>
          <p:nvPr/>
        </p:nvSpPr>
        <p:spPr>
          <a:xfrm>
            <a:off x="2790825" y="88320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09:26:11·05 Jun</a:t>
            </a:r>
            <a:endParaRPr lang="en-US" sz="825" dirty="0"/>
          </a:p>
        </p:txBody>
      </p:sp>
      <p:sp>
        <p:nvSpPr>
          <p:cNvPr id="185" name="Shape 166"/>
          <p:cNvSpPr/>
          <p:nvPr/>
        </p:nvSpPr>
        <p:spPr>
          <a:xfrm>
            <a:off x="4333875" y="8791575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186" name="Text 167"/>
          <p:cNvSpPr/>
          <p:nvPr/>
        </p:nvSpPr>
        <p:spPr>
          <a:xfrm>
            <a:off x="4419600" y="8839200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187" name="Text 168"/>
          <p:cNvSpPr/>
          <p:nvPr/>
        </p:nvSpPr>
        <p:spPr>
          <a:xfrm>
            <a:off x="5686425" y="88284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63" dirty="0"/>
          </a:p>
        </p:txBody>
      </p:sp>
      <p:sp>
        <p:nvSpPr>
          <p:cNvPr id="188" name="Text 169"/>
          <p:cNvSpPr/>
          <p:nvPr/>
        </p:nvSpPr>
        <p:spPr>
          <a:xfrm>
            <a:off x="7038975" y="88249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sync.crdt — losing version preserved</a:t>
            </a:r>
            <a:endParaRPr lang="en-US" sz="900" dirty="0"/>
          </a:p>
        </p:txBody>
      </p:sp>
      <p:sp>
        <p:nvSpPr>
          <p:cNvPr id="189" name="Shape 170"/>
          <p:cNvSpPr/>
          <p:nvPr/>
        </p:nvSpPr>
        <p:spPr>
          <a:xfrm>
            <a:off x="2638425" y="95631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90" name="Text 171"/>
          <p:cNvSpPr/>
          <p:nvPr/>
        </p:nvSpPr>
        <p:spPr>
          <a:xfrm>
            <a:off x="2790825" y="92702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08:02:11·05 Jun</a:t>
            </a:r>
            <a:endParaRPr lang="en-US" sz="825" dirty="0"/>
          </a:p>
        </p:txBody>
      </p:sp>
      <p:sp>
        <p:nvSpPr>
          <p:cNvPr id="191" name="Shape 172"/>
          <p:cNvSpPr/>
          <p:nvPr/>
        </p:nvSpPr>
        <p:spPr>
          <a:xfrm>
            <a:off x="4333875" y="92297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92" name="Text 173"/>
          <p:cNvSpPr/>
          <p:nvPr/>
        </p:nvSpPr>
        <p:spPr>
          <a:xfrm>
            <a:off x="4419600" y="92773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193" name="Text 174"/>
          <p:cNvSpPr/>
          <p:nvPr/>
        </p:nvSpPr>
        <p:spPr>
          <a:xfrm>
            <a:off x="5686425" y="92665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194" name="Text 175"/>
          <p:cNvSpPr/>
          <p:nvPr/>
        </p:nvSpPr>
        <p:spPr>
          <a:xfrm>
            <a:off x="7038975" y="92630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role change — admin limit (3/3) reached</a:t>
            </a:r>
            <a:endParaRPr lang="en-US" sz="900" dirty="0"/>
          </a:p>
        </p:txBody>
      </p:sp>
      <p:sp>
        <p:nvSpPr>
          <p:cNvPr id="195" name="Shape 176"/>
          <p:cNvSpPr/>
          <p:nvPr/>
        </p:nvSpPr>
        <p:spPr>
          <a:xfrm>
            <a:off x="2638425" y="100012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196" name="Text 177"/>
          <p:cNvSpPr/>
          <p:nvPr/>
        </p:nvSpPr>
        <p:spPr>
          <a:xfrm>
            <a:off x="2790825" y="97083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03:20:11·05 Jun</a:t>
            </a:r>
            <a:endParaRPr lang="en-US" sz="825" dirty="0"/>
          </a:p>
        </p:txBody>
      </p:sp>
      <p:sp>
        <p:nvSpPr>
          <p:cNvPr id="197" name="Shape 178"/>
          <p:cNvSpPr/>
          <p:nvPr/>
        </p:nvSpPr>
        <p:spPr>
          <a:xfrm>
            <a:off x="4333875" y="96678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198" name="Text 179"/>
          <p:cNvSpPr/>
          <p:nvPr/>
        </p:nvSpPr>
        <p:spPr>
          <a:xfrm>
            <a:off x="4419600" y="97155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199" name="Text 180"/>
          <p:cNvSpPr/>
          <p:nvPr/>
        </p:nvSpPr>
        <p:spPr>
          <a:xfrm>
            <a:off x="5686425" y="97047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200" name="Text 181"/>
          <p:cNvSpPr/>
          <p:nvPr/>
        </p:nvSpPr>
        <p:spPr>
          <a:xfrm>
            <a:off x="7038975" y="97012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role change — admin limit (3/3) reached</a:t>
            </a:r>
            <a:endParaRPr lang="en-US" sz="900" dirty="0"/>
          </a:p>
        </p:txBody>
      </p:sp>
      <p:sp>
        <p:nvSpPr>
          <p:cNvPr id="201" name="Shape 182"/>
          <p:cNvSpPr/>
          <p:nvPr/>
        </p:nvSpPr>
        <p:spPr>
          <a:xfrm>
            <a:off x="2638425" y="104394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02" name="Text 183"/>
          <p:cNvSpPr/>
          <p:nvPr/>
        </p:nvSpPr>
        <p:spPr>
          <a:xfrm>
            <a:off x="2790825" y="101465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02:51:11·05 Jun</a:t>
            </a:r>
            <a:endParaRPr lang="en-US" sz="825" dirty="0"/>
          </a:p>
        </p:txBody>
      </p:sp>
      <p:sp>
        <p:nvSpPr>
          <p:cNvPr id="203" name="Shape 184"/>
          <p:cNvSpPr/>
          <p:nvPr/>
        </p:nvSpPr>
        <p:spPr>
          <a:xfrm>
            <a:off x="4333875" y="10106025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04" name="Text 185"/>
          <p:cNvSpPr/>
          <p:nvPr/>
        </p:nvSpPr>
        <p:spPr>
          <a:xfrm>
            <a:off x="4419600" y="10153650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205" name="Text 186"/>
          <p:cNvSpPr/>
          <p:nvPr/>
        </p:nvSpPr>
        <p:spPr>
          <a:xfrm>
            <a:off x="5686425" y="101428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06" name="Text 187"/>
          <p:cNvSpPr/>
          <p:nvPr/>
        </p:nvSpPr>
        <p:spPr>
          <a:xfrm>
            <a:off x="7038975" y="101393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reactivated user l.fontaine (viewer)</a:t>
            </a:r>
            <a:endParaRPr lang="en-US" sz="900" dirty="0"/>
          </a:p>
        </p:txBody>
      </p:sp>
      <p:sp>
        <p:nvSpPr>
          <p:cNvPr id="207" name="Shape 188"/>
          <p:cNvSpPr/>
          <p:nvPr/>
        </p:nvSpPr>
        <p:spPr>
          <a:xfrm>
            <a:off x="2638425" y="108775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08" name="Text 189"/>
          <p:cNvSpPr/>
          <p:nvPr/>
        </p:nvSpPr>
        <p:spPr>
          <a:xfrm>
            <a:off x="2790825" y="105846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02:50:11·05 Jun</a:t>
            </a:r>
            <a:endParaRPr lang="en-US" sz="825" dirty="0"/>
          </a:p>
        </p:txBody>
      </p:sp>
      <p:sp>
        <p:nvSpPr>
          <p:cNvPr id="209" name="Shape 190"/>
          <p:cNvSpPr/>
          <p:nvPr/>
        </p:nvSpPr>
        <p:spPr>
          <a:xfrm>
            <a:off x="4333875" y="105441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210" name="Text 191"/>
          <p:cNvSpPr/>
          <p:nvPr/>
        </p:nvSpPr>
        <p:spPr>
          <a:xfrm>
            <a:off x="4419600" y="105918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211" name="Text 192"/>
          <p:cNvSpPr/>
          <p:nvPr/>
        </p:nvSpPr>
        <p:spPr>
          <a:xfrm>
            <a:off x="5686425" y="105810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212" name="Text 193"/>
          <p:cNvSpPr/>
          <p:nvPr/>
        </p:nvSpPr>
        <p:spPr>
          <a:xfrm>
            <a:off x="7038975" y="105775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role change — admin limit (3/3) reached</a:t>
            </a:r>
            <a:endParaRPr lang="en-US" sz="900" dirty="0"/>
          </a:p>
        </p:txBody>
      </p:sp>
      <p:sp>
        <p:nvSpPr>
          <p:cNvPr id="213" name="Shape 194"/>
          <p:cNvSpPr/>
          <p:nvPr/>
        </p:nvSpPr>
        <p:spPr>
          <a:xfrm>
            <a:off x="2638425" y="113157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14" name="Text 195"/>
          <p:cNvSpPr/>
          <p:nvPr/>
        </p:nvSpPr>
        <p:spPr>
          <a:xfrm>
            <a:off x="2790825" y="110228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20:35:11·04 Jun</a:t>
            </a:r>
            <a:endParaRPr lang="en-US" sz="825" dirty="0"/>
          </a:p>
        </p:txBody>
      </p:sp>
      <p:sp>
        <p:nvSpPr>
          <p:cNvPr id="215" name="Shape 196"/>
          <p:cNvSpPr/>
          <p:nvPr/>
        </p:nvSpPr>
        <p:spPr>
          <a:xfrm>
            <a:off x="4333875" y="10982325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216" name="Text 197"/>
          <p:cNvSpPr/>
          <p:nvPr/>
        </p:nvSpPr>
        <p:spPr>
          <a:xfrm>
            <a:off x="4419600" y="11029950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217" name="Text 198"/>
          <p:cNvSpPr/>
          <p:nvPr/>
        </p:nvSpPr>
        <p:spPr>
          <a:xfrm>
            <a:off x="5686425" y="110191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218" name="Text 199"/>
          <p:cNvSpPr/>
          <p:nvPr/>
        </p:nvSpPr>
        <p:spPr>
          <a:xfrm>
            <a:off x="7038975" y="110156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config.hnsw-ef — awaiting admin review</a:t>
            </a:r>
            <a:endParaRPr lang="en-US" sz="900" dirty="0"/>
          </a:p>
        </p:txBody>
      </p:sp>
      <p:sp>
        <p:nvSpPr>
          <p:cNvPr id="219" name="Shape 200"/>
          <p:cNvSpPr/>
          <p:nvPr/>
        </p:nvSpPr>
        <p:spPr>
          <a:xfrm>
            <a:off x="2638425" y="117538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0" name="Text 201"/>
          <p:cNvSpPr/>
          <p:nvPr/>
        </p:nvSpPr>
        <p:spPr>
          <a:xfrm>
            <a:off x="2790825" y="114609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18:53:11·04 Jun</a:t>
            </a:r>
            <a:endParaRPr lang="en-US" sz="825" dirty="0"/>
          </a:p>
        </p:txBody>
      </p:sp>
      <p:sp>
        <p:nvSpPr>
          <p:cNvPr id="221" name="Shape 202"/>
          <p:cNvSpPr/>
          <p:nvPr/>
        </p:nvSpPr>
        <p:spPr>
          <a:xfrm>
            <a:off x="4333875" y="11420475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222" name="Text 203"/>
          <p:cNvSpPr/>
          <p:nvPr/>
        </p:nvSpPr>
        <p:spPr>
          <a:xfrm>
            <a:off x="4419600" y="11468100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223" name="Text 204"/>
          <p:cNvSpPr/>
          <p:nvPr/>
        </p:nvSpPr>
        <p:spPr>
          <a:xfrm>
            <a:off x="5686425" y="114573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224" name="Text 205"/>
          <p:cNvSpPr/>
          <p:nvPr/>
        </p:nvSpPr>
        <p:spPr>
          <a:xfrm>
            <a:off x="7038975" y="114538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config.hnsw-ef — awaiting admin review</a:t>
            </a:r>
            <a:endParaRPr lang="en-US" sz="900" dirty="0"/>
          </a:p>
        </p:txBody>
      </p:sp>
      <p:sp>
        <p:nvSpPr>
          <p:cNvPr id="225" name="Shape 206"/>
          <p:cNvSpPr/>
          <p:nvPr/>
        </p:nvSpPr>
        <p:spPr>
          <a:xfrm>
            <a:off x="2638425" y="121920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6" name="Text 207"/>
          <p:cNvSpPr/>
          <p:nvPr/>
        </p:nvSpPr>
        <p:spPr>
          <a:xfrm>
            <a:off x="2790825" y="118991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10:48:11·04 Jun</a:t>
            </a:r>
            <a:endParaRPr lang="en-US" sz="825" dirty="0"/>
          </a:p>
        </p:txBody>
      </p:sp>
      <p:sp>
        <p:nvSpPr>
          <p:cNvPr id="227" name="Shape 208"/>
          <p:cNvSpPr/>
          <p:nvPr/>
        </p:nvSpPr>
        <p:spPr>
          <a:xfrm>
            <a:off x="4333875" y="118586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228" name="Text 209"/>
          <p:cNvSpPr/>
          <p:nvPr/>
        </p:nvSpPr>
        <p:spPr>
          <a:xfrm>
            <a:off x="4419600" y="119062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229" name="Text 210"/>
          <p:cNvSpPr/>
          <p:nvPr/>
        </p:nvSpPr>
        <p:spPr>
          <a:xfrm>
            <a:off x="5686425" y="118954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30" name="Text 211"/>
          <p:cNvSpPr/>
          <p:nvPr/>
        </p:nvSpPr>
        <p:spPr>
          <a:xfrm>
            <a:off x="7038975" y="118919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k.mensah: viewer → member</a:t>
            </a:r>
            <a:endParaRPr lang="en-US" sz="900" dirty="0"/>
          </a:p>
        </p:txBody>
      </p:sp>
      <p:sp>
        <p:nvSpPr>
          <p:cNvPr id="231" name="Shape 212"/>
          <p:cNvSpPr/>
          <p:nvPr/>
        </p:nvSpPr>
        <p:spPr>
          <a:xfrm>
            <a:off x="2638425" y="126301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2" name="Text 213"/>
          <p:cNvSpPr/>
          <p:nvPr/>
        </p:nvSpPr>
        <p:spPr>
          <a:xfrm>
            <a:off x="2790825" y="123372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08:05:11·04 Jun</a:t>
            </a:r>
            <a:endParaRPr lang="en-US" sz="825" dirty="0"/>
          </a:p>
        </p:txBody>
      </p:sp>
      <p:sp>
        <p:nvSpPr>
          <p:cNvPr id="233" name="Shape 214"/>
          <p:cNvSpPr/>
          <p:nvPr/>
        </p:nvSpPr>
        <p:spPr>
          <a:xfrm>
            <a:off x="4333875" y="12296775"/>
            <a:ext cx="988695" cy="238125"/>
          </a:xfrm>
          <a:prstGeom prst="roundRect">
            <a:avLst>
              <a:gd name="adj" fmla="val 16000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234" name="Text 215"/>
          <p:cNvSpPr/>
          <p:nvPr/>
        </p:nvSpPr>
        <p:spPr>
          <a:xfrm>
            <a:off x="4419600" y="12344400"/>
            <a:ext cx="893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MERGE</a:t>
            </a:r>
            <a:endParaRPr lang="en-US" sz="750" dirty="0"/>
          </a:p>
        </p:txBody>
      </p:sp>
      <p:sp>
        <p:nvSpPr>
          <p:cNvPr id="235" name="Text 216"/>
          <p:cNvSpPr/>
          <p:nvPr/>
        </p:nvSpPr>
        <p:spPr>
          <a:xfrm>
            <a:off x="5686425" y="123336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36" name="Text 217"/>
          <p:cNvSpPr/>
          <p:nvPr/>
        </p:nvSpPr>
        <p:spPr>
          <a:xfrm>
            <a:off x="7038975" y="123301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namespace auth-svc → auth-service (311 vectors)</a:t>
            </a:r>
            <a:endParaRPr lang="en-US" sz="900" dirty="0"/>
          </a:p>
        </p:txBody>
      </p:sp>
      <p:sp>
        <p:nvSpPr>
          <p:cNvPr id="237" name="Shape 218"/>
          <p:cNvSpPr/>
          <p:nvPr/>
        </p:nvSpPr>
        <p:spPr>
          <a:xfrm>
            <a:off x="2638425" y="130683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8" name="Text 219"/>
          <p:cNvSpPr/>
          <p:nvPr/>
        </p:nvSpPr>
        <p:spPr>
          <a:xfrm>
            <a:off x="2790825" y="127754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02:30:11·04 Jun</a:t>
            </a:r>
            <a:endParaRPr lang="en-US" sz="825" dirty="0"/>
          </a:p>
        </p:txBody>
      </p:sp>
      <p:sp>
        <p:nvSpPr>
          <p:cNvPr id="239" name="Shape 220"/>
          <p:cNvSpPr/>
          <p:nvPr/>
        </p:nvSpPr>
        <p:spPr>
          <a:xfrm>
            <a:off x="4333875" y="127349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240" name="Text 221"/>
          <p:cNvSpPr/>
          <p:nvPr/>
        </p:nvSpPr>
        <p:spPr>
          <a:xfrm>
            <a:off x="4419600" y="127825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241" name="Text 222"/>
          <p:cNvSpPr/>
          <p:nvPr/>
        </p:nvSpPr>
        <p:spPr>
          <a:xfrm>
            <a:off x="5686425" y="127717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42" name="Text 223"/>
          <p:cNvSpPr/>
          <p:nvPr/>
        </p:nvSpPr>
        <p:spPr>
          <a:xfrm>
            <a:off x="7038975" y="127682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k.mensah: viewer → member</a:t>
            </a:r>
            <a:endParaRPr lang="en-US" sz="900" dirty="0"/>
          </a:p>
        </p:txBody>
      </p:sp>
      <p:sp>
        <p:nvSpPr>
          <p:cNvPr id="243" name="Shape 224"/>
          <p:cNvSpPr/>
          <p:nvPr/>
        </p:nvSpPr>
        <p:spPr>
          <a:xfrm>
            <a:off x="2638425" y="135064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4" name="Text 225"/>
          <p:cNvSpPr/>
          <p:nvPr/>
        </p:nvSpPr>
        <p:spPr>
          <a:xfrm>
            <a:off x="2790825" y="132135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01:02:11·04 Jun</a:t>
            </a:r>
            <a:endParaRPr lang="en-US" sz="825" dirty="0"/>
          </a:p>
        </p:txBody>
      </p:sp>
      <p:sp>
        <p:nvSpPr>
          <p:cNvPr id="245" name="Shape 226"/>
          <p:cNvSpPr/>
          <p:nvPr/>
        </p:nvSpPr>
        <p:spPr>
          <a:xfrm>
            <a:off x="4333875" y="131730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246" name="Text 227"/>
          <p:cNvSpPr/>
          <p:nvPr/>
        </p:nvSpPr>
        <p:spPr>
          <a:xfrm>
            <a:off x="4419600" y="132207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247" name="Text 228"/>
          <p:cNvSpPr/>
          <p:nvPr/>
        </p:nvSpPr>
        <p:spPr>
          <a:xfrm>
            <a:off x="5686425" y="132099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863" dirty="0"/>
          </a:p>
        </p:txBody>
      </p:sp>
      <p:sp>
        <p:nvSpPr>
          <p:cNvPr id="248" name="Text 229"/>
          <p:cNvSpPr/>
          <p:nvPr/>
        </p:nvSpPr>
        <p:spPr>
          <a:xfrm>
            <a:off x="7038975" y="132064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rejected — daemon in backoff after 3 consecutive failures</a:t>
            </a:r>
            <a:endParaRPr lang="en-US" sz="900" dirty="0"/>
          </a:p>
        </p:txBody>
      </p:sp>
      <p:sp>
        <p:nvSpPr>
          <p:cNvPr id="249" name="Shape 230"/>
          <p:cNvSpPr/>
          <p:nvPr/>
        </p:nvSpPr>
        <p:spPr>
          <a:xfrm>
            <a:off x="2638425" y="139446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0" name="Text 231"/>
          <p:cNvSpPr/>
          <p:nvPr/>
        </p:nvSpPr>
        <p:spPr>
          <a:xfrm>
            <a:off x="2790825" y="136517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23:05:11·03 Jun</a:t>
            </a:r>
            <a:endParaRPr lang="en-US" sz="825" dirty="0"/>
          </a:p>
        </p:txBody>
      </p:sp>
      <p:sp>
        <p:nvSpPr>
          <p:cNvPr id="251" name="Shape 232"/>
          <p:cNvSpPr/>
          <p:nvPr/>
        </p:nvSpPr>
        <p:spPr>
          <a:xfrm>
            <a:off x="4333875" y="13611225"/>
            <a:ext cx="988695" cy="238125"/>
          </a:xfrm>
          <a:prstGeom prst="roundRect">
            <a:avLst>
              <a:gd name="adj" fmla="val 16000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252" name="Text 233"/>
          <p:cNvSpPr/>
          <p:nvPr/>
        </p:nvSpPr>
        <p:spPr>
          <a:xfrm>
            <a:off x="4419600" y="13658850"/>
            <a:ext cx="893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MERGE</a:t>
            </a:r>
            <a:endParaRPr lang="en-US" sz="750" dirty="0"/>
          </a:p>
        </p:txBody>
      </p:sp>
      <p:sp>
        <p:nvSpPr>
          <p:cNvPr id="253" name="Text 234"/>
          <p:cNvSpPr/>
          <p:nvPr/>
        </p:nvSpPr>
        <p:spPr>
          <a:xfrm>
            <a:off x="5686425" y="136480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54" name="Text 235"/>
          <p:cNvSpPr/>
          <p:nvPr/>
        </p:nvSpPr>
        <p:spPr>
          <a:xfrm>
            <a:off x="7038975" y="136445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namespace auth-svc → auth-service (311 vectors)</a:t>
            </a:r>
            <a:endParaRPr lang="en-US" sz="900" dirty="0"/>
          </a:p>
        </p:txBody>
      </p:sp>
      <p:sp>
        <p:nvSpPr>
          <p:cNvPr id="255" name="Shape 236"/>
          <p:cNvSpPr/>
          <p:nvPr/>
        </p:nvSpPr>
        <p:spPr>
          <a:xfrm>
            <a:off x="2638425" y="143827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6" name="Text 237"/>
          <p:cNvSpPr/>
          <p:nvPr/>
        </p:nvSpPr>
        <p:spPr>
          <a:xfrm>
            <a:off x="2790825" y="140898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18:33:11·03 Jun</a:t>
            </a:r>
            <a:endParaRPr lang="en-US" sz="825" dirty="0"/>
          </a:p>
        </p:txBody>
      </p:sp>
      <p:sp>
        <p:nvSpPr>
          <p:cNvPr id="257" name="Shape 238"/>
          <p:cNvSpPr/>
          <p:nvPr/>
        </p:nvSpPr>
        <p:spPr>
          <a:xfrm>
            <a:off x="4333875" y="14049375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58" name="Text 239"/>
          <p:cNvSpPr/>
          <p:nvPr/>
        </p:nvSpPr>
        <p:spPr>
          <a:xfrm>
            <a:off x="4419600" y="14097000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259" name="Text 240"/>
          <p:cNvSpPr/>
          <p:nvPr/>
        </p:nvSpPr>
        <p:spPr>
          <a:xfrm>
            <a:off x="5686425" y="140862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60" name="Text 241"/>
          <p:cNvSpPr/>
          <p:nvPr/>
        </p:nvSpPr>
        <p:spPr>
          <a:xfrm>
            <a:off x="7038975" y="140827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reactivated user l.fontaine (viewer)</a:t>
            </a:r>
            <a:endParaRPr lang="en-US" sz="900" dirty="0"/>
          </a:p>
        </p:txBody>
      </p:sp>
      <p:sp>
        <p:nvSpPr>
          <p:cNvPr id="261" name="Shape 242"/>
          <p:cNvSpPr/>
          <p:nvPr/>
        </p:nvSpPr>
        <p:spPr>
          <a:xfrm>
            <a:off x="2638425" y="148209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2" name="Text 243"/>
          <p:cNvSpPr/>
          <p:nvPr/>
        </p:nvSpPr>
        <p:spPr>
          <a:xfrm>
            <a:off x="2790825" y="145280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14:42:11·03 Jun</a:t>
            </a:r>
            <a:endParaRPr lang="en-US" sz="825" dirty="0"/>
          </a:p>
        </p:txBody>
      </p:sp>
      <p:sp>
        <p:nvSpPr>
          <p:cNvPr id="263" name="Shape 244"/>
          <p:cNvSpPr/>
          <p:nvPr/>
        </p:nvSpPr>
        <p:spPr>
          <a:xfrm>
            <a:off x="4333875" y="144875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264" name="Text 245"/>
          <p:cNvSpPr/>
          <p:nvPr/>
        </p:nvSpPr>
        <p:spPr>
          <a:xfrm>
            <a:off x="4419600" y="145351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265" name="Text 246"/>
          <p:cNvSpPr/>
          <p:nvPr/>
        </p:nvSpPr>
        <p:spPr>
          <a:xfrm>
            <a:off x="5686425" y="145243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266" name="Text 247"/>
          <p:cNvSpPr/>
          <p:nvPr/>
        </p:nvSpPr>
        <p:spPr>
          <a:xfrm>
            <a:off x="7038975" y="145208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role change — admin limit (3/3) reached</a:t>
            </a:r>
            <a:endParaRPr lang="en-US" sz="900" dirty="0"/>
          </a:p>
        </p:txBody>
      </p:sp>
      <p:sp>
        <p:nvSpPr>
          <p:cNvPr id="267" name="Shape 248"/>
          <p:cNvSpPr/>
          <p:nvPr/>
        </p:nvSpPr>
        <p:spPr>
          <a:xfrm>
            <a:off x="2638425" y="152590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8" name="Text 249"/>
          <p:cNvSpPr/>
          <p:nvPr/>
        </p:nvSpPr>
        <p:spPr>
          <a:xfrm>
            <a:off x="2790825" y="149661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13:11:11·03 Jun</a:t>
            </a:r>
            <a:endParaRPr lang="en-US" sz="825" dirty="0"/>
          </a:p>
        </p:txBody>
      </p:sp>
      <p:sp>
        <p:nvSpPr>
          <p:cNvPr id="269" name="Shape 250"/>
          <p:cNvSpPr/>
          <p:nvPr/>
        </p:nvSpPr>
        <p:spPr>
          <a:xfrm>
            <a:off x="4333875" y="149256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270" name="Text 251"/>
          <p:cNvSpPr/>
          <p:nvPr/>
        </p:nvSpPr>
        <p:spPr>
          <a:xfrm>
            <a:off x="4419600" y="149733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271" name="Text 252"/>
          <p:cNvSpPr/>
          <p:nvPr/>
        </p:nvSpPr>
        <p:spPr>
          <a:xfrm>
            <a:off x="5686425" y="149625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863" dirty="0"/>
          </a:p>
        </p:txBody>
      </p:sp>
      <p:sp>
        <p:nvSpPr>
          <p:cNvPr id="272" name="Text 253"/>
          <p:cNvSpPr/>
          <p:nvPr/>
        </p:nvSpPr>
        <p:spPr>
          <a:xfrm>
            <a:off x="7038975" y="149590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rejected — daemon in backoff after 3 consecutive failures</a:t>
            </a:r>
            <a:endParaRPr lang="en-US" sz="900" dirty="0"/>
          </a:p>
        </p:txBody>
      </p:sp>
      <p:sp>
        <p:nvSpPr>
          <p:cNvPr id="273" name="Shape 254"/>
          <p:cNvSpPr/>
          <p:nvPr/>
        </p:nvSpPr>
        <p:spPr>
          <a:xfrm>
            <a:off x="2638425" y="156972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74" name="Text 255"/>
          <p:cNvSpPr/>
          <p:nvPr/>
        </p:nvSpPr>
        <p:spPr>
          <a:xfrm>
            <a:off x="2790825" y="154043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12:38:11·03 Jun</a:t>
            </a:r>
            <a:endParaRPr lang="en-US" sz="825" dirty="0"/>
          </a:p>
        </p:txBody>
      </p:sp>
      <p:sp>
        <p:nvSpPr>
          <p:cNvPr id="275" name="Shape 256"/>
          <p:cNvSpPr/>
          <p:nvPr/>
        </p:nvSpPr>
        <p:spPr>
          <a:xfrm>
            <a:off x="4333875" y="15363825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276" name="Text 257"/>
          <p:cNvSpPr/>
          <p:nvPr/>
        </p:nvSpPr>
        <p:spPr>
          <a:xfrm>
            <a:off x="4419600" y="15411450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277" name="Text 258"/>
          <p:cNvSpPr/>
          <p:nvPr/>
        </p:nvSpPr>
        <p:spPr>
          <a:xfrm>
            <a:off x="5686425" y="154006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78" name="Text 259"/>
          <p:cNvSpPr/>
          <p:nvPr/>
        </p:nvSpPr>
        <p:spPr>
          <a:xfrm>
            <a:off x="7038975" y="153971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reactivated user l.fontaine (viewer)</a:t>
            </a:r>
            <a:endParaRPr lang="en-US" sz="900" dirty="0"/>
          </a:p>
        </p:txBody>
      </p:sp>
      <p:sp>
        <p:nvSpPr>
          <p:cNvPr id="279" name="Shape 260"/>
          <p:cNvSpPr/>
          <p:nvPr/>
        </p:nvSpPr>
        <p:spPr>
          <a:xfrm>
            <a:off x="2638425" y="161353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0" name="Text 261"/>
          <p:cNvSpPr/>
          <p:nvPr/>
        </p:nvSpPr>
        <p:spPr>
          <a:xfrm>
            <a:off x="2790825" y="158424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10:23:11·03 Jun</a:t>
            </a:r>
            <a:endParaRPr lang="en-US" sz="825" dirty="0"/>
          </a:p>
        </p:txBody>
      </p:sp>
      <p:sp>
        <p:nvSpPr>
          <p:cNvPr id="281" name="Shape 262"/>
          <p:cNvSpPr/>
          <p:nvPr/>
        </p:nvSpPr>
        <p:spPr>
          <a:xfrm>
            <a:off x="4333875" y="158019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282" name="Text 263"/>
          <p:cNvSpPr/>
          <p:nvPr/>
        </p:nvSpPr>
        <p:spPr>
          <a:xfrm>
            <a:off x="4419600" y="158496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283" name="Text 264"/>
          <p:cNvSpPr/>
          <p:nvPr/>
        </p:nvSpPr>
        <p:spPr>
          <a:xfrm>
            <a:off x="5686425" y="158388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284" name="Text 265"/>
          <p:cNvSpPr/>
          <p:nvPr/>
        </p:nvSpPr>
        <p:spPr>
          <a:xfrm>
            <a:off x="7038975" y="15835312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r.delacroix: member → admin</a:t>
            </a:r>
            <a:endParaRPr lang="en-US" sz="900" dirty="0"/>
          </a:p>
        </p:txBody>
      </p:sp>
      <p:sp>
        <p:nvSpPr>
          <p:cNvPr id="285" name="Shape 266"/>
          <p:cNvSpPr/>
          <p:nvPr/>
        </p:nvSpPr>
        <p:spPr>
          <a:xfrm>
            <a:off x="2638425" y="165735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86" name="Text 267"/>
          <p:cNvSpPr/>
          <p:nvPr/>
        </p:nvSpPr>
        <p:spPr>
          <a:xfrm>
            <a:off x="2790825" y="162806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08:50:11·03 Jun</a:t>
            </a:r>
            <a:endParaRPr lang="en-US" sz="825" dirty="0"/>
          </a:p>
        </p:txBody>
      </p:sp>
      <p:sp>
        <p:nvSpPr>
          <p:cNvPr id="287" name="Shape 268"/>
          <p:cNvSpPr/>
          <p:nvPr/>
        </p:nvSpPr>
        <p:spPr>
          <a:xfrm>
            <a:off x="4333875" y="162401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288" name="Text 269"/>
          <p:cNvSpPr/>
          <p:nvPr/>
        </p:nvSpPr>
        <p:spPr>
          <a:xfrm>
            <a:off x="4419600" y="162877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289" name="Text 270"/>
          <p:cNvSpPr/>
          <p:nvPr/>
        </p:nvSpPr>
        <p:spPr>
          <a:xfrm>
            <a:off x="5686425" y="162769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290" name="Text 271"/>
          <p:cNvSpPr/>
          <p:nvPr/>
        </p:nvSpPr>
        <p:spPr>
          <a:xfrm>
            <a:off x="7038975" y="162734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batch rejected — schema version mismatch (v3 vs v4)</a:t>
            </a:r>
            <a:endParaRPr lang="en-US" sz="900" dirty="0"/>
          </a:p>
        </p:txBody>
      </p:sp>
      <p:sp>
        <p:nvSpPr>
          <p:cNvPr id="291" name="Shape 272"/>
          <p:cNvSpPr/>
          <p:nvPr/>
        </p:nvSpPr>
        <p:spPr>
          <a:xfrm>
            <a:off x="2638425" y="170116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92" name="Text 273"/>
          <p:cNvSpPr/>
          <p:nvPr/>
        </p:nvSpPr>
        <p:spPr>
          <a:xfrm>
            <a:off x="2790825" y="167187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02:10:11·03 Jun</a:t>
            </a:r>
            <a:endParaRPr lang="en-US" sz="825" dirty="0"/>
          </a:p>
        </p:txBody>
      </p:sp>
      <p:sp>
        <p:nvSpPr>
          <p:cNvPr id="293" name="Shape 274"/>
          <p:cNvSpPr/>
          <p:nvPr/>
        </p:nvSpPr>
        <p:spPr>
          <a:xfrm>
            <a:off x="4333875" y="166782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294" name="Text 275"/>
          <p:cNvSpPr/>
          <p:nvPr/>
        </p:nvSpPr>
        <p:spPr>
          <a:xfrm>
            <a:off x="4419600" y="167259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295" name="Text 276"/>
          <p:cNvSpPr/>
          <p:nvPr/>
        </p:nvSpPr>
        <p:spPr>
          <a:xfrm>
            <a:off x="5686425" y="167151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296" name="Text 277"/>
          <p:cNvSpPr/>
          <p:nvPr/>
        </p:nvSpPr>
        <p:spPr>
          <a:xfrm>
            <a:off x="7038975" y="167116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batch rejected — schema version mismatch (v3 vs v4)</a:t>
            </a:r>
            <a:endParaRPr lang="en-US" sz="900" dirty="0"/>
          </a:p>
        </p:txBody>
      </p:sp>
      <p:sp>
        <p:nvSpPr>
          <p:cNvPr id="297" name="Shape 278"/>
          <p:cNvSpPr/>
          <p:nvPr/>
        </p:nvSpPr>
        <p:spPr>
          <a:xfrm>
            <a:off x="2638425" y="174498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98" name="Text 279"/>
          <p:cNvSpPr/>
          <p:nvPr/>
        </p:nvSpPr>
        <p:spPr>
          <a:xfrm>
            <a:off x="2790825" y="171569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01:38:11·03 Jun</a:t>
            </a:r>
            <a:endParaRPr lang="en-US" sz="825" dirty="0"/>
          </a:p>
        </p:txBody>
      </p:sp>
      <p:sp>
        <p:nvSpPr>
          <p:cNvPr id="299" name="Shape 280"/>
          <p:cNvSpPr/>
          <p:nvPr/>
        </p:nvSpPr>
        <p:spPr>
          <a:xfrm>
            <a:off x="4333875" y="17116425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00" name="Text 281"/>
          <p:cNvSpPr/>
          <p:nvPr/>
        </p:nvSpPr>
        <p:spPr>
          <a:xfrm>
            <a:off x="4419600" y="17164050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301" name="Text 282"/>
          <p:cNvSpPr/>
          <p:nvPr/>
        </p:nvSpPr>
        <p:spPr>
          <a:xfrm>
            <a:off x="5686425" y="171532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302" name="Text 283"/>
          <p:cNvSpPr/>
          <p:nvPr/>
        </p:nvSpPr>
        <p:spPr>
          <a:xfrm>
            <a:off x="7038975" y="171497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deactivated user s.abramov (inactive 30d, sync unknown)</a:t>
            </a:r>
            <a:endParaRPr lang="en-US" sz="900" dirty="0"/>
          </a:p>
        </p:txBody>
      </p:sp>
      <p:sp>
        <p:nvSpPr>
          <p:cNvPr id="303" name="Shape 284"/>
          <p:cNvSpPr/>
          <p:nvPr/>
        </p:nvSpPr>
        <p:spPr>
          <a:xfrm>
            <a:off x="2638425" y="178879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04" name="Text 285"/>
          <p:cNvSpPr/>
          <p:nvPr/>
        </p:nvSpPr>
        <p:spPr>
          <a:xfrm>
            <a:off x="2790825" y="175950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20:18:11·02 Jun</a:t>
            </a:r>
            <a:endParaRPr lang="en-US" sz="825" dirty="0"/>
          </a:p>
        </p:txBody>
      </p:sp>
      <p:sp>
        <p:nvSpPr>
          <p:cNvPr id="305" name="Shape 286"/>
          <p:cNvSpPr/>
          <p:nvPr/>
        </p:nvSpPr>
        <p:spPr>
          <a:xfrm>
            <a:off x="4333875" y="17554575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06" name="Text 287"/>
          <p:cNvSpPr/>
          <p:nvPr/>
        </p:nvSpPr>
        <p:spPr>
          <a:xfrm>
            <a:off x="4419600" y="17602200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307" name="Text 288"/>
          <p:cNvSpPr/>
          <p:nvPr/>
        </p:nvSpPr>
        <p:spPr>
          <a:xfrm>
            <a:off x="5686425" y="175914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308" name="Text 289"/>
          <p:cNvSpPr/>
          <p:nvPr/>
        </p:nvSpPr>
        <p:spPr>
          <a:xfrm>
            <a:off x="7038975" y="175879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deactivated user s.abramov (inactive 30d, sync unknown)</a:t>
            </a:r>
            <a:endParaRPr lang="en-US" sz="900" dirty="0"/>
          </a:p>
        </p:txBody>
      </p:sp>
      <p:sp>
        <p:nvSpPr>
          <p:cNvPr id="309" name="Shape 290"/>
          <p:cNvSpPr/>
          <p:nvPr/>
        </p:nvSpPr>
        <p:spPr>
          <a:xfrm>
            <a:off x="2638425" y="183261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10" name="Text 291"/>
          <p:cNvSpPr/>
          <p:nvPr/>
        </p:nvSpPr>
        <p:spPr>
          <a:xfrm>
            <a:off x="2790825" y="180332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19:26:11·02 Jun</a:t>
            </a:r>
            <a:endParaRPr lang="en-US" sz="825" dirty="0"/>
          </a:p>
        </p:txBody>
      </p:sp>
      <p:sp>
        <p:nvSpPr>
          <p:cNvPr id="311" name="Shape 292"/>
          <p:cNvSpPr/>
          <p:nvPr/>
        </p:nvSpPr>
        <p:spPr>
          <a:xfrm>
            <a:off x="4333875" y="17992725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312" name="Text 293"/>
          <p:cNvSpPr/>
          <p:nvPr/>
        </p:nvSpPr>
        <p:spPr>
          <a:xfrm>
            <a:off x="4419600" y="18040350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313" name="Text 294"/>
          <p:cNvSpPr/>
          <p:nvPr/>
        </p:nvSpPr>
        <p:spPr>
          <a:xfrm>
            <a:off x="5686425" y="180295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63" dirty="0"/>
          </a:p>
        </p:txBody>
      </p:sp>
      <p:sp>
        <p:nvSpPr>
          <p:cNvPr id="314" name="Text 295"/>
          <p:cNvSpPr/>
          <p:nvPr/>
        </p:nvSpPr>
        <p:spPr>
          <a:xfrm>
            <a:off x="7038975" y="180260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sync.crdt — losing version preserved</a:t>
            </a:r>
            <a:endParaRPr lang="en-US" sz="900" dirty="0"/>
          </a:p>
        </p:txBody>
      </p:sp>
      <p:sp>
        <p:nvSpPr>
          <p:cNvPr id="315" name="Shape 296"/>
          <p:cNvSpPr/>
          <p:nvPr/>
        </p:nvSpPr>
        <p:spPr>
          <a:xfrm>
            <a:off x="2638425" y="187642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16" name="Text 297"/>
          <p:cNvSpPr/>
          <p:nvPr/>
        </p:nvSpPr>
        <p:spPr>
          <a:xfrm>
            <a:off x="2790825" y="1847135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15:58:11·02 Jun</a:t>
            </a:r>
            <a:endParaRPr lang="en-US" sz="825" dirty="0"/>
          </a:p>
        </p:txBody>
      </p:sp>
      <p:sp>
        <p:nvSpPr>
          <p:cNvPr id="317" name="Shape 298"/>
          <p:cNvSpPr/>
          <p:nvPr/>
        </p:nvSpPr>
        <p:spPr>
          <a:xfrm>
            <a:off x="4333875" y="1843087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318" name="Text 299"/>
          <p:cNvSpPr/>
          <p:nvPr/>
        </p:nvSpPr>
        <p:spPr>
          <a:xfrm>
            <a:off x="4419600" y="1847850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319" name="Text 300"/>
          <p:cNvSpPr/>
          <p:nvPr/>
        </p:nvSpPr>
        <p:spPr>
          <a:xfrm>
            <a:off x="5686425" y="1846770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320" name="Text 301"/>
          <p:cNvSpPr/>
          <p:nvPr/>
        </p:nvSpPr>
        <p:spPr>
          <a:xfrm>
            <a:off x="7038975" y="1846421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role change — admin limit (3/3) reached</a:t>
            </a:r>
            <a:endParaRPr lang="en-US" sz="900" dirty="0"/>
          </a:p>
        </p:txBody>
      </p:sp>
      <p:sp>
        <p:nvSpPr>
          <p:cNvPr id="321" name="Shape 302"/>
          <p:cNvSpPr/>
          <p:nvPr/>
        </p:nvSpPr>
        <p:spPr>
          <a:xfrm>
            <a:off x="2638425" y="192024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22" name="Text 303"/>
          <p:cNvSpPr/>
          <p:nvPr/>
        </p:nvSpPr>
        <p:spPr>
          <a:xfrm>
            <a:off x="2790825" y="18909506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14:52:11·02 Jun</a:t>
            </a:r>
            <a:endParaRPr lang="en-US" sz="825" dirty="0"/>
          </a:p>
        </p:txBody>
      </p:sp>
      <p:sp>
        <p:nvSpPr>
          <p:cNvPr id="323" name="Shape 304"/>
          <p:cNvSpPr/>
          <p:nvPr/>
        </p:nvSpPr>
        <p:spPr>
          <a:xfrm>
            <a:off x="4333875" y="18869025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324" name="Text 305"/>
          <p:cNvSpPr/>
          <p:nvPr/>
        </p:nvSpPr>
        <p:spPr>
          <a:xfrm>
            <a:off x="4419600" y="18916650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325" name="Text 306"/>
          <p:cNvSpPr/>
          <p:nvPr/>
        </p:nvSpPr>
        <p:spPr>
          <a:xfrm>
            <a:off x="5686425" y="18905855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863" dirty="0"/>
          </a:p>
        </p:txBody>
      </p:sp>
      <p:sp>
        <p:nvSpPr>
          <p:cNvPr id="326" name="Text 307"/>
          <p:cNvSpPr/>
          <p:nvPr/>
        </p:nvSpPr>
        <p:spPr>
          <a:xfrm>
            <a:off x="7038975" y="18902363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rejected — daemon in backoff after 3 consecutive failures</a:t>
            </a:r>
            <a:endParaRPr lang="en-US" sz="900" dirty="0"/>
          </a:p>
        </p:txBody>
      </p:sp>
      <p:sp>
        <p:nvSpPr>
          <p:cNvPr id="327" name="Shape 308"/>
          <p:cNvSpPr/>
          <p:nvPr/>
        </p:nvSpPr>
        <p:spPr>
          <a:xfrm>
            <a:off x="2638425" y="196405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28" name="Text 309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14:32:11·02 Jun</a:t>
            </a:r>
            <a:endParaRPr lang="en-US" sz="825" dirty="0"/>
          </a:p>
        </p:txBody>
      </p:sp>
      <p:sp>
        <p:nvSpPr>
          <p:cNvPr id="329" name="Shape 310"/>
          <p:cNvSpPr/>
          <p:nvPr/>
        </p:nvSpPr>
        <p:spPr>
          <a:xfrm>
            <a:off x="4333875" y="19050000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330" name="Text 311"/>
          <p:cNvSpPr/>
          <p:nvPr/>
        </p:nvSpPr>
        <p:spPr>
          <a:xfrm>
            <a:off x="4419600" y="19097625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331" name="Text 312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63" dirty="0"/>
          </a:p>
        </p:txBody>
      </p:sp>
      <p:sp>
        <p:nvSpPr>
          <p:cNvPr id="332" name="Text 313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sync.crdt — losing version preserved</a:t>
            </a:r>
            <a:endParaRPr lang="en-US" sz="900" dirty="0"/>
          </a:p>
        </p:txBody>
      </p:sp>
      <p:sp>
        <p:nvSpPr>
          <p:cNvPr id="333" name="Shape 314"/>
          <p:cNvSpPr/>
          <p:nvPr/>
        </p:nvSpPr>
        <p:spPr>
          <a:xfrm>
            <a:off x="2638425" y="200787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34" name="Text 315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10:59:11·02 Jun</a:t>
            </a:r>
            <a:endParaRPr lang="en-US" sz="825" dirty="0"/>
          </a:p>
        </p:txBody>
      </p:sp>
      <p:sp>
        <p:nvSpPr>
          <p:cNvPr id="335" name="Shape 316"/>
          <p:cNvSpPr/>
          <p:nvPr/>
        </p:nvSpPr>
        <p:spPr>
          <a:xfrm>
            <a:off x="4333875" y="19050000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336" name="Text 317"/>
          <p:cNvSpPr/>
          <p:nvPr/>
        </p:nvSpPr>
        <p:spPr>
          <a:xfrm>
            <a:off x="4419600" y="19097625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337" name="Text 318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338" name="Text 319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config.hnsw-ef — awaiting admin review</a:t>
            </a:r>
            <a:endParaRPr lang="en-US" sz="900" dirty="0"/>
          </a:p>
        </p:txBody>
      </p:sp>
      <p:sp>
        <p:nvSpPr>
          <p:cNvPr id="339" name="Shape 320"/>
          <p:cNvSpPr/>
          <p:nvPr/>
        </p:nvSpPr>
        <p:spPr>
          <a:xfrm>
            <a:off x="2638425" y="205168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40" name="Text 321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05:38:11·02 Jun</a:t>
            </a:r>
            <a:endParaRPr lang="en-US" sz="825" dirty="0"/>
          </a:p>
        </p:txBody>
      </p:sp>
      <p:sp>
        <p:nvSpPr>
          <p:cNvPr id="341" name="Shape 322"/>
          <p:cNvSpPr/>
          <p:nvPr/>
        </p:nvSpPr>
        <p:spPr>
          <a:xfrm>
            <a:off x="4333875" y="19050000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342" name="Text 323"/>
          <p:cNvSpPr/>
          <p:nvPr/>
        </p:nvSpPr>
        <p:spPr>
          <a:xfrm>
            <a:off x="4419600" y="19097625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343" name="Text 324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344" name="Text 325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r.delacroix: member → admin</a:t>
            </a:r>
            <a:endParaRPr lang="en-US" sz="900" dirty="0"/>
          </a:p>
        </p:txBody>
      </p:sp>
      <p:sp>
        <p:nvSpPr>
          <p:cNvPr id="345" name="Shape 326"/>
          <p:cNvSpPr/>
          <p:nvPr/>
        </p:nvSpPr>
        <p:spPr>
          <a:xfrm>
            <a:off x="2638425" y="209550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46" name="Text 327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04:20:11·02 Jun</a:t>
            </a:r>
            <a:endParaRPr lang="en-US" sz="825" dirty="0"/>
          </a:p>
        </p:txBody>
      </p:sp>
      <p:sp>
        <p:nvSpPr>
          <p:cNvPr id="347" name="Shape 328"/>
          <p:cNvSpPr/>
          <p:nvPr/>
        </p:nvSpPr>
        <p:spPr>
          <a:xfrm>
            <a:off x="4333875" y="19050000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348" name="Text 329"/>
          <p:cNvSpPr/>
          <p:nvPr/>
        </p:nvSpPr>
        <p:spPr>
          <a:xfrm>
            <a:off x="4419600" y="19097625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349" name="Text 330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mobile-sdk</a:t>
            </a:r>
            <a:endParaRPr lang="en-US" sz="863" dirty="0"/>
          </a:p>
        </p:txBody>
      </p:sp>
      <p:sp>
        <p:nvSpPr>
          <p:cNvPr id="350" name="Text 331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rejected — daemon in backoff after 3 consecutive failures</a:t>
            </a:r>
            <a:endParaRPr lang="en-US" sz="900" dirty="0"/>
          </a:p>
        </p:txBody>
      </p:sp>
      <p:sp>
        <p:nvSpPr>
          <p:cNvPr id="351" name="Shape 332"/>
          <p:cNvSpPr/>
          <p:nvPr/>
        </p:nvSpPr>
        <p:spPr>
          <a:xfrm>
            <a:off x="2638425" y="213931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52" name="Text 333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01:32:11·02 Jun</a:t>
            </a:r>
            <a:endParaRPr lang="en-US" sz="825" dirty="0"/>
          </a:p>
        </p:txBody>
      </p:sp>
      <p:sp>
        <p:nvSpPr>
          <p:cNvPr id="353" name="Shape 334"/>
          <p:cNvSpPr/>
          <p:nvPr/>
        </p:nvSpPr>
        <p:spPr>
          <a:xfrm>
            <a:off x="4333875" y="19050000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54" name="Text 335"/>
          <p:cNvSpPr/>
          <p:nvPr/>
        </p:nvSpPr>
        <p:spPr>
          <a:xfrm>
            <a:off x="4419600" y="1909762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355" name="Text 336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356" name="Text 337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deactivated user s.abramov (inactive 30d, sync unknown)</a:t>
            </a:r>
            <a:endParaRPr lang="en-US" sz="900" dirty="0"/>
          </a:p>
        </p:txBody>
      </p:sp>
      <p:sp>
        <p:nvSpPr>
          <p:cNvPr id="357" name="Shape 338"/>
          <p:cNvSpPr/>
          <p:nvPr/>
        </p:nvSpPr>
        <p:spPr>
          <a:xfrm>
            <a:off x="2638425" y="218313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58" name="Text 339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01:25:11·02 Jun</a:t>
            </a:r>
            <a:endParaRPr lang="en-US" sz="825" dirty="0"/>
          </a:p>
        </p:txBody>
      </p:sp>
      <p:sp>
        <p:nvSpPr>
          <p:cNvPr id="359" name="Shape 340"/>
          <p:cNvSpPr/>
          <p:nvPr/>
        </p:nvSpPr>
        <p:spPr>
          <a:xfrm>
            <a:off x="4333875" y="19050000"/>
            <a:ext cx="988695" cy="238125"/>
          </a:xfrm>
          <a:prstGeom prst="roundRect">
            <a:avLst>
              <a:gd name="adj" fmla="val 16000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360" name="Text 341"/>
          <p:cNvSpPr/>
          <p:nvPr/>
        </p:nvSpPr>
        <p:spPr>
          <a:xfrm>
            <a:off x="4419600" y="19097625"/>
            <a:ext cx="893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MERGE</a:t>
            </a:r>
            <a:endParaRPr lang="en-US" sz="750" dirty="0"/>
          </a:p>
        </p:txBody>
      </p:sp>
      <p:sp>
        <p:nvSpPr>
          <p:cNvPr id="361" name="Text 342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362" name="Text 343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namespace auth-svc → auth-service (311 vectors)</a:t>
            </a:r>
            <a:endParaRPr lang="en-US" sz="900" dirty="0"/>
          </a:p>
        </p:txBody>
      </p:sp>
      <p:sp>
        <p:nvSpPr>
          <p:cNvPr id="363" name="Shape 344"/>
          <p:cNvSpPr/>
          <p:nvPr/>
        </p:nvSpPr>
        <p:spPr>
          <a:xfrm>
            <a:off x="2638425" y="222694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64" name="Text 345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15:20:11·01 Jun</a:t>
            </a:r>
            <a:endParaRPr lang="en-US" sz="825" dirty="0"/>
          </a:p>
        </p:txBody>
      </p:sp>
      <p:sp>
        <p:nvSpPr>
          <p:cNvPr id="365" name="Shape 346"/>
          <p:cNvSpPr/>
          <p:nvPr/>
        </p:nvSpPr>
        <p:spPr>
          <a:xfrm>
            <a:off x="4333875" y="19050000"/>
            <a:ext cx="988695" cy="238125"/>
          </a:xfrm>
          <a:prstGeom prst="roundRect">
            <a:avLst>
              <a:gd name="adj" fmla="val 16000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366" name="Text 347"/>
          <p:cNvSpPr/>
          <p:nvPr/>
        </p:nvSpPr>
        <p:spPr>
          <a:xfrm>
            <a:off x="4419600" y="19097625"/>
            <a:ext cx="893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MERGE</a:t>
            </a:r>
            <a:endParaRPr lang="en-US" sz="750" dirty="0"/>
          </a:p>
        </p:txBody>
      </p:sp>
      <p:sp>
        <p:nvSpPr>
          <p:cNvPr id="367" name="Text 348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368" name="Text 349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namespace auth-svc → auth-service (311 vectors)</a:t>
            </a:r>
            <a:endParaRPr lang="en-US" sz="900" dirty="0"/>
          </a:p>
        </p:txBody>
      </p:sp>
      <p:sp>
        <p:nvSpPr>
          <p:cNvPr id="369" name="Shape 350"/>
          <p:cNvSpPr/>
          <p:nvPr/>
        </p:nvSpPr>
        <p:spPr>
          <a:xfrm>
            <a:off x="2638425" y="227076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70" name="Text 351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08:44:11·01 Jun</a:t>
            </a:r>
            <a:endParaRPr lang="en-US" sz="825" dirty="0"/>
          </a:p>
        </p:txBody>
      </p:sp>
      <p:sp>
        <p:nvSpPr>
          <p:cNvPr id="371" name="Shape 352"/>
          <p:cNvSpPr/>
          <p:nvPr/>
        </p:nvSpPr>
        <p:spPr>
          <a:xfrm>
            <a:off x="4333875" y="19050000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372" name="Text 353"/>
          <p:cNvSpPr/>
          <p:nvPr/>
        </p:nvSpPr>
        <p:spPr>
          <a:xfrm>
            <a:off x="4419600" y="19097625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373" name="Text 354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374" name="Text 355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config.hnsw-ef — awaiting admin review</a:t>
            </a:r>
            <a:endParaRPr lang="en-US" sz="900" dirty="0"/>
          </a:p>
        </p:txBody>
      </p:sp>
      <p:sp>
        <p:nvSpPr>
          <p:cNvPr id="375" name="Shape 356"/>
          <p:cNvSpPr/>
          <p:nvPr/>
        </p:nvSpPr>
        <p:spPr>
          <a:xfrm>
            <a:off x="2638425" y="231457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76" name="Text 357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05:04:11·01 Jun</a:t>
            </a:r>
            <a:endParaRPr lang="en-US" sz="825" dirty="0"/>
          </a:p>
        </p:txBody>
      </p:sp>
      <p:sp>
        <p:nvSpPr>
          <p:cNvPr id="377" name="Shape 358"/>
          <p:cNvSpPr/>
          <p:nvPr/>
        </p:nvSpPr>
        <p:spPr>
          <a:xfrm>
            <a:off x="4333875" y="19050000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78" name="Text 359"/>
          <p:cNvSpPr/>
          <p:nvPr/>
        </p:nvSpPr>
        <p:spPr>
          <a:xfrm>
            <a:off x="4419600" y="1909762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379" name="Text 360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380" name="Text 361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reactivated user l.fontaine (viewer)</a:t>
            </a:r>
            <a:endParaRPr lang="en-US" sz="900" dirty="0"/>
          </a:p>
        </p:txBody>
      </p:sp>
      <p:sp>
        <p:nvSpPr>
          <p:cNvPr id="381" name="Shape 362"/>
          <p:cNvSpPr/>
          <p:nvPr/>
        </p:nvSpPr>
        <p:spPr>
          <a:xfrm>
            <a:off x="2638425" y="235839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82" name="Text 363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02:46:11·01 Jun</a:t>
            </a:r>
            <a:endParaRPr lang="en-US" sz="825" dirty="0"/>
          </a:p>
        </p:txBody>
      </p:sp>
      <p:sp>
        <p:nvSpPr>
          <p:cNvPr id="383" name="Shape 364"/>
          <p:cNvSpPr/>
          <p:nvPr/>
        </p:nvSpPr>
        <p:spPr>
          <a:xfrm>
            <a:off x="4333875" y="19050000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384" name="Text 365"/>
          <p:cNvSpPr/>
          <p:nvPr/>
        </p:nvSpPr>
        <p:spPr>
          <a:xfrm>
            <a:off x="4419600" y="1909762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385" name="Text 366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386" name="Text 367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deactivated user s.abramov (inactive 30d, sync unknown)</a:t>
            </a:r>
            <a:endParaRPr lang="en-US" sz="900" dirty="0"/>
          </a:p>
        </p:txBody>
      </p:sp>
      <p:sp>
        <p:nvSpPr>
          <p:cNvPr id="387" name="Shape 368"/>
          <p:cNvSpPr/>
          <p:nvPr/>
        </p:nvSpPr>
        <p:spPr>
          <a:xfrm>
            <a:off x="2638425" y="240220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88" name="Text 369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01:20:11·01 Jun</a:t>
            </a:r>
            <a:endParaRPr lang="en-US" sz="825" dirty="0"/>
          </a:p>
        </p:txBody>
      </p:sp>
      <p:sp>
        <p:nvSpPr>
          <p:cNvPr id="389" name="Shape 370"/>
          <p:cNvSpPr/>
          <p:nvPr/>
        </p:nvSpPr>
        <p:spPr>
          <a:xfrm>
            <a:off x="4333875" y="19050000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390" name="Text 371"/>
          <p:cNvSpPr/>
          <p:nvPr/>
        </p:nvSpPr>
        <p:spPr>
          <a:xfrm>
            <a:off x="4419600" y="19097625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391" name="Text 372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392" name="Text 373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k.mensah: viewer → member</a:t>
            </a:r>
            <a:endParaRPr lang="en-US" sz="900" dirty="0"/>
          </a:p>
        </p:txBody>
      </p:sp>
      <p:sp>
        <p:nvSpPr>
          <p:cNvPr id="393" name="Shape 374"/>
          <p:cNvSpPr/>
          <p:nvPr/>
        </p:nvSpPr>
        <p:spPr>
          <a:xfrm>
            <a:off x="2638425" y="244602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394" name="Text 375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23:30:11·31 May</a:t>
            </a:r>
            <a:endParaRPr lang="en-US" sz="825" dirty="0"/>
          </a:p>
        </p:txBody>
      </p:sp>
      <p:sp>
        <p:nvSpPr>
          <p:cNvPr id="395" name="Shape 376"/>
          <p:cNvSpPr/>
          <p:nvPr/>
        </p:nvSpPr>
        <p:spPr>
          <a:xfrm>
            <a:off x="4333875" y="19050000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396" name="Text 377"/>
          <p:cNvSpPr/>
          <p:nvPr/>
        </p:nvSpPr>
        <p:spPr>
          <a:xfrm>
            <a:off x="4419600" y="19097625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397" name="Text 378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398" name="Text 379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batch rejected — schema version mismatch (v3 vs v4)</a:t>
            </a:r>
            <a:endParaRPr lang="en-US" sz="900" dirty="0"/>
          </a:p>
        </p:txBody>
      </p:sp>
      <p:sp>
        <p:nvSpPr>
          <p:cNvPr id="399" name="Shape 380"/>
          <p:cNvSpPr/>
          <p:nvPr/>
        </p:nvSpPr>
        <p:spPr>
          <a:xfrm>
            <a:off x="2638425" y="248983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00" name="Text 381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19:10:11·31 May</a:t>
            </a:r>
            <a:endParaRPr lang="en-US" sz="825" dirty="0"/>
          </a:p>
        </p:txBody>
      </p:sp>
      <p:sp>
        <p:nvSpPr>
          <p:cNvPr id="401" name="Shape 382"/>
          <p:cNvSpPr/>
          <p:nvPr/>
        </p:nvSpPr>
        <p:spPr>
          <a:xfrm>
            <a:off x="4333875" y="19050000"/>
            <a:ext cx="988695" cy="238125"/>
          </a:xfrm>
          <a:prstGeom prst="roundRect">
            <a:avLst>
              <a:gd name="adj" fmla="val 16000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402" name="Text 383"/>
          <p:cNvSpPr/>
          <p:nvPr/>
        </p:nvSpPr>
        <p:spPr>
          <a:xfrm>
            <a:off x="4419600" y="19097625"/>
            <a:ext cx="8934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MERGE</a:t>
            </a:r>
            <a:endParaRPr lang="en-US" sz="750" dirty="0"/>
          </a:p>
        </p:txBody>
      </p:sp>
      <p:sp>
        <p:nvSpPr>
          <p:cNvPr id="403" name="Text 384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404" name="Text 385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namespace auth-svc → auth-service (311 vectors)</a:t>
            </a:r>
            <a:endParaRPr lang="en-US" sz="900" dirty="0"/>
          </a:p>
        </p:txBody>
      </p:sp>
      <p:sp>
        <p:nvSpPr>
          <p:cNvPr id="405" name="Shape 386"/>
          <p:cNvSpPr/>
          <p:nvPr/>
        </p:nvSpPr>
        <p:spPr>
          <a:xfrm>
            <a:off x="2638425" y="253365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06" name="Text 387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00:18:11·31 May</a:t>
            </a:r>
            <a:endParaRPr lang="en-US" sz="825" dirty="0"/>
          </a:p>
        </p:txBody>
      </p:sp>
      <p:sp>
        <p:nvSpPr>
          <p:cNvPr id="407" name="Shape 388"/>
          <p:cNvSpPr/>
          <p:nvPr/>
        </p:nvSpPr>
        <p:spPr>
          <a:xfrm>
            <a:off x="4333875" y="19050000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408" name="Text 389"/>
          <p:cNvSpPr/>
          <p:nvPr/>
        </p:nvSpPr>
        <p:spPr>
          <a:xfrm>
            <a:off x="4419600" y="19097625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409" name="Text 390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m.lindqvist</a:t>
            </a:r>
            <a:endParaRPr lang="en-US" sz="863" dirty="0"/>
          </a:p>
        </p:txBody>
      </p:sp>
      <p:sp>
        <p:nvSpPr>
          <p:cNvPr id="410" name="Text 391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denied role change — admin limit (3/3) reached</a:t>
            </a:r>
            <a:endParaRPr lang="en-US" sz="900" dirty="0"/>
          </a:p>
        </p:txBody>
      </p:sp>
      <p:sp>
        <p:nvSpPr>
          <p:cNvPr id="411" name="Shape 392"/>
          <p:cNvSpPr/>
          <p:nvPr/>
        </p:nvSpPr>
        <p:spPr>
          <a:xfrm>
            <a:off x="2638425" y="257746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12" name="Text 393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19:14:11·30 May</a:t>
            </a:r>
            <a:endParaRPr lang="en-US" sz="825" dirty="0"/>
          </a:p>
        </p:txBody>
      </p:sp>
      <p:sp>
        <p:nvSpPr>
          <p:cNvPr id="413" name="Shape 394"/>
          <p:cNvSpPr/>
          <p:nvPr/>
        </p:nvSpPr>
        <p:spPr>
          <a:xfrm>
            <a:off x="4333875" y="19050000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14" name="Text 395"/>
          <p:cNvSpPr/>
          <p:nvPr/>
        </p:nvSpPr>
        <p:spPr>
          <a:xfrm>
            <a:off x="4419600" y="19097625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415" name="Text 396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63" dirty="0"/>
          </a:p>
        </p:txBody>
      </p:sp>
      <p:sp>
        <p:nvSpPr>
          <p:cNvPr id="416" name="Text 397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sync.crdt — losing version preserved</a:t>
            </a:r>
            <a:endParaRPr lang="en-US" sz="900" dirty="0"/>
          </a:p>
        </p:txBody>
      </p:sp>
      <p:sp>
        <p:nvSpPr>
          <p:cNvPr id="417" name="Shape 398"/>
          <p:cNvSpPr/>
          <p:nvPr/>
        </p:nvSpPr>
        <p:spPr>
          <a:xfrm>
            <a:off x="2638425" y="262128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18" name="Text 399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04:49:11·30 May</a:t>
            </a:r>
            <a:endParaRPr lang="en-US" sz="825" dirty="0"/>
          </a:p>
        </p:txBody>
      </p:sp>
      <p:sp>
        <p:nvSpPr>
          <p:cNvPr id="419" name="Shape 400"/>
          <p:cNvSpPr/>
          <p:nvPr/>
        </p:nvSpPr>
        <p:spPr>
          <a:xfrm>
            <a:off x="4333875" y="19050000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420" name="Text 401"/>
          <p:cNvSpPr/>
          <p:nvPr/>
        </p:nvSpPr>
        <p:spPr>
          <a:xfrm>
            <a:off x="4419600" y="19097625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421" name="Text 402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422" name="Text 403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r.delacroix: member → admin</a:t>
            </a:r>
            <a:endParaRPr lang="en-US" sz="900" dirty="0"/>
          </a:p>
        </p:txBody>
      </p:sp>
      <p:sp>
        <p:nvSpPr>
          <p:cNvPr id="423" name="Shape 404"/>
          <p:cNvSpPr/>
          <p:nvPr/>
        </p:nvSpPr>
        <p:spPr>
          <a:xfrm>
            <a:off x="2638425" y="266509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24" name="Text 405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22:50:11·29 May</a:t>
            </a:r>
            <a:endParaRPr lang="en-US" sz="825" dirty="0"/>
          </a:p>
        </p:txBody>
      </p:sp>
      <p:sp>
        <p:nvSpPr>
          <p:cNvPr id="425" name="Shape 406"/>
          <p:cNvSpPr/>
          <p:nvPr/>
        </p:nvSpPr>
        <p:spPr>
          <a:xfrm>
            <a:off x="4333875" y="19050000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40000"/>
              </a:srgbClr>
            </a:solidFill>
            <a:prstDash val="solid"/>
          </a:ln>
        </p:spPr>
      </p:sp>
      <p:sp>
        <p:nvSpPr>
          <p:cNvPr id="426" name="Text 407"/>
          <p:cNvSpPr/>
          <p:nvPr/>
        </p:nvSpPr>
        <p:spPr>
          <a:xfrm>
            <a:off x="4419600" y="19097625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REJECT</a:t>
            </a:r>
            <a:endParaRPr lang="en-US" sz="750" dirty="0"/>
          </a:p>
        </p:txBody>
      </p:sp>
      <p:sp>
        <p:nvSpPr>
          <p:cNvPr id="427" name="Text 408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428" name="Text 409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batch rejected — schema version mismatch (v3 vs v4)</a:t>
            </a:r>
            <a:endParaRPr lang="en-US" sz="900" dirty="0"/>
          </a:p>
        </p:txBody>
      </p:sp>
      <p:sp>
        <p:nvSpPr>
          <p:cNvPr id="429" name="Shape 410"/>
          <p:cNvSpPr/>
          <p:nvPr/>
        </p:nvSpPr>
        <p:spPr>
          <a:xfrm>
            <a:off x="2638425" y="270891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30" name="Text 411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20:48:11·29 May</a:t>
            </a:r>
            <a:endParaRPr lang="en-US" sz="825" dirty="0"/>
          </a:p>
        </p:txBody>
      </p:sp>
      <p:sp>
        <p:nvSpPr>
          <p:cNvPr id="431" name="Shape 412"/>
          <p:cNvSpPr/>
          <p:nvPr/>
        </p:nvSpPr>
        <p:spPr>
          <a:xfrm>
            <a:off x="4333875" y="19050000"/>
            <a:ext cx="862965" cy="238125"/>
          </a:xfrm>
          <a:prstGeom prst="roundRect">
            <a:avLst>
              <a:gd name="adj" fmla="val 16000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40000"/>
              </a:srgbClr>
            </a:solidFill>
            <a:prstDash val="solid"/>
          </a:ln>
        </p:spPr>
      </p:sp>
      <p:sp>
        <p:nvSpPr>
          <p:cNvPr id="432" name="Text 413"/>
          <p:cNvSpPr/>
          <p:nvPr/>
        </p:nvSpPr>
        <p:spPr>
          <a:xfrm>
            <a:off x="4419600" y="19097625"/>
            <a:ext cx="7677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CHANGE</a:t>
            </a:r>
            <a:endParaRPr lang="en-US" sz="750" dirty="0"/>
          </a:p>
        </p:txBody>
      </p:sp>
      <p:sp>
        <p:nvSpPr>
          <p:cNvPr id="433" name="Text 414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434" name="Text 415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role of r.delacroix: member → admin</a:t>
            </a:r>
            <a:endParaRPr lang="en-US" sz="900" dirty="0"/>
          </a:p>
        </p:txBody>
      </p:sp>
      <p:sp>
        <p:nvSpPr>
          <p:cNvPr id="435" name="Shape 416"/>
          <p:cNvSpPr/>
          <p:nvPr/>
        </p:nvSpPr>
        <p:spPr>
          <a:xfrm>
            <a:off x="2638425" y="2752725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36" name="Text 417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18:32:11·29 May</a:t>
            </a:r>
            <a:endParaRPr lang="en-US" sz="825" dirty="0"/>
          </a:p>
        </p:txBody>
      </p:sp>
      <p:sp>
        <p:nvSpPr>
          <p:cNvPr id="437" name="Shape 418"/>
          <p:cNvSpPr/>
          <p:nvPr/>
        </p:nvSpPr>
        <p:spPr>
          <a:xfrm>
            <a:off x="4333875" y="19050000"/>
            <a:ext cx="674370" cy="238125"/>
          </a:xfrm>
          <a:prstGeom prst="roundRect">
            <a:avLst>
              <a:gd name="adj" fmla="val 16000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38" name="Text 419"/>
          <p:cNvSpPr/>
          <p:nvPr/>
        </p:nvSpPr>
        <p:spPr>
          <a:xfrm>
            <a:off x="4419600" y="19097625"/>
            <a:ext cx="57912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750" dirty="0"/>
          </a:p>
        </p:txBody>
      </p:sp>
      <p:sp>
        <p:nvSpPr>
          <p:cNvPr id="439" name="Text 420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63" dirty="0"/>
          </a:p>
        </p:txBody>
      </p:sp>
      <p:sp>
        <p:nvSpPr>
          <p:cNvPr id="440" name="Text 421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conflict on topic config.hnsw-ef — awaiting admin review</a:t>
            </a:r>
            <a:endParaRPr lang="en-US" sz="900" dirty="0"/>
          </a:p>
        </p:txBody>
      </p:sp>
      <p:sp>
        <p:nvSpPr>
          <p:cNvPr id="441" name="Shape 422"/>
          <p:cNvSpPr/>
          <p:nvPr/>
        </p:nvSpPr>
        <p:spPr>
          <a:xfrm>
            <a:off x="2638425" y="27965400"/>
            <a:ext cx="96678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42" name="Text 423"/>
          <p:cNvSpPr/>
          <p:nvPr/>
        </p:nvSpPr>
        <p:spPr>
          <a:xfrm>
            <a:off x="2790825" y="19050000"/>
            <a:ext cx="15049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07:57:11·27 May</a:t>
            </a:r>
            <a:endParaRPr lang="en-US" sz="825" dirty="0"/>
          </a:p>
        </p:txBody>
      </p:sp>
      <p:sp>
        <p:nvSpPr>
          <p:cNvPr id="443" name="Shape 424"/>
          <p:cNvSpPr/>
          <p:nvPr/>
        </p:nvSpPr>
        <p:spPr>
          <a:xfrm>
            <a:off x="4333875" y="19050000"/>
            <a:ext cx="925830" cy="238125"/>
          </a:xfrm>
          <a:prstGeom prst="roundRect">
            <a:avLst>
              <a:gd name="adj" fmla="val 16000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44" name="Text 425"/>
          <p:cNvSpPr/>
          <p:nvPr/>
        </p:nvSpPr>
        <p:spPr>
          <a:xfrm>
            <a:off x="4419600" y="19097625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DEACTIVATION</a:t>
            </a:r>
            <a:endParaRPr lang="en-US" sz="750" dirty="0"/>
          </a:p>
        </p:txBody>
      </p:sp>
      <p:sp>
        <p:nvSpPr>
          <p:cNvPr id="445" name="Text 426"/>
          <p:cNvSpPr/>
          <p:nvPr/>
        </p:nvSpPr>
        <p:spPr>
          <a:xfrm>
            <a:off x="5686425" y="19050000"/>
            <a:ext cx="13144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446" name="Text 427"/>
          <p:cNvSpPr/>
          <p:nvPr/>
        </p:nvSpPr>
        <p:spPr>
          <a:xfrm>
            <a:off x="7038975" y="19050000"/>
            <a:ext cx="5268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6EDF3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reactivated user l.fontaine (viewer)</a:t>
            </a:r>
            <a:endParaRPr lang="en-US" sz="900" dirty="0"/>
          </a:p>
        </p:txBody>
      </p:sp>
      <p:sp>
        <p:nvSpPr>
          <p:cNvPr id="447" name="Shape 428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448" name="Shape 429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449" name="Shape 430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50" name="Text 431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451" name="Text 432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452" name="Text 433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453" name="Shape 434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54" name="Text 435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455" name="Text 436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456" name="Shape 437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457" name="Shape 438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58" name="Shape 439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459" name="Shape 440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460" name="Text 441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461" name="Text 442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462" name="Shape 443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463" name="Text 444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64" name="Text 445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465" name="Text 446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466" name="Shape 447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467" name="Shape 448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68" name="Shape 449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469" name="Shape 450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470" name="Text 451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471" name="Text 452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472" name="Shape 453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473" name="Text 454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74" name="Text 455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475" name="Text 456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476" name="Shape 457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477" name="Shape 458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8" name="Shape 459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479" name="Shape 460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480" name="Text 461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481" name="Text 462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482" name="Shape 463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483" name="Text 464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484" name="Text 465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485" name="Text 466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486" name="Shape 467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87" name="Shape 468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488" name="Text 469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489" name="Text 470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490" name="Shape 471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491" name="Text 472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92" name="Text 473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493" name="Text 474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494" name="Shape 475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95" name="Shape 476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496" name="Text 477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497" name="Text 478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498" name="Shape 479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499" name="Text 480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500" name="Text 481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501" name="Text 482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502" name="Shape 483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03" name="Shape 484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504" name="Text 485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505" name="Text 486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506" name="Shape 487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507" name="Text 488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508" name="Text 489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509" name="Text 490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510" name="Shape 491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11" name="Shape 492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512" name="Text 493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513" name="Text 494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514" name="Shape 495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515" name="Text 496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516" name="Text 497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517" name="Text 498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582525" cy="9382125"/>
          </a:xfrm>
          <a:prstGeom prst="rect">
            <a:avLst/>
          </a:prstGeom>
          <a:solidFill>
            <a:srgbClr val="080A10"/>
          </a:solidFill>
          <a:ln/>
        </p:spPr>
      </p:sp>
      <p:sp>
        <p:nvSpPr>
          <p:cNvPr id="3" name="Shape 1"/>
          <p:cNvSpPr/>
          <p:nvPr/>
        </p:nvSpPr>
        <p:spPr>
          <a:xfrm>
            <a:off x="-754856" y="-2064067"/>
            <a:ext cx="6542881" cy="6567488"/>
          </a:xfrm>
          <a:prstGeom prst="rect">
            <a:avLst/>
          </a:prstGeom>
          <a:solidFill>
            <a:srgbClr val="E0246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97738" y="5441474"/>
            <a:ext cx="6291263" cy="6379845"/>
          </a:xfrm>
          <a:prstGeom prst="rect">
            <a:avLst/>
          </a:prstGeom>
          <a:solidFill>
            <a:srgbClr val="22B85C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362200" cy="9382125"/>
          </a:xfrm>
          <a:prstGeom prst="rect">
            <a:avLst/>
          </a:prstGeom>
          <a:solidFill>
            <a:srgbClr val="090C12">
              <a:alpha val="7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352675" y="0"/>
            <a:ext cx="9525" cy="93821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628650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190500"/>
            <a:ext cx="285750" cy="2857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8"/>
            <a:ext cx="142875" cy="18097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3425" y="233362"/>
            <a:ext cx="1098709" cy="200025"/>
          </a:xfrm>
          <a:prstGeom prst="rect">
            <a:avLst/>
          </a:prstGeom>
          <a:solidFill>
            <a:srgbClr val="E0246F"/>
          </a:solidFill>
          <a:ln/>
        </p:spPr>
      </p:sp>
      <p:sp>
        <p:nvSpPr>
          <p:cNvPr id="11" name="Text 7"/>
          <p:cNvSpPr/>
          <p:nvPr/>
        </p:nvSpPr>
        <p:spPr>
          <a:xfrm>
            <a:off x="733425" y="233362"/>
            <a:ext cx="1174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spc="16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EXUS HIVE</a:t>
            </a:r>
            <a:endParaRPr lang="en-US" sz="1575" dirty="0"/>
          </a:p>
        </p:txBody>
      </p:sp>
      <p:sp>
        <p:nvSpPr>
          <p:cNvPr id="12" name="Text 8"/>
          <p:cNvSpPr/>
          <p:nvPr/>
        </p:nvSpPr>
        <p:spPr>
          <a:xfrm>
            <a:off x="209550" y="790575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</a:t>
            </a:r>
            <a:endParaRPr lang="en-US" sz="71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078706"/>
            <a:ext cx="152400" cy="152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" y="10620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75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50" y="1440656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7200" y="14239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975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1802606"/>
            <a:ext cx="152400" cy="1524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17859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Browser</a:t>
            </a:r>
            <a:endParaRPr lang="en-US" sz="97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550" y="2164556"/>
            <a:ext cx="152400" cy="152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21478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</a:t>
            </a:r>
            <a:endParaRPr lang="en-US" sz="97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50" y="2526506"/>
            <a:ext cx="152400" cy="1524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57200" y="250983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9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50" y="2888456"/>
            <a:ext cx="152400" cy="1524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57200" y="2871788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Feed</a:t>
            </a:r>
            <a:endParaRPr lang="en-US" sz="975" dirty="0"/>
          </a:p>
        </p:txBody>
      </p:sp>
      <p:sp>
        <p:nvSpPr>
          <p:cNvPr id="25" name="Text 15"/>
          <p:cNvSpPr/>
          <p:nvPr/>
        </p:nvSpPr>
        <p:spPr>
          <a:xfrm>
            <a:off x="209550" y="3326606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713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550" y="3614738"/>
            <a:ext cx="152400" cy="1524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57200" y="35980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Contributors</a:t>
            </a:r>
            <a:endParaRPr lang="en-US" sz="975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50" y="3976687"/>
            <a:ext cx="152400" cy="1524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57200" y="396001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Timeline</a:t>
            </a:r>
            <a:endParaRPr lang="en-US" sz="975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9550" y="4338638"/>
            <a:ext cx="152400" cy="15240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457200" y="4321969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Status</a:t>
            </a:r>
            <a:endParaRPr lang="en-US" sz="975" dirty="0"/>
          </a:p>
        </p:txBody>
      </p:sp>
      <p:sp>
        <p:nvSpPr>
          <p:cNvPr id="32" name="Text 19"/>
          <p:cNvSpPr/>
          <p:nvPr/>
        </p:nvSpPr>
        <p:spPr>
          <a:xfrm>
            <a:off x="209550" y="4776788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</a:t>
            </a:r>
            <a:endParaRPr lang="en-US" sz="713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550" y="5064919"/>
            <a:ext cx="152400" cy="15240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457200" y="5048250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75" dirty="0"/>
          </a:p>
        </p:txBody>
      </p:sp>
      <p:sp>
        <p:nvSpPr>
          <p:cNvPr id="35" name="Text 21"/>
          <p:cNvSpPr/>
          <p:nvPr/>
        </p:nvSpPr>
        <p:spPr>
          <a:xfrm>
            <a:off x="209550" y="5503069"/>
            <a:ext cx="2009775" cy="173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13" spc="128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</a:t>
            </a:r>
            <a:endParaRPr lang="en-US" sz="713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9550" y="5791200"/>
            <a:ext cx="152400" cy="15240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457200" y="577453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975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550" y="6153150"/>
            <a:ext cx="152400" cy="15240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457200" y="6136481"/>
            <a:ext cx="17621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8B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75" dirty="0"/>
          </a:p>
        </p:txBody>
      </p:sp>
      <p:sp>
        <p:nvSpPr>
          <p:cNvPr id="40" name="Shape 24"/>
          <p:cNvSpPr/>
          <p:nvPr/>
        </p:nvSpPr>
        <p:spPr>
          <a:xfrm>
            <a:off x="114300" y="6419850"/>
            <a:ext cx="2124075" cy="342900"/>
          </a:xfrm>
          <a:prstGeom prst="roundRect">
            <a:avLst>
              <a:gd name="adj" fmla="val 22222"/>
            </a:avLst>
          </a:prstGeom>
          <a:solidFill>
            <a:srgbClr val="3B82E8">
              <a:alpha val="10000"/>
            </a:srgbClr>
          </a:solidFill>
          <a:ln/>
        </p:spPr>
      </p:sp>
      <p:sp>
        <p:nvSpPr>
          <p:cNvPr id="41" name="Shape 25"/>
          <p:cNvSpPr/>
          <p:nvPr/>
        </p:nvSpPr>
        <p:spPr>
          <a:xfrm>
            <a:off x="114300" y="6496050"/>
            <a:ext cx="19050" cy="190500"/>
          </a:xfrm>
          <a:prstGeom prst="roundRect">
            <a:avLst>
              <a:gd name="adj" fmla="val 50000"/>
            </a:avLst>
          </a:prstGeom>
          <a:solidFill>
            <a:srgbClr val="3B82E8"/>
          </a:solidFill>
          <a:ln/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50" y="6515100"/>
            <a:ext cx="152400" cy="152400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457200" y="6498431"/>
            <a:ext cx="14763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Viewer</a:t>
            </a:r>
            <a:endParaRPr lang="en-US" sz="975" dirty="0"/>
          </a:p>
        </p:txBody>
      </p:sp>
      <p:sp>
        <p:nvSpPr>
          <p:cNvPr id="44" name="Shape 27"/>
          <p:cNvSpPr/>
          <p:nvPr/>
        </p:nvSpPr>
        <p:spPr>
          <a:xfrm>
            <a:off x="1952625" y="6510338"/>
            <a:ext cx="190500" cy="161925"/>
          </a:xfrm>
          <a:prstGeom prst="roundRect">
            <a:avLst>
              <a:gd name="adj" fmla="val 23529"/>
            </a:avLst>
          </a:prstGeom>
          <a:solidFill>
            <a:srgbClr val="E0246F">
              <a:alpha val="14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45" name="Text 28"/>
          <p:cNvSpPr/>
          <p:nvPr/>
        </p:nvSpPr>
        <p:spPr>
          <a:xfrm>
            <a:off x="2019300" y="6519863"/>
            <a:ext cx="1333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Shape 29"/>
          <p:cNvSpPr/>
          <p:nvPr/>
        </p:nvSpPr>
        <p:spPr>
          <a:xfrm>
            <a:off x="0" y="8384381"/>
            <a:ext cx="23526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47" name="Shape 30"/>
          <p:cNvSpPr/>
          <p:nvPr/>
        </p:nvSpPr>
        <p:spPr>
          <a:xfrm>
            <a:off x="114300" y="8508206"/>
            <a:ext cx="2124075" cy="473869"/>
          </a:xfrm>
          <a:prstGeom prst="roundRect">
            <a:avLst>
              <a:gd name="adj" fmla="val 16080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8" name="Shape 31"/>
          <p:cNvSpPr/>
          <p:nvPr/>
        </p:nvSpPr>
        <p:spPr>
          <a:xfrm>
            <a:off x="190500" y="8602187"/>
            <a:ext cx="285750" cy="2857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49" name="Text 32"/>
          <p:cNvSpPr/>
          <p:nvPr/>
        </p:nvSpPr>
        <p:spPr>
          <a:xfrm>
            <a:off x="275114" y="8696484"/>
            <a:ext cx="192723" cy="13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5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65" dirty="0"/>
          </a:p>
        </p:txBody>
      </p:sp>
      <p:sp>
        <p:nvSpPr>
          <p:cNvPr id="50" name="Text 33"/>
          <p:cNvSpPr/>
          <p:nvPr/>
        </p:nvSpPr>
        <p:spPr>
          <a:xfrm>
            <a:off x="571500" y="8584406"/>
            <a:ext cx="1666875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 Okafor</a:t>
            </a:r>
            <a:endParaRPr lang="en-US" sz="938" dirty="0"/>
          </a:p>
        </p:txBody>
      </p:sp>
      <p:sp>
        <p:nvSpPr>
          <p:cNvPr id="51" name="Text 34"/>
          <p:cNvSpPr/>
          <p:nvPr/>
        </p:nvSpPr>
        <p:spPr>
          <a:xfrm>
            <a:off x="571500" y="8763000"/>
            <a:ext cx="16668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ada.okafor@nexus.dev</a:t>
            </a:r>
            <a:endParaRPr lang="en-US" sz="750" dirty="0"/>
          </a:p>
        </p:txBody>
      </p:sp>
      <p:sp>
        <p:nvSpPr>
          <p:cNvPr id="52" name="Shape 35"/>
          <p:cNvSpPr/>
          <p:nvPr/>
        </p:nvSpPr>
        <p:spPr>
          <a:xfrm>
            <a:off x="152400" y="9058275"/>
            <a:ext cx="476250" cy="209550"/>
          </a:xfrm>
          <a:prstGeom prst="roundRect">
            <a:avLst>
              <a:gd name="adj" fmla="val 18182"/>
            </a:avLst>
          </a:prstGeom>
          <a:solidFill>
            <a:srgbClr val="E0246F">
              <a:alpha val="12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53" name="Text 36"/>
          <p:cNvSpPr/>
          <p:nvPr/>
        </p:nvSpPr>
        <p:spPr>
          <a:xfrm>
            <a:off x="228600" y="9091613"/>
            <a:ext cx="4000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6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750" dirty="0"/>
          </a:p>
        </p:txBody>
      </p:sp>
      <p:sp>
        <p:nvSpPr>
          <p:cNvPr id="54" name="Text 37"/>
          <p:cNvSpPr/>
          <p:nvPr/>
        </p:nvSpPr>
        <p:spPr>
          <a:xfrm>
            <a:off x="1742122" y="9087962"/>
            <a:ext cx="49625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LOGOUT</a:t>
            </a:r>
            <a:endParaRPr lang="en-US" sz="788" dirty="0"/>
          </a:p>
        </p:txBody>
      </p:sp>
      <p:sp>
        <p:nvSpPr>
          <p:cNvPr id="55" name="Shape 38"/>
          <p:cNvSpPr/>
          <p:nvPr/>
        </p:nvSpPr>
        <p:spPr>
          <a:xfrm>
            <a:off x="2362200" y="0"/>
            <a:ext cx="10220325" cy="609600"/>
          </a:xfrm>
          <a:prstGeom prst="rect">
            <a:avLst/>
          </a:prstGeom>
          <a:solidFill>
            <a:srgbClr val="080A10">
              <a:alpha val="82000"/>
            </a:srgbClr>
          </a:solidFill>
          <a:ln/>
        </p:spPr>
      </p:sp>
      <p:sp>
        <p:nvSpPr>
          <p:cNvPr id="56" name="Shape 39"/>
          <p:cNvSpPr/>
          <p:nvPr/>
        </p:nvSpPr>
        <p:spPr>
          <a:xfrm>
            <a:off x="2362200" y="600075"/>
            <a:ext cx="1022032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57" name="Text 40"/>
          <p:cNvSpPr/>
          <p:nvPr/>
        </p:nvSpPr>
        <p:spPr>
          <a:xfrm>
            <a:off x="2628900" y="124460"/>
            <a:ext cx="25908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CONFLICTS &amp; VERSION RECOVERY</a:t>
            </a:r>
            <a:endParaRPr lang="en-US" sz="750" dirty="0"/>
          </a:p>
        </p:txBody>
      </p:sp>
      <p:sp>
        <p:nvSpPr>
          <p:cNvPr id="58" name="Text 41"/>
          <p:cNvSpPr/>
          <p:nvPr/>
        </p:nvSpPr>
        <p:spPr>
          <a:xfrm>
            <a:off x="2628900" y="267335"/>
            <a:ext cx="2590800" cy="246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25" b="1" spc="-14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Viewer</a:t>
            </a:r>
            <a:endParaRPr lang="en-US" sz="1425" dirty="0"/>
          </a:p>
        </p:txBody>
      </p:sp>
      <p:pic>
        <p:nvPicPr>
          <p:cNvPr id="5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7775" y="233362"/>
            <a:ext cx="133350" cy="133350"/>
          </a:xfrm>
          <a:prstGeom prst="rect">
            <a:avLst/>
          </a:prstGeom>
        </p:spPr>
      </p:pic>
      <p:sp>
        <p:nvSpPr>
          <p:cNvPr id="60" name="Shape 42"/>
          <p:cNvSpPr/>
          <p:nvPr/>
        </p:nvSpPr>
        <p:spPr>
          <a:xfrm>
            <a:off x="8734425" y="109538"/>
            <a:ext cx="3048000" cy="381000"/>
          </a:xfrm>
          <a:prstGeom prst="roundRect">
            <a:avLst>
              <a:gd name="adj" fmla="val 22500"/>
            </a:avLst>
          </a:prstGeom>
          <a:solidFill>
            <a:srgbClr val="0A0E16">
              <a:alpha val="72000"/>
            </a:srgbClr>
          </a:solidFill>
          <a:ln w="9525">
            <a:solidFill>
              <a:srgbClr val="232C3C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11934825" y="109538"/>
            <a:ext cx="381000" cy="381000"/>
          </a:xfrm>
          <a:prstGeom prst="roundRect">
            <a:avLst>
              <a:gd name="adj" fmla="val 20000"/>
            </a:avLst>
          </a:prstGeom>
          <a:ln w="9525">
            <a:solidFill>
              <a:srgbClr val="232C3C"/>
            </a:solidFill>
            <a:prstDash val="solid"/>
          </a:ln>
        </p:spPr>
      </p:sp>
      <p:pic>
        <p:nvPicPr>
          <p:cNvPr id="6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44363" y="219075"/>
            <a:ext cx="161925" cy="161925"/>
          </a:xfrm>
          <a:prstGeom prst="rect">
            <a:avLst/>
          </a:prstGeom>
        </p:spPr>
      </p:pic>
      <p:sp>
        <p:nvSpPr>
          <p:cNvPr id="63" name="Shape 44"/>
          <p:cNvSpPr/>
          <p:nvPr/>
        </p:nvSpPr>
        <p:spPr>
          <a:xfrm>
            <a:off x="12175808" y="80963"/>
            <a:ext cx="168592" cy="152400"/>
          </a:xfrm>
          <a:prstGeom prst="ellipse">
            <a:avLst/>
          </a:prstGeom>
          <a:solidFill>
            <a:srgbClr val="E0246F"/>
          </a:solidFill>
          <a:ln w="19050">
            <a:solidFill>
              <a:srgbClr val="080A10"/>
            </a:solidFill>
            <a:prstDash val="solid"/>
          </a:ln>
        </p:spPr>
      </p:sp>
      <p:sp>
        <p:nvSpPr>
          <p:cNvPr id="64" name="Text 45"/>
          <p:cNvSpPr/>
          <p:nvPr/>
        </p:nvSpPr>
        <p:spPr>
          <a:xfrm>
            <a:off x="12194858" y="100013"/>
            <a:ext cx="13049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7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713" dirty="0"/>
          </a:p>
        </p:txBody>
      </p:sp>
      <p:sp>
        <p:nvSpPr>
          <p:cNvPr id="65" name="Text 46"/>
          <p:cNvSpPr/>
          <p:nvPr/>
        </p:nvSpPr>
        <p:spPr>
          <a:xfrm>
            <a:off x="2628900" y="873919"/>
            <a:ext cx="11607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 CONFLICTS</a:t>
            </a:r>
            <a:endParaRPr lang="en-US" sz="825" dirty="0"/>
          </a:p>
        </p:txBody>
      </p:sp>
      <p:sp>
        <p:nvSpPr>
          <p:cNvPr id="66" name="Text 47"/>
          <p:cNvSpPr/>
          <p:nvPr/>
        </p:nvSpPr>
        <p:spPr>
          <a:xfrm>
            <a:off x="3827780" y="873919"/>
            <a:ext cx="4533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2open</a:t>
            </a:r>
            <a:endParaRPr lang="en-US" sz="825" dirty="0"/>
          </a:p>
        </p:txBody>
      </p:sp>
      <p:sp>
        <p:nvSpPr>
          <p:cNvPr id="67" name="Text 48"/>
          <p:cNvSpPr/>
          <p:nvPr/>
        </p:nvSpPr>
        <p:spPr>
          <a:xfrm>
            <a:off x="4319270" y="838200"/>
            <a:ext cx="1258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A3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68" name="Text 49"/>
          <p:cNvSpPr/>
          <p:nvPr/>
        </p:nvSpPr>
        <p:spPr>
          <a:xfrm>
            <a:off x="4483259" y="873919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1resolved</a:t>
            </a:r>
            <a:endParaRPr lang="en-US" sz="825" dirty="0"/>
          </a:p>
        </p:txBody>
      </p:sp>
      <p:sp>
        <p:nvSpPr>
          <p:cNvPr id="69" name="Shape 50"/>
          <p:cNvSpPr/>
          <p:nvPr/>
        </p:nvSpPr>
        <p:spPr>
          <a:xfrm>
            <a:off x="2628900" y="1257300"/>
            <a:ext cx="9686925" cy="4079240"/>
          </a:xfrm>
          <a:prstGeom prst="roundRect">
            <a:avLst>
              <a:gd name="adj" fmla="val 2802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70" name="Shape 51"/>
          <p:cNvSpPr/>
          <p:nvPr/>
        </p:nvSpPr>
        <p:spPr>
          <a:xfrm>
            <a:off x="2638425" y="1955006"/>
            <a:ext cx="966787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71" name="Shape 52"/>
          <p:cNvSpPr/>
          <p:nvPr/>
        </p:nvSpPr>
        <p:spPr>
          <a:xfrm>
            <a:off x="2828925" y="1470343"/>
            <a:ext cx="66675" cy="66675"/>
          </a:xfrm>
          <a:prstGeom prst="ellipse">
            <a:avLst/>
          </a:prstGeom>
          <a:solidFill>
            <a:srgbClr val="E0246F"/>
          </a:solidFill>
          <a:ln/>
        </p:spPr>
      </p:sp>
      <p:sp>
        <p:nvSpPr>
          <p:cNvPr id="72" name="Shape 53"/>
          <p:cNvSpPr/>
          <p:nvPr/>
        </p:nvSpPr>
        <p:spPr>
          <a:xfrm>
            <a:off x="2800350" y="1441768"/>
            <a:ext cx="123825" cy="123825"/>
          </a:xfrm>
          <a:prstGeom prst="ellipse">
            <a:avLst/>
          </a:prstGeom>
          <a:ln w="9525">
            <a:solidFill>
              <a:srgbClr val="E0246F">
                <a:alpha val="98000"/>
              </a:srgbClr>
            </a:solidFill>
            <a:prstDash val="solid"/>
          </a:ln>
        </p:spPr>
      </p:sp>
      <p:sp>
        <p:nvSpPr>
          <p:cNvPr id="73" name="Text 54"/>
          <p:cNvSpPr/>
          <p:nvPr/>
        </p:nvSpPr>
        <p:spPr>
          <a:xfrm>
            <a:off x="2990850" y="1400175"/>
            <a:ext cx="238236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1088" dirty="0"/>
          </a:p>
        </p:txBody>
      </p:sp>
      <p:sp>
        <p:nvSpPr>
          <p:cNvPr id="74" name="Text 55"/>
          <p:cNvSpPr/>
          <p:nvPr/>
        </p:nvSpPr>
        <p:spPr>
          <a:xfrm>
            <a:off x="2790825" y="1664494"/>
            <a:ext cx="64198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sync.crdt</a:t>
            </a:r>
            <a:endParaRPr lang="en-US" sz="825" dirty="0"/>
          </a:p>
        </p:txBody>
      </p:sp>
      <p:sp>
        <p:nvSpPr>
          <p:cNvPr id="75" name="Text 56"/>
          <p:cNvSpPr/>
          <p:nvPr/>
        </p:nvSpPr>
        <p:spPr>
          <a:xfrm>
            <a:off x="3470910" y="1664494"/>
            <a:ext cx="1390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76" name="Text 57"/>
          <p:cNvSpPr/>
          <p:nvPr/>
        </p:nvSpPr>
        <p:spPr>
          <a:xfrm>
            <a:off x="3609975" y="1664494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data-pipeline</a:t>
            </a:r>
            <a:endParaRPr lang="en-US" sz="825" dirty="0"/>
          </a:p>
        </p:txBody>
      </p:sp>
      <p:sp>
        <p:nvSpPr>
          <p:cNvPr id="77" name="Text 58"/>
          <p:cNvSpPr/>
          <p:nvPr/>
        </p:nvSpPr>
        <p:spPr>
          <a:xfrm>
            <a:off x="4503420" y="1664494"/>
            <a:ext cx="1390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78" name="Text 59"/>
          <p:cNvSpPr/>
          <p:nvPr/>
        </p:nvSpPr>
        <p:spPr>
          <a:xfrm>
            <a:off x="4642485" y="1664494"/>
            <a:ext cx="10820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detected42m ago</a:t>
            </a:r>
            <a:endParaRPr lang="en-US" sz="825" dirty="0"/>
          </a:p>
        </p:txBody>
      </p:sp>
      <p:sp>
        <p:nvSpPr>
          <p:cNvPr id="79" name="Shape 60"/>
          <p:cNvSpPr/>
          <p:nvPr/>
        </p:nvSpPr>
        <p:spPr>
          <a:xfrm>
            <a:off x="11639550" y="1400175"/>
            <a:ext cx="476250" cy="276225"/>
          </a:xfrm>
          <a:prstGeom prst="roundRect">
            <a:avLst>
              <a:gd name="adj" fmla="val 13793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80" name="Text 61"/>
          <p:cNvSpPr/>
          <p:nvPr/>
        </p:nvSpPr>
        <p:spPr>
          <a:xfrm>
            <a:off x="11744325" y="1466850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750" dirty="0"/>
          </a:p>
        </p:txBody>
      </p:sp>
      <p:sp>
        <p:nvSpPr>
          <p:cNvPr id="81" name="Shape 62"/>
          <p:cNvSpPr/>
          <p:nvPr/>
        </p:nvSpPr>
        <p:spPr>
          <a:xfrm>
            <a:off x="2828925" y="2116931"/>
            <a:ext cx="4586288" cy="762000"/>
          </a:xfrm>
          <a:prstGeom prst="roundRect">
            <a:avLst>
              <a:gd name="adj" fmla="val 10000"/>
            </a:avLst>
          </a:prstGeom>
          <a:solidFill>
            <a:srgbClr val="22B85C">
              <a:alpha val="5000"/>
            </a:srgbClr>
          </a:solidFill>
          <a:ln w="9525">
            <a:solidFill>
              <a:srgbClr val="22B85C">
                <a:alpha val="30000"/>
              </a:srgbClr>
            </a:solidFill>
            <a:prstDash val="solid"/>
          </a:ln>
        </p:spPr>
      </p:sp>
      <p:sp>
        <p:nvSpPr>
          <p:cNvPr id="82" name="Text 63"/>
          <p:cNvSpPr/>
          <p:nvPr/>
        </p:nvSpPr>
        <p:spPr>
          <a:xfrm>
            <a:off x="2971800" y="2244249"/>
            <a:ext cx="12098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WINNING VERSION</a:t>
            </a:r>
            <a:endParaRPr lang="en-US" sz="750" dirty="0"/>
          </a:p>
        </p:txBody>
      </p:sp>
      <p:sp>
        <p:nvSpPr>
          <p:cNvPr id="83" name="Text 64"/>
          <p:cNvSpPr/>
          <p:nvPr/>
        </p:nvSpPr>
        <p:spPr>
          <a:xfrm>
            <a:off x="6972300" y="2240756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rev3</a:t>
            </a:r>
            <a:endParaRPr lang="en-US" sz="788" dirty="0"/>
          </a:p>
        </p:txBody>
      </p:sp>
      <p:sp>
        <p:nvSpPr>
          <p:cNvPr id="84" name="Shape 65"/>
          <p:cNvSpPr/>
          <p:nvPr/>
        </p:nvSpPr>
        <p:spPr>
          <a:xfrm>
            <a:off x="2971800" y="2496661"/>
            <a:ext cx="209550" cy="20955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85" name="Text 66"/>
          <p:cNvSpPr/>
          <p:nvPr/>
        </p:nvSpPr>
        <p:spPr>
          <a:xfrm>
            <a:off x="3033871" y="2565718"/>
            <a:ext cx="161608" cy="109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45"/>
              </a:lnSpc>
              <a:buNone/>
            </a:pPr>
            <a:r>
              <a:rPr lang="en-US" sz="561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561" dirty="0"/>
          </a:p>
        </p:txBody>
      </p:sp>
      <p:sp>
        <p:nvSpPr>
          <p:cNvPr id="86" name="Text 67"/>
          <p:cNvSpPr/>
          <p:nvPr/>
        </p:nvSpPr>
        <p:spPr>
          <a:xfrm>
            <a:off x="3257550" y="2447925"/>
            <a:ext cx="799147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</a:t>
            </a:r>
            <a:endParaRPr lang="en-US" sz="863" dirty="0"/>
          </a:p>
        </p:txBody>
      </p:sp>
      <p:sp>
        <p:nvSpPr>
          <p:cNvPr id="87" name="Text 68"/>
          <p:cNvSpPr/>
          <p:nvPr/>
        </p:nvSpPr>
        <p:spPr>
          <a:xfrm>
            <a:off x="3257550" y="2612231"/>
            <a:ext cx="7991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15h ago</a:t>
            </a:r>
            <a:endParaRPr lang="en-US" sz="750" dirty="0"/>
          </a:p>
        </p:txBody>
      </p:sp>
      <p:sp>
        <p:nvSpPr>
          <p:cNvPr id="88" name="Shape 69"/>
          <p:cNvSpPr/>
          <p:nvPr/>
        </p:nvSpPr>
        <p:spPr>
          <a:xfrm>
            <a:off x="7529513" y="2116931"/>
            <a:ext cx="4586288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5000"/>
            </a:srgbClr>
          </a:solidFill>
          <a:ln w="9525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89" name="Text 70"/>
          <p:cNvSpPr/>
          <p:nvPr/>
        </p:nvSpPr>
        <p:spPr>
          <a:xfrm>
            <a:off x="7672388" y="2244249"/>
            <a:ext cx="11431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F1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LOSING VERSION</a:t>
            </a:r>
            <a:endParaRPr lang="en-US" sz="750" dirty="0"/>
          </a:p>
        </p:txBody>
      </p:sp>
      <p:sp>
        <p:nvSpPr>
          <p:cNvPr id="90" name="Text 71"/>
          <p:cNvSpPr/>
          <p:nvPr/>
        </p:nvSpPr>
        <p:spPr>
          <a:xfrm>
            <a:off x="11672888" y="2240756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rev3</a:t>
            </a:r>
            <a:endParaRPr lang="en-US" sz="788" dirty="0"/>
          </a:p>
        </p:txBody>
      </p:sp>
      <p:sp>
        <p:nvSpPr>
          <p:cNvPr id="91" name="Shape 72"/>
          <p:cNvSpPr/>
          <p:nvPr/>
        </p:nvSpPr>
        <p:spPr>
          <a:xfrm>
            <a:off x="7672388" y="2496661"/>
            <a:ext cx="209550" cy="209550"/>
          </a:xfrm>
          <a:prstGeom prst="rect">
            <a:avLst/>
          </a:prstGeom>
          <a:solidFill>
            <a:srgbClr val="0E1320"/>
          </a:solidFill>
          <a:ln w="9525">
            <a:solidFill>
              <a:srgbClr val="3B82E8">
                <a:alpha val="33000"/>
              </a:srgbClr>
            </a:solidFill>
            <a:prstDash val="solid"/>
          </a:ln>
        </p:spPr>
      </p:sp>
      <p:sp>
        <p:nvSpPr>
          <p:cNvPr id="92" name="Text 73"/>
          <p:cNvSpPr/>
          <p:nvPr/>
        </p:nvSpPr>
        <p:spPr>
          <a:xfrm>
            <a:off x="7734459" y="2565718"/>
            <a:ext cx="161608" cy="109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45"/>
              </a:lnSpc>
              <a:buNone/>
            </a:pPr>
            <a:r>
              <a:rPr lang="en-US" sz="561" b="1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561" dirty="0"/>
          </a:p>
        </p:txBody>
      </p:sp>
      <p:sp>
        <p:nvSpPr>
          <p:cNvPr id="93" name="Text 74"/>
          <p:cNvSpPr/>
          <p:nvPr/>
        </p:nvSpPr>
        <p:spPr>
          <a:xfrm>
            <a:off x="7958138" y="2447925"/>
            <a:ext cx="60198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agent-11</a:t>
            </a:r>
            <a:endParaRPr lang="en-US" sz="863" dirty="0"/>
          </a:p>
        </p:txBody>
      </p:sp>
      <p:sp>
        <p:nvSpPr>
          <p:cNvPr id="94" name="Text 75"/>
          <p:cNvSpPr/>
          <p:nvPr/>
        </p:nvSpPr>
        <p:spPr>
          <a:xfrm>
            <a:off x="7958138" y="2612231"/>
            <a:ext cx="6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15h ago</a:t>
            </a:r>
            <a:endParaRPr lang="en-US" sz="750" dirty="0"/>
          </a:p>
        </p:txBody>
      </p:sp>
      <p:sp>
        <p:nvSpPr>
          <p:cNvPr id="95" name="Text 76"/>
          <p:cNvSpPr/>
          <p:nvPr/>
        </p:nvSpPr>
        <p:spPr>
          <a:xfrm>
            <a:off x="2828925" y="3031331"/>
            <a:ext cx="95654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6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DIFF · LOSING → WINNING</a:t>
            </a:r>
            <a:endParaRPr lang="en-US" sz="825" dirty="0"/>
          </a:p>
        </p:txBody>
      </p:sp>
      <p:sp>
        <p:nvSpPr>
          <p:cNvPr id="96" name="Shape 77"/>
          <p:cNvSpPr/>
          <p:nvPr/>
        </p:nvSpPr>
        <p:spPr>
          <a:xfrm>
            <a:off x="2828925" y="3283744"/>
            <a:ext cx="4586288" cy="1402715"/>
          </a:xfrm>
          <a:prstGeom prst="roundRect">
            <a:avLst>
              <a:gd name="adj" fmla="val 5432"/>
            </a:avLst>
          </a:prstGeom>
          <a:ln w="9525">
            <a:solidFill>
              <a:srgbClr val="1C2532"/>
            </a:solidFill>
            <a:prstDash val="solid"/>
          </a:ln>
        </p:spPr>
      </p:sp>
      <p:sp>
        <p:nvSpPr>
          <p:cNvPr id="97" name="Shape 78"/>
          <p:cNvSpPr/>
          <p:nvPr/>
        </p:nvSpPr>
        <p:spPr>
          <a:xfrm>
            <a:off x="2838450" y="3293269"/>
            <a:ext cx="4567238" cy="342900"/>
          </a:xfrm>
          <a:prstGeom prst="rect">
            <a:avLst/>
          </a:prstGeom>
          <a:solidFill>
            <a:srgbClr val="0D1320">
              <a:alpha val="50000"/>
            </a:srgbClr>
          </a:solidFill>
          <a:ln/>
        </p:spPr>
      </p:sp>
      <p:sp>
        <p:nvSpPr>
          <p:cNvPr id="98" name="Shape 79"/>
          <p:cNvSpPr/>
          <p:nvPr/>
        </p:nvSpPr>
        <p:spPr>
          <a:xfrm>
            <a:off x="2838450" y="3626644"/>
            <a:ext cx="4567238" cy="9525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99" name="Text 80"/>
          <p:cNvSpPr/>
          <p:nvPr/>
        </p:nvSpPr>
        <p:spPr>
          <a:xfrm>
            <a:off x="2952750" y="3384868"/>
            <a:ext cx="126634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LOSING · AGENT-11</a:t>
            </a:r>
            <a:endParaRPr lang="en-US" sz="788" dirty="0"/>
          </a:p>
        </p:txBody>
      </p:sp>
      <p:sp>
        <p:nvSpPr>
          <p:cNvPr id="100" name="Text 81"/>
          <p:cNvSpPr/>
          <p:nvPr/>
        </p:nvSpPr>
        <p:spPr>
          <a:xfrm>
            <a:off x="6991350" y="3384868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3</a:t>
            </a:r>
            <a:endParaRPr lang="en-US" sz="788" dirty="0"/>
          </a:p>
        </p:txBody>
      </p:sp>
      <p:sp>
        <p:nvSpPr>
          <p:cNvPr id="101" name="Shape 82"/>
          <p:cNvSpPr/>
          <p:nvPr/>
        </p:nvSpPr>
        <p:spPr>
          <a:xfrm>
            <a:off x="2838450" y="3636169"/>
            <a:ext cx="4567238" cy="847249"/>
          </a:xfrm>
          <a:prstGeom prst="rect">
            <a:avLst/>
          </a:prstGeom>
          <a:solidFill>
            <a:srgbClr val="070A10">
              <a:alpha val="50000"/>
            </a:srgbClr>
          </a:solidFill>
          <a:ln/>
        </p:spPr>
      </p:sp>
      <p:sp>
        <p:nvSpPr>
          <p:cNvPr id="102" name="Text 83"/>
          <p:cNvSpPr/>
          <p:nvPr/>
        </p:nvSpPr>
        <p:spPr>
          <a:xfrm>
            <a:off x="2971800" y="3769519"/>
            <a:ext cx="4437555" cy="618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reconnect we replay against a last-writer-wins CRDT keyed by topic_key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F1A6A6"/>
                </a:solidFill>
                <a:highlight>
                  <a:srgbClr val="EF444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only.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Conflicts that can't auto-resolve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F1A6A6"/>
                </a:solidFill>
                <a:highlight>
                  <a:srgbClr val="EF444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 dropped and logged for later review.</a:t>
            </a:r>
            <a:endParaRPr lang="en-US" sz="938" dirty="0"/>
          </a:p>
        </p:txBody>
      </p:sp>
      <p:sp>
        <p:nvSpPr>
          <p:cNvPr id="103" name="Shape 84"/>
          <p:cNvSpPr/>
          <p:nvPr/>
        </p:nvSpPr>
        <p:spPr>
          <a:xfrm>
            <a:off x="7529513" y="3283744"/>
            <a:ext cx="4586288" cy="1402715"/>
          </a:xfrm>
          <a:prstGeom prst="roundRect">
            <a:avLst>
              <a:gd name="adj" fmla="val 5432"/>
            </a:avLst>
          </a:prstGeom>
          <a:ln w="9525">
            <a:solidFill>
              <a:srgbClr val="1C2532"/>
            </a:solidFill>
            <a:prstDash val="solid"/>
          </a:ln>
        </p:spPr>
      </p:sp>
      <p:sp>
        <p:nvSpPr>
          <p:cNvPr id="104" name="Shape 85"/>
          <p:cNvSpPr/>
          <p:nvPr/>
        </p:nvSpPr>
        <p:spPr>
          <a:xfrm>
            <a:off x="7539037" y="3293269"/>
            <a:ext cx="4567238" cy="342900"/>
          </a:xfrm>
          <a:prstGeom prst="rect">
            <a:avLst/>
          </a:prstGeom>
          <a:solidFill>
            <a:srgbClr val="0D1320">
              <a:alpha val="50000"/>
            </a:srgbClr>
          </a:solidFill>
          <a:ln/>
        </p:spPr>
      </p:sp>
      <p:sp>
        <p:nvSpPr>
          <p:cNvPr id="105" name="Shape 86"/>
          <p:cNvSpPr/>
          <p:nvPr/>
        </p:nvSpPr>
        <p:spPr>
          <a:xfrm>
            <a:off x="7539037" y="3626644"/>
            <a:ext cx="4567238" cy="9525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106" name="Text 87"/>
          <p:cNvSpPr/>
          <p:nvPr/>
        </p:nvSpPr>
        <p:spPr>
          <a:xfrm>
            <a:off x="7653337" y="3384868"/>
            <a:ext cx="1546384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WINNING · R.DELACROIX</a:t>
            </a:r>
            <a:endParaRPr lang="en-US" sz="788" dirty="0"/>
          </a:p>
        </p:txBody>
      </p:sp>
      <p:sp>
        <p:nvSpPr>
          <p:cNvPr id="107" name="Text 88"/>
          <p:cNvSpPr/>
          <p:nvPr/>
        </p:nvSpPr>
        <p:spPr>
          <a:xfrm>
            <a:off x="11691938" y="3384868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3</a:t>
            </a:r>
            <a:endParaRPr lang="en-US" sz="788" dirty="0"/>
          </a:p>
        </p:txBody>
      </p:sp>
      <p:sp>
        <p:nvSpPr>
          <p:cNvPr id="108" name="Shape 89"/>
          <p:cNvSpPr/>
          <p:nvPr/>
        </p:nvSpPr>
        <p:spPr>
          <a:xfrm>
            <a:off x="7539037" y="3636169"/>
            <a:ext cx="4567238" cy="1040765"/>
          </a:xfrm>
          <a:prstGeom prst="rect">
            <a:avLst/>
          </a:prstGeom>
          <a:solidFill>
            <a:srgbClr val="070A10">
              <a:alpha val="50000"/>
            </a:srgbClr>
          </a:solidFill>
          <a:ln/>
        </p:spPr>
      </p:sp>
      <p:sp>
        <p:nvSpPr>
          <p:cNvPr id="109" name="Text 90"/>
          <p:cNvSpPr/>
          <p:nvPr/>
        </p:nvSpPr>
        <p:spPr>
          <a:xfrm>
            <a:off x="7672388" y="3769519"/>
            <a:ext cx="4437555" cy="812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reconnect we replay against a last-writer-wins CRDT keyed by topic_key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8FE3AC"/>
                </a:solidFill>
                <a:highlight>
                  <a:srgbClr val="22B85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logical clock.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Conflicts that can't auto-resolve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8FE3AC"/>
                </a:solidFill>
                <a:highlight>
                  <a:srgbClr val="22B85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 to the conflict viewer, where the losing version is preserved with one-click restore.</a:t>
            </a:r>
            <a:endParaRPr lang="en-US" sz="938" dirty="0"/>
          </a:p>
        </p:txBody>
      </p:sp>
      <p:sp>
        <p:nvSpPr>
          <p:cNvPr id="110" name="Shape 91"/>
          <p:cNvSpPr/>
          <p:nvPr/>
        </p:nvSpPr>
        <p:spPr>
          <a:xfrm>
            <a:off x="10214451" y="4838859"/>
            <a:ext cx="1901349" cy="335756"/>
          </a:xfrm>
          <a:prstGeom prst="roundRect">
            <a:avLst>
              <a:gd name="adj" fmla="val 22695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50000"/>
              </a:srgbClr>
            </a:solidFill>
            <a:prstDash val="solid"/>
          </a:ln>
        </p:spPr>
      </p:sp>
      <p:sp>
        <p:nvSpPr>
          <p:cNvPr id="111" name="Text 92"/>
          <p:cNvSpPr/>
          <p:nvPr/>
        </p:nvSpPr>
        <p:spPr>
          <a:xfrm>
            <a:off x="10338276" y="4924584"/>
            <a:ext cx="165369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↺ restore losing version</a:t>
            </a:r>
            <a:endParaRPr lang="en-US" sz="863" dirty="0"/>
          </a:p>
        </p:txBody>
      </p:sp>
      <p:sp>
        <p:nvSpPr>
          <p:cNvPr id="112" name="Shape 93"/>
          <p:cNvSpPr/>
          <p:nvPr/>
        </p:nvSpPr>
        <p:spPr>
          <a:xfrm>
            <a:off x="2628900" y="5488940"/>
            <a:ext cx="9686925" cy="3692207"/>
          </a:xfrm>
          <a:prstGeom prst="roundRect">
            <a:avLst>
              <a:gd name="adj" fmla="val 3096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13" name="Shape 94"/>
          <p:cNvSpPr/>
          <p:nvPr/>
        </p:nvSpPr>
        <p:spPr>
          <a:xfrm>
            <a:off x="2638425" y="6186646"/>
            <a:ext cx="966787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14" name="Shape 95"/>
          <p:cNvSpPr/>
          <p:nvPr/>
        </p:nvSpPr>
        <p:spPr>
          <a:xfrm>
            <a:off x="2828925" y="5701982"/>
            <a:ext cx="66675" cy="66675"/>
          </a:xfrm>
          <a:prstGeom prst="ellipse">
            <a:avLst/>
          </a:prstGeom>
          <a:solidFill>
            <a:srgbClr val="E0246F"/>
          </a:solidFill>
          <a:ln/>
        </p:spPr>
      </p:sp>
      <p:sp>
        <p:nvSpPr>
          <p:cNvPr id="115" name="Shape 96"/>
          <p:cNvSpPr/>
          <p:nvPr/>
        </p:nvSpPr>
        <p:spPr>
          <a:xfrm>
            <a:off x="2800350" y="5673407"/>
            <a:ext cx="123825" cy="123825"/>
          </a:xfrm>
          <a:prstGeom prst="ellipse">
            <a:avLst/>
          </a:prstGeom>
          <a:ln w="9525">
            <a:solidFill>
              <a:srgbClr val="E0246F">
                <a:alpha val="98000"/>
              </a:srgbClr>
            </a:solidFill>
            <a:prstDash val="solid"/>
          </a:ln>
        </p:spPr>
      </p:sp>
      <p:sp>
        <p:nvSpPr>
          <p:cNvPr id="116" name="Text 97"/>
          <p:cNvSpPr/>
          <p:nvPr/>
        </p:nvSpPr>
        <p:spPr>
          <a:xfrm>
            <a:off x="2990850" y="5631815"/>
            <a:ext cx="258651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ef_search tuned for recall/latency</a:t>
            </a:r>
            <a:endParaRPr lang="en-US" sz="1088" dirty="0"/>
          </a:p>
        </p:txBody>
      </p:sp>
      <p:sp>
        <p:nvSpPr>
          <p:cNvPr id="117" name="Text 98"/>
          <p:cNvSpPr/>
          <p:nvPr/>
        </p:nvSpPr>
        <p:spPr>
          <a:xfrm>
            <a:off x="2790825" y="5896134"/>
            <a:ext cx="95631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config.hnsw-ef</a:t>
            </a:r>
            <a:endParaRPr lang="en-US" sz="825" dirty="0"/>
          </a:p>
        </p:txBody>
      </p:sp>
      <p:sp>
        <p:nvSpPr>
          <p:cNvPr id="118" name="Text 99"/>
          <p:cNvSpPr/>
          <p:nvPr/>
        </p:nvSpPr>
        <p:spPr>
          <a:xfrm>
            <a:off x="3785235" y="5896134"/>
            <a:ext cx="1390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19" name="Text 100"/>
          <p:cNvSpPr/>
          <p:nvPr/>
        </p:nvSpPr>
        <p:spPr>
          <a:xfrm>
            <a:off x="3924300" y="5896134"/>
            <a:ext cx="83058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search-index</a:t>
            </a:r>
            <a:endParaRPr lang="en-US" sz="825" dirty="0"/>
          </a:p>
        </p:txBody>
      </p:sp>
      <p:sp>
        <p:nvSpPr>
          <p:cNvPr id="120" name="Text 101"/>
          <p:cNvSpPr/>
          <p:nvPr/>
        </p:nvSpPr>
        <p:spPr>
          <a:xfrm>
            <a:off x="4754880" y="5896134"/>
            <a:ext cx="1390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21" name="Text 102"/>
          <p:cNvSpPr/>
          <p:nvPr/>
        </p:nvSpPr>
        <p:spPr>
          <a:xfrm>
            <a:off x="4893945" y="5896134"/>
            <a:ext cx="101917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detected5h ago</a:t>
            </a:r>
            <a:endParaRPr lang="en-US" sz="825" dirty="0"/>
          </a:p>
        </p:txBody>
      </p:sp>
      <p:sp>
        <p:nvSpPr>
          <p:cNvPr id="122" name="Shape 103"/>
          <p:cNvSpPr/>
          <p:nvPr/>
        </p:nvSpPr>
        <p:spPr>
          <a:xfrm>
            <a:off x="11639550" y="5631815"/>
            <a:ext cx="476250" cy="276225"/>
          </a:xfrm>
          <a:prstGeom prst="roundRect">
            <a:avLst>
              <a:gd name="adj" fmla="val 13793"/>
            </a:avLst>
          </a:prstGeom>
          <a:solidFill>
            <a:srgbClr val="E0246F">
              <a:alpha val="10000"/>
            </a:srgbClr>
          </a:solidFill>
          <a:ln w="9525">
            <a:solidFill>
              <a:srgbClr val="E0246F">
                <a:alpha val="40000"/>
              </a:srgbClr>
            </a:solidFill>
            <a:prstDash val="solid"/>
          </a:ln>
        </p:spPr>
      </p:sp>
      <p:sp>
        <p:nvSpPr>
          <p:cNvPr id="123" name="Text 104"/>
          <p:cNvSpPr/>
          <p:nvPr/>
        </p:nvSpPr>
        <p:spPr>
          <a:xfrm>
            <a:off x="11744325" y="5698490"/>
            <a:ext cx="3429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endParaRPr lang="en-US" sz="750" dirty="0"/>
          </a:p>
        </p:txBody>
      </p:sp>
      <p:sp>
        <p:nvSpPr>
          <p:cNvPr id="124" name="Shape 105"/>
          <p:cNvSpPr/>
          <p:nvPr/>
        </p:nvSpPr>
        <p:spPr>
          <a:xfrm>
            <a:off x="2828925" y="6348571"/>
            <a:ext cx="4586288" cy="762000"/>
          </a:xfrm>
          <a:prstGeom prst="roundRect">
            <a:avLst>
              <a:gd name="adj" fmla="val 10000"/>
            </a:avLst>
          </a:prstGeom>
          <a:solidFill>
            <a:srgbClr val="22B85C">
              <a:alpha val="5000"/>
            </a:srgbClr>
          </a:solidFill>
          <a:ln w="9525">
            <a:solidFill>
              <a:srgbClr val="22B85C">
                <a:alpha val="30000"/>
              </a:srgbClr>
            </a:solidFill>
            <a:prstDash val="solid"/>
          </a:ln>
        </p:spPr>
      </p:sp>
      <p:sp>
        <p:nvSpPr>
          <p:cNvPr id="125" name="Text 106"/>
          <p:cNvSpPr/>
          <p:nvPr/>
        </p:nvSpPr>
        <p:spPr>
          <a:xfrm>
            <a:off x="2971800" y="6475888"/>
            <a:ext cx="12098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WINNING VERSION</a:t>
            </a:r>
            <a:endParaRPr lang="en-US" sz="750" dirty="0"/>
          </a:p>
        </p:txBody>
      </p:sp>
      <p:sp>
        <p:nvSpPr>
          <p:cNvPr id="126" name="Text 107"/>
          <p:cNvSpPr/>
          <p:nvPr/>
        </p:nvSpPr>
        <p:spPr>
          <a:xfrm>
            <a:off x="6972300" y="6472396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rev2</a:t>
            </a:r>
            <a:endParaRPr lang="en-US" sz="788" dirty="0"/>
          </a:p>
        </p:txBody>
      </p:sp>
      <p:sp>
        <p:nvSpPr>
          <p:cNvPr id="127" name="Shape 108"/>
          <p:cNvSpPr/>
          <p:nvPr/>
        </p:nvSpPr>
        <p:spPr>
          <a:xfrm>
            <a:off x="2971800" y="6728301"/>
            <a:ext cx="209550" cy="2095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128" name="Text 109"/>
          <p:cNvSpPr/>
          <p:nvPr/>
        </p:nvSpPr>
        <p:spPr>
          <a:xfrm>
            <a:off x="3033871" y="6797357"/>
            <a:ext cx="161608" cy="109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45"/>
              </a:lnSpc>
              <a:buNone/>
            </a:pPr>
            <a:r>
              <a:rPr lang="en-US" sz="561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561" dirty="0"/>
          </a:p>
        </p:txBody>
      </p:sp>
      <p:sp>
        <p:nvSpPr>
          <p:cNvPr id="129" name="Text 110"/>
          <p:cNvSpPr/>
          <p:nvPr/>
        </p:nvSpPr>
        <p:spPr>
          <a:xfrm>
            <a:off x="3257550" y="6679565"/>
            <a:ext cx="60198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30" name="Text 111"/>
          <p:cNvSpPr/>
          <p:nvPr/>
        </p:nvSpPr>
        <p:spPr>
          <a:xfrm>
            <a:off x="3257550" y="6843871"/>
            <a:ext cx="6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5h ago</a:t>
            </a:r>
            <a:endParaRPr lang="en-US" sz="750" dirty="0"/>
          </a:p>
        </p:txBody>
      </p:sp>
      <p:sp>
        <p:nvSpPr>
          <p:cNvPr id="131" name="Shape 112"/>
          <p:cNvSpPr/>
          <p:nvPr/>
        </p:nvSpPr>
        <p:spPr>
          <a:xfrm>
            <a:off x="7529513" y="6348571"/>
            <a:ext cx="4586288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5000"/>
            </a:srgbClr>
          </a:solidFill>
          <a:ln w="9525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32" name="Text 113"/>
          <p:cNvSpPr/>
          <p:nvPr/>
        </p:nvSpPr>
        <p:spPr>
          <a:xfrm>
            <a:off x="7672388" y="6475888"/>
            <a:ext cx="11431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F1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LOSING VERSION</a:t>
            </a:r>
            <a:endParaRPr lang="en-US" sz="750" dirty="0"/>
          </a:p>
        </p:txBody>
      </p:sp>
      <p:sp>
        <p:nvSpPr>
          <p:cNvPr id="133" name="Text 114"/>
          <p:cNvSpPr/>
          <p:nvPr/>
        </p:nvSpPr>
        <p:spPr>
          <a:xfrm>
            <a:off x="11672888" y="6472396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rev2</a:t>
            </a:r>
            <a:endParaRPr lang="en-US" sz="788" dirty="0"/>
          </a:p>
        </p:txBody>
      </p:sp>
      <p:sp>
        <p:nvSpPr>
          <p:cNvPr id="134" name="Shape 115"/>
          <p:cNvSpPr/>
          <p:nvPr/>
        </p:nvSpPr>
        <p:spPr>
          <a:xfrm>
            <a:off x="7672388" y="6728301"/>
            <a:ext cx="209550" cy="20955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135" name="Text 116"/>
          <p:cNvSpPr/>
          <p:nvPr/>
        </p:nvSpPr>
        <p:spPr>
          <a:xfrm>
            <a:off x="7734459" y="6797357"/>
            <a:ext cx="161608" cy="109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45"/>
              </a:lnSpc>
              <a:buNone/>
            </a:pPr>
            <a:r>
              <a:rPr lang="en-US" sz="561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561" dirty="0"/>
          </a:p>
        </p:txBody>
      </p:sp>
      <p:sp>
        <p:nvSpPr>
          <p:cNvPr id="136" name="Text 117"/>
          <p:cNvSpPr/>
          <p:nvPr/>
        </p:nvSpPr>
        <p:spPr>
          <a:xfrm>
            <a:off x="7958138" y="6679565"/>
            <a:ext cx="60198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</a:t>
            </a:r>
            <a:endParaRPr lang="en-US" sz="863" dirty="0"/>
          </a:p>
        </p:txBody>
      </p:sp>
      <p:sp>
        <p:nvSpPr>
          <p:cNvPr id="137" name="Text 118"/>
          <p:cNvSpPr/>
          <p:nvPr/>
        </p:nvSpPr>
        <p:spPr>
          <a:xfrm>
            <a:off x="7958138" y="6843871"/>
            <a:ext cx="6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6h ago</a:t>
            </a:r>
            <a:endParaRPr lang="en-US" sz="750" dirty="0"/>
          </a:p>
        </p:txBody>
      </p:sp>
      <p:sp>
        <p:nvSpPr>
          <p:cNvPr id="138" name="Text 119"/>
          <p:cNvSpPr/>
          <p:nvPr/>
        </p:nvSpPr>
        <p:spPr>
          <a:xfrm>
            <a:off x="2828925" y="7262971"/>
            <a:ext cx="95654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6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DIFF · LOSING → WINNING</a:t>
            </a:r>
            <a:endParaRPr lang="en-US" sz="825" dirty="0"/>
          </a:p>
        </p:txBody>
      </p:sp>
      <p:sp>
        <p:nvSpPr>
          <p:cNvPr id="139" name="Shape 120"/>
          <p:cNvSpPr/>
          <p:nvPr/>
        </p:nvSpPr>
        <p:spPr>
          <a:xfrm>
            <a:off x="2828925" y="7515384"/>
            <a:ext cx="4586288" cy="1015682"/>
          </a:xfrm>
          <a:prstGeom prst="roundRect">
            <a:avLst>
              <a:gd name="adj" fmla="val 7502"/>
            </a:avLst>
          </a:prstGeom>
          <a:ln w="9525">
            <a:solidFill>
              <a:srgbClr val="1C2532"/>
            </a:solidFill>
            <a:prstDash val="solid"/>
          </a:ln>
        </p:spPr>
      </p:sp>
      <p:sp>
        <p:nvSpPr>
          <p:cNvPr id="140" name="Shape 121"/>
          <p:cNvSpPr/>
          <p:nvPr/>
        </p:nvSpPr>
        <p:spPr>
          <a:xfrm>
            <a:off x="2838450" y="7524909"/>
            <a:ext cx="4567238" cy="342900"/>
          </a:xfrm>
          <a:prstGeom prst="rect">
            <a:avLst/>
          </a:prstGeom>
          <a:solidFill>
            <a:srgbClr val="0D1320">
              <a:alpha val="50000"/>
            </a:srgbClr>
          </a:solidFill>
          <a:ln/>
        </p:spPr>
      </p:sp>
      <p:sp>
        <p:nvSpPr>
          <p:cNvPr id="141" name="Shape 122"/>
          <p:cNvSpPr/>
          <p:nvPr/>
        </p:nvSpPr>
        <p:spPr>
          <a:xfrm>
            <a:off x="2838450" y="7858284"/>
            <a:ext cx="4567238" cy="9525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142" name="Text 123"/>
          <p:cNvSpPr/>
          <p:nvPr/>
        </p:nvSpPr>
        <p:spPr>
          <a:xfrm>
            <a:off x="2952750" y="7616507"/>
            <a:ext cx="1266349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LOSING · K.MENSAH</a:t>
            </a:r>
            <a:endParaRPr lang="en-US" sz="788" dirty="0"/>
          </a:p>
        </p:txBody>
      </p:sp>
      <p:sp>
        <p:nvSpPr>
          <p:cNvPr id="143" name="Text 124"/>
          <p:cNvSpPr/>
          <p:nvPr/>
        </p:nvSpPr>
        <p:spPr>
          <a:xfrm>
            <a:off x="6991350" y="7616507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2</a:t>
            </a:r>
            <a:endParaRPr lang="en-US" sz="788" dirty="0"/>
          </a:p>
        </p:txBody>
      </p:sp>
      <p:sp>
        <p:nvSpPr>
          <p:cNvPr id="144" name="Shape 125"/>
          <p:cNvSpPr/>
          <p:nvPr/>
        </p:nvSpPr>
        <p:spPr>
          <a:xfrm>
            <a:off x="2838450" y="7867809"/>
            <a:ext cx="4567238" cy="653732"/>
          </a:xfrm>
          <a:prstGeom prst="rect">
            <a:avLst/>
          </a:prstGeom>
          <a:solidFill>
            <a:srgbClr val="070A10">
              <a:alpha val="50000"/>
            </a:srgbClr>
          </a:solidFill>
          <a:ln/>
        </p:spPr>
      </p:sp>
      <p:sp>
        <p:nvSpPr>
          <p:cNvPr id="145" name="Text 126"/>
          <p:cNvSpPr/>
          <p:nvPr/>
        </p:nvSpPr>
        <p:spPr>
          <a:xfrm>
            <a:off x="2971800" y="8001159"/>
            <a:ext cx="4437555" cy="425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F1A6A6"/>
                </a:solidFill>
                <a:highlight>
                  <a:srgbClr val="EF444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ef_search=128 for maximum recall. Latency cost is acceptable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our query mix.</a:t>
            </a:r>
            <a:endParaRPr lang="en-US" sz="938" dirty="0"/>
          </a:p>
        </p:txBody>
      </p:sp>
      <p:sp>
        <p:nvSpPr>
          <p:cNvPr id="146" name="Shape 127"/>
          <p:cNvSpPr/>
          <p:nvPr/>
        </p:nvSpPr>
        <p:spPr>
          <a:xfrm>
            <a:off x="7529513" y="7515384"/>
            <a:ext cx="4586288" cy="1015682"/>
          </a:xfrm>
          <a:prstGeom prst="roundRect">
            <a:avLst>
              <a:gd name="adj" fmla="val 7502"/>
            </a:avLst>
          </a:prstGeom>
          <a:ln w="9525">
            <a:solidFill>
              <a:srgbClr val="1C2532"/>
            </a:solidFill>
            <a:prstDash val="solid"/>
          </a:ln>
        </p:spPr>
      </p:sp>
      <p:sp>
        <p:nvSpPr>
          <p:cNvPr id="147" name="Shape 128"/>
          <p:cNvSpPr/>
          <p:nvPr/>
        </p:nvSpPr>
        <p:spPr>
          <a:xfrm>
            <a:off x="7539037" y="7524909"/>
            <a:ext cx="4567238" cy="342900"/>
          </a:xfrm>
          <a:prstGeom prst="rect">
            <a:avLst/>
          </a:prstGeom>
          <a:solidFill>
            <a:srgbClr val="0D1320">
              <a:alpha val="50000"/>
            </a:srgbClr>
          </a:solidFill>
          <a:ln/>
        </p:spPr>
      </p:sp>
      <p:sp>
        <p:nvSpPr>
          <p:cNvPr id="148" name="Shape 129"/>
          <p:cNvSpPr/>
          <p:nvPr/>
        </p:nvSpPr>
        <p:spPr>
          <a:xfrm>
            <a:off x="7539037" y="7858284"/>
            <a:ext cx="4567238" cy="9525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149" name="Text 130"/>
          <p:cNvSpPr/>
          <p:nvPr/>
        </p:nvSpPr>
        <p:spPr>
          <a:xfrm>
            <a:off x="7653337" y="761650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WINNING · A.OKAFOR</a:t>
            </a:r>
            <a:endParaRPr lang="en-US" sz="788" dirty="0"/>
          </a:p>
        </p:txBody>
      </p:sp>
      <p:sp>
        <p:nvSpPr>
          <p:cNvPr id="150" name="Text 131"/>
          <p:cNvSpPr/>
          <p:nvPr/>
        </p:nvSpPr>
        <p:spPr>
          <a:xfrm>
            <a:off x="11691938" y="7616507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2</a:t>
            </a:r>
            <a:endParaRPr lang="en-US" sz="788" dirty="0"/>
          </a:p>
        </p:txBody>
      </p:sp>
      <p:sp>
        <p:nvSpPr>
          <p:cNvPr id="151" name="Shape 132"/>
          <p:cNvSpPr/>
          <p:nvPr/>
        </p:nvSpPr>
        <p:spPr>
          <a:xfrm>
            <a:off x="7539037" y="7867809"/>
            <a:ext cx="4567238" cy="653732"/>
          </a:xfrm>
          <a:prstGeom prst="rect">
            <a:avLst/>
          </a:prstGeom>
          <a:solidFill>
            <a:srgbClr val="070A10">
              <a:alpha val="50000"/>
            </a:srgbClr>
          </a:solidFill>
          <a:ln/>
        </p:spPr>
      </p:sp>
      <p:sp>
        <p:nvSpPr>
          <p:cNvPr id="152" name="Text 133"/>
          <p:cNvSpPr/>
          <p:nvPr/>
        </p:nvSpPr>
        <p:spPr>
          <a:xfrm>
            <a:off x="7672388" y="8001159"/>
            <a:ext cx="4437555" cy="425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8FE3AC"/>
                </a:solidFill>
                <a:highlight>
                  <a:srgbClr val="22B85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ef_search=64 hits the knee of the recall/latency curve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our query mix.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8FE3AC"/>
                </a:solidFill>
                <a:highlight>
                  <a:srgbClr val="22B85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 gains &lt;1% recall at 2x latency.</a:t>
            </a:r>
            <a:endParaRPr lang="en-US" sz="938" dirty="0"/>
          </a:p>
        </p:txBody>
      </p:sp>
      <p:sp>
        <p:nvSpPr>
          <p:cNvPr id="153" name="Shape 134"/>
          <p:cNvSpPr/>
          <p:nvPr/>
        </p:nvSpPr>
        <p:spPr>
          <a:xfrm>
            <a:off x="10214451" y="8683466"/>
            <a:ext cx="1901349" cy="335756"/>
          </a:xfrm>
          <a:prstGeom prst="roundRect">
            <a:avLst>
              <a:gd name="adj" fmla="val 22695"/>
            </a:avLst>
          </a:prstGeom>
          <a:solidFill>
            <a:srgbClr val="E0A22E">
              <a:alpha val="10000"/>
            </a:srgbClr>
          </a:solidFill>
          <a:ln w="9525">
            <a:solidFill>
              <a:srgbClr val="E0A22E">
                <a:alpha val="50000"/>
              </a:srgbClr>
            </a:solidFill>
            <a:prstDash val="solid"/>
          </a:ln>
        </p:spPr>
      </p:sp>
      <p:sp>
        <p:nvSpPr>
          <p:cNvPr id="154" name="Text 135"/>
          <p:cNvSpPr/>
          <p:nvPr/>
        </p:nvSpPr>
        <p:spPr>
          <a:xfrm>
            <a:off x="10338276" y="8769191"/>
            <a:ext cx="165369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↺ restore losing version</a:t>
            </a:r>
            <a:endParaRPr lang="en-US" sz="863" dirty="0"/>
          </a:p>
        </p:txBody>
      </p:sp>
      <p:sp>
        <p:nvSpPr>
          <p:cNvPr id="155" name="Text 136"/>
          <p:cNvSpPr/>
          <p:nvPr/>
        </p:nvSpPr>
        <p:spPr>
          <a:xfrm>
            <a:off x="2628900" y="9447848"/>
            <a:ext cx="69596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16" kern="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825" dirty="0"/>
          </a:p>
        </p:txBody>
      </p:sp>
      <p:sp>
        <p:nvSpPr>
          <p:cNvPr id="156" name="Shape 137"/>
          <p:cNvSpPr/>
          <p:nvPr/>
        </p:nvSpPr>
        <p:spPr>
          <a:xfrm>
            <a:off x="3362960" y="9521666"/>
            <a:ext cx="8952865" cy="9525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57" name="Shape 138"/>
          <p:cNvSpPr/>
          <p:nvPr/>
        </p:nvSpPr>
        <p:spPr>
          <a:xfrm>
            <a:off x="2628900" y="9795510"/>
            <a:ext cx="9686925" cy="3204052"/>
          </a:xfrm>
          <a:prstGeom prst="roundRect">
            <a:avLst>
              <a:gd name="adj" fmla="val 3567"/>
            </a:avLst>
          </a:prstGeom>
          <a:solidFill>
            <a:srgbClr val="0B0F18">
              <a:alpha val="55000"/>
            </a:srgbClr>
          </a:solidFill>
          <a:ln w="9525">
            <a:solidFill>
              <a:srgbClr val="1E2735"/>
            </a:solidFill>
            <a:prstDash val="solid"/>
          </a:ln>
        </p:spPr>
      </p:sp>
      <p:sp>
        <p:nvSpPr>
          <p:cNvPr id="158" name="Shape 139"/>
          <p:cNvSpPr/>
          <p:nvPr/>
        </p:nvSpPr>
        <p:spPr>
          <a:xfrm>
            <a:off x="2638425" y="10493216"/>
            <a:ext cx="9667875" cy="9525"/>
          </a:xfrm>
          <a:prstGeom prst="rect">
            <a:avLst/>
          </a:prstGeom>
          <a:solidFill>
            <a:srgbClr val="18202D"/>
          </a:solidFill>
          <a:ln/>
        </p:spPr>
      </p:sp>
      <p:sp>
        <p:nvSpPr>
          <p:cNvPr id="159" name="Shape 140"/>
          <p:cNvSpPr/>
          <p:nvPr/>
        </p:nvSpPr>
        <p:spPr>
          <a:xfrm>
            <a:off x="2828925" y="10008552"/>
            <a:ext cx="66675" cy="66675"/>
          </a:xfrm>
          <a:prstGeom prst="ellipse">
            <a:avLst/>
          </a:prstGeom>
          <a:solidFill>
            <a:srgbClr val="22B85C"/>
          </a:solidFill>
          <a:ln/>
        </p:spPr>
      </p:sp>
      <p:sp>
        <p:nvSpPr>
          <p:cNvPr id="160" name="Text 141"/>
          <p:cNvSpPr/>
          <p:nvPr/>
        </p:nvSpPr>
        <p:spPr>
          <a:xfrm>
            <a:off x="2990850" y="9938385"/>
            <a:ext cx="1617821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 pool max connections</a:t>
            </a:r>
            <a:endParaRPr lang="en-US" sz="1088" dirty="0"/>
          </a:p>
        </p:txBody>
      </p:sp>
      <p:sp>
        <p:nvSpPr>
          <p:cNvPr id="161" name="Text 142"/>
          <p:cNvSpPr/>
          <p:nvPr/>
        </p:nvSpPr>
        <p:spPr>
          <a:xfrm>
            <a:off x="2790825" y="10202704"/>
            <a:ext cx="7048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store.pool</a:t>
            </a:r>
            <a:endParaRPr lang="en-US" sz="825" dirty="0"/>
          </a:p>
        </p:txBody>
      </p:sp>
      <p:sp>
        <p:nvSpPr>
          <p:cNvPr id="162" name="Text 143"/>
          <p:cNvSpPr/>
          <p:nvPr/>
        </p:nvSpPr>
        <p:spPr>
          <a:xfrm>
            <a:off x="3533775" y="10202704"/>
            <a:ext cx="1390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63" name="Text 144"/>
          <p:cNvSpPr/>
          <p:nvPr/>
        </p:nvSpPr>
        <p:spPr>
          <a:xfrm>
            <a:off x="3672840" y="10202704"/>
            <a:ext cx="57912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core-api</a:t>
            </a:r>
            <a:endParaRPr lang="en-US" sz="825" dirty="0"/>
          </a:p>
        </p:txBody>
      </p:sp>
      <p:sp>
        <p:nvSpPr>
          <p:cNvPr id="164" name="Text 145"/>
          <p:cNvSpPr/>
          <p:nvPr/>
        </p:nvSpPr>
        <p:spPr>
          <a:xfrm>
            <a:off x="4251960" y="10202704"/>
            <a:ext cx="1390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2A33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25" dirty="0"/>
          </a:p>
        </p:txBody>
      </p:sp>
      <p:sp>
        <p:nvSpPr>
          <p:cNvPr id="165" name="Text 146"/>
          <p:cNvSpPr/>
          <p:nvPr/>
        </p:nvSpPr>
        <p:spPr>
          <a:xfrm>
            <a:off x="4391025" y="10202704"/>
            <a:ext cx="10820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detected21h ago</a:t>
            </a:r>
            <a:endParaRPr lang="en-US" sz="825" dirty="0"/>
          </a:p>
        </p:txBody>
      </p:sp>
      <p:sp>
        <p:nvSpPr>
          <p:cNvPr id="166" name="Shape 147"/>
          <p:cNvSpPr/>
          <p:nvPr/>
        </p:nvSpPr>
        <p:spPr>
          <a:xfrm>
            <a:off x="11372850" y="9938385"/>
            <a:ext cx="742950" cy="276225"/>
          </a:xfrm>
          <a:prstGeom prst="roundRect">
            <a:avLst>
              <a:gd name="adj" fmla="val 13793"/>
            </a:avLst>
          </a:prstGeom>
          <a:solidFill>
            <a:srgbClr val="22B85C">
              <a:alpha val="10000"/>
            </a:srgbClr>
          </a:solidFill>
          <a:ln w="9525">
            <a:solidFill>
              <a:srgbClr val="22B85C">
                <a:alpha val="40000"/>
              </a:srgbClr>
            </a:solidFill>
            <a:prstDash val="solid"/>
          </a:ln>
        </p:spPr>
      </p:sp>
      <p:sp>
        <p:nvSpPr>
          <p:cNvPr id="167" name="Text 148"/>
          <p:cNvSpPr/>
          <p:nvPr/>
        </p:nvSpPr>
        <p:spPr>
          <a:xfrm>
            <a:off x="11477625" y="10005060"/>
            <a:ext cx="6096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750" dirty="0"/>
          </a:p>
        </p:txBody>
      </p:sp>
      <p:sp>
        <p:nvSpPr>
          <p:cNvPr id="168" name="Shape 149"/>
          <p:cNvSpPr/>
          <p:nvPr/>
        </p:nvSpPr>
        <p:spPr>
          <a:xfrm>
            <a:off x="2828925" y="10655141"/>
            <a:ext cx="4586288" cy="762000"/>
          </a:xfrm>
          <a:prstGeom prst="roundRect">
            <a:avLst>
              <a:gd name="adj" fmla="val 10000"/>
            </a:avLst>
          </a:prstGeom>
          <a:solidFill>
            <a:srgbClr val="22B85C">
              <a:alpha val="5000"/>
            </a:srgbClr>
          </a:solidFill>
          <a:ln w="9525">
            <a:solidFill>
              <a:srgbClr val="22B85C">
                <a:alpha val="30000"/>
              </a:srgbClr>
            </a:solidFill>
            <a:prstDash val="solid"/>
          </a:ln>
        </p:spPr>
      </p:sp>
      <p:sp>
        <p:nvSpPr>
          <p:cNvPr id="169" name="Text 150"/>
          <p:cNvSpPr/>
          <p:nvPr/>
        </p:nvSpPr>
        <p:spPr>
          <a:xfrm>
            <a:off x="2971800" y="10782458"/>
            <a:ext cx="12098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5FD0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WINNING VERSION</a:t>
            </a:r>
            <a:endParaRPr lang="en-US" sz="750" dirty="0"/>
          </a:p>
        </p:txBody>
      </p:sp>
      <p:sp>
        <p:nvSpPr>
          <p:cNvPr id="170" name="Text 151"/>
          <p:cNvSpPr/>
          <p:nvPr/>
        </p:nvSpPr>
        <p:spPr>
          <a:xfrm>
            <a:off x="6972300" y="10778966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rev2</a:t>
            </a:r>
            <a:endParaRPr lang="en-US" sz="788" dirty="0"/>
          </a:p>
        </p:txBody>
      </p:sp>
      <p:sp>
        <p:nvSpPr>
          <p:cNvPr id="171" name="Shape 152"/>
          <p:cNvSpPr/>
          <p:nvPr/>
        </p:nvSpPr>
        <p:spPr>
          <a:xfrm>
            <a:off x="2971800" y="11034871"/>
            <a:ext cx="209550" cy="20955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172" name="Text 153"/>
          <p:cNvSpPr/>
          <p:nvPr/>
        </p:nvSpPr>
        <p:spPr>
          <a:xfrm>
            <a:off x="3033871" y="11103927"/>
            <a:ext cx="161608" cy="109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45"/>
              </a:lnSpc>
              <a:buNone/>
            </a:pPr>
            <a:r>
              <a:rPr lang="en-US" sz="561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561" dirty="0"/>
          </a:p>
        </p:txBody>
      </p:sp>
      <p:sp>
        <p:nvSpPr>
          <p:cNvPr id="173" name="Text 154"/>
          <p:cNvSpPr/>
          <p:nvPr/>
        </p:nvSpPr>
        <p:spPr>
          <a:xfrm>
            <a:off x="3257550" y="10986135"/>
            <a:ext cx="60198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</a:t>
            </a:r>
            <a:endParaRPr lang="en-US" sz="863" dirty="0"/>
          </a:p>
        </p:txBody>
      </p:sp>
      <p:sp>
        <p:nvSpPr>
          <p:cNvPr id="174" name="Text 155"/>
          <p:cNvSpPr/>
          <p:nvPr/>
        </p:nvSpPr>
        <p:spPr>
          <a:xfrm>
            <a:off x="3257550" y="11150441"/>
            <a:ext cx="6019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20h ago</a:t>
            </a:r>
            <a:endParaRPr lang="en-US" sz="750" dirty="0"/>
          </a:p>
        </p:txBody>
      </p:sp>
      <p:sp>
        <p:nvSpPr>
          <p:cNvPr id="175" name="Shape 156"/>
          <p:cNvSpPr/>
          <p:nvPr/>
        </p:nvSpPr>
        <p:spPr>
          <a:xfrm>
            <a:off x="7529513" y="10655141"/>
            <a:ext cx="4586288" cy="762000"/>
          </a:xfrm>
          <a:prstGeom prst="roundRect">
            <a:avLst>
              <a:gd name="adj" fmla="val 10000"/>
            </a:avLst>
          </a:prstGeom>
          <a:solidFill>
            <a:srgbClr val="EF4444">
              <a:alpha val="5000"/>
            </a:srgbClr>
          </a:solidFill>
          <a:ln w="9525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176" name="Text 157"/>
          <p:cNvSpPr/>
          <p:nvPr/>
        </p:nvSpPr>
        <p:spPr>
          <a:xfrm>
            <a:off x="7672388" y="10782458"/>
            <a:ext cx="11431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75" kern="0" dirty="0">
                <a:solidFill>
                  <a:srgbClr val="F1A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 LOSING VERSION</a:t>
            </a:r>
            <a:endParaRPr lang="en-US" sz="750" dirty="0"/>
          </a:p>
        </p:txBody>
      </p:sp>
      <p:sp>
        <p:nvSpPr>
          <p:cNvPr id="177" name="Text 158"/>
          <p:cNvSpPr/>
          <p:nvPr/>
        </p:nvSpPr>
        <p:spPr>
          <a:xfrm>
            <a:off x="11672888" y="10778966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rev2</a:t>
            </a:r>
            <a:endParaRPr lang="en-US" sz="788" dirty="0"/>
          </a:p>
        </p:txBody>
      </p:sp>
      <p:sp>
        <p:nvSpPr>
          <p:cNvPr id="178" name="Shape 159"/>
          <p:cNvSpPr/>
          <p:nvPr/>
        </p:nvSpPr>
        <p:spPr>
          <a:xfrm>
            <a:off x="7672388" y="11034871"/>
            <a:ext cx="209550" cy="20955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179" name="Text 160"/>
          <p:cNvSpPr/>
          <p:nvPr/>
        </p:nvSpPr>
        <p:spPr>
          <a:xfrm>
            <a:off x="7734459" y="11103927"/>
            <a:ext cx="161608" cy="109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45"/>
              </a:lnSpc>
              <a:buNone/>
            </a:pPr>
            <a:r>
              <a:rPr lang="en-US" sz="561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561" dirty="0"/>
          </a:p>
        </p:txBody>
      </p:sp>
      <p:sp>
        <p:nvSpPr>
          <p:cNvPr id="180" name="Text 161"/>
          <p:cNvSpPr/>
          <p:nvPr/>
        </p:nvSpPr>
        <p:spPr>
          <a:xfrm>
            <a:off x="7958138" y="10986135"/>
            <a:ext cx="667703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</a:t>
            </a:r>
            <a:endParaRPr lang="en-US" sz="863" dirty="0"/>
          </a:p>
        </p:txBody>
      </p:sp>
      <p:sp>
        <p:nvSpPr>
          <p:cNvPr id="181" name="Text 162"/>
          <p:cNvSpPr/>
          <p:nvPr/>
        </p:nvSpPr>
        <p:spPr>
          <a:xfrm>
            <a:off x="7958138" y="11150441"/>
            <a:ext cx="66770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21h ago</a:t>
            </a:r>
            <a:endParaRPr lang="en-US" sz="750" dirty="0"/>
          </a:p>
        </p:txBody>
      </p:sp>
      <p:sp>
        <p:nvSpPr>
          <p:cNvPr id="182" name="Text 163"/>
          <p:cNvSpPr/>
          <p:nvPr/>
        </p:nvSpPr>
        <p:spPr>
          <a:xfrm>
            <a:off x="2828925" y="11569541"/>
            <a:ext cx="956548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spc="16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DIFF · LOSING → WINNING</a:t>
            </a:r>
            <a:endParaRPr lang="en-US" sz="825" dirty="0"/>
          </a:p>
        </p:txBody>
      </p:sp>
      <p:sp>
        <p:nvSpPr>
          <p:cNvPr id="183" name="Shape 164"/>
          <p:cNvSpPr/>
          <p:nvPr/>
        </p:nvSpPr>
        <p:spPr>
          <a:xfrm>
            <a:off x="2828925" y="11821954"/>
            <a:ext cx="4586288" cy="1015683"/>
          </a:xfrm>
          <a:prstGeom prst="roundRect">
            <a:avLst>
              <a:gd name="adj" fmla="val 7502"/>
            </a:avLst>
          </a:prstGeom>
          <a:ln w="9525">
            <a:solidFill>
              <a:srgbClr val="1C2532"/>
            </a:solidFill>
            <a:prstDash val="solid"/>
          </a:ln>
        </p:spPr>
      </p:sp>
      <p:sp>
        <p:nvSpPr>
          <p:cNvPr id="184" name="Shape 165"/>
          <p:cNvSpPr/>
          <p:nvPr/>
        </p:nvSpPr>
        <p:spPr>
          <a:xfrm>
            <a:off x="2838450" y="11831479"/>
            <a:ext cx="4567238" cy="342900"/>
          </a:xfrm>
          <a:prstGeom prst="rect">
            <a:avLst/>
          </a:prstGeom>
          <a:solidFill>
            <a:srgbClr val="0D1320">
              <a:alpha val="50000"/>
            </a:srgbClr>
          </a:solidFill>
          <a:ln/>
        </p:spPr>
      </p:sp>
      <p:sp>
        <p:nvSpPr>
          <p:cNvPr id="185" name="Shape 166"/>
          <p:cNvSpPr/>
          <p:nvPr/>
        </p:nvSpPr>
        <p:spPr>
          <a:xfrm>
            <a:off x="2838450" y="12164854"/>
            <a:ext cx="4567238" cy="9525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186" name="Text 167"/>
          <p:cNvSpPr/>
          <p:nvPr/>
        </p:nvSpPr>
        <p:spPr>
          <a:xfrm>
            <a:off x="2952750" y="1192307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LOSING · S.ABRAMOV</a:t>
            </a:r>
            <a:endParaRPr lang="en-US" sz="788" dirty="0"/>
          </a:p>
        </p:txBody>
      </p:sp>
      <p:sp>
        <p:nvSpPr>
          <p:cNvPr id="187" name="Text 168"/>
          <p:cNvSpPr/>
          <p:nvPr/>
        </p:nvSpPr>
        <p:spPr>
          <a:xfrm>
            <a:off x="6991350" y="11923077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2</a:t>
            </a:r>
            <a:endParaRPr lang="en-US" sz="788" dirty="0"/>
          </a:p>
        </p:txBody>
      </p:sp>
      <p:sp>
        <p:nvSpPr>
          <p:cNvPr id="188" name="Shape 169"/>
          <p:cNvSpPr/>
          <p:nvPr/>
        </p:nvSpPr>
        <p:spPr>
          <a:xfrm>
            <a:off x="2838450" y="12174379"/>
            <a:ext cx="4567238" cy="460216"/>
          </a:xfrm>
          <a:prstGeom prst="rect">
            <a:avLst/>
          </a:prstGeom>
          <a:solidFill>
            <a:srgbClr val="070A10">
              <a:alpha val="50000"/>
            </a:srgbClr>
          </a:solidFill>
          <a:ln/>
        </p:spPr>
      </p:sp>
      <p:sp>
        <p:nvSpPr>
          <p:cNvPr id="189" name="Text 170"/>
          <p:cNvSpPr/>
          <p:nvPr/>
        </p:nvSpPr>
        <p:spPr>
          <a:xfrm>
            <a:off x="2971800" y="12307729"/>
            <a:ext cx="4437555" cy="231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F1A6A6"/>
                </a:solidFill>
                <a:highlight>
                  <a:srgbClr val="EF444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Raised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max_conns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F1A6A6"/>
                </a:solidFill>
                <a:highlight>
                  <a:srgbClr val="EF444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50 to absorb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F1A6A6"/>
                </a:solidFill>
                <a:highlight>
                  <a:srgbClr val="EF4444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bursts.</a:t>
            </a:r>
            <a:endParaRPr lang="en-US" sz="938" dirty="0"/>
          </a:p>
        </p:txBody>
      </p:sp>
      <p:sp>
        <p:nvSpPr>
          <p:cNvPr id="190" name="Shape 171"/>
          <p:cNvSpPr/>
          <p:nvPr/>
        </p:nvSpPr>
        <p:spPr>
          <a:xfrm>
            <a:off x="7529513" y="11821954"/>
            <a:ext cx="4586288" cy="1015683"/>
          </a:xfrm>
          <a:prstGeom prst="roundRect">
            <a:avLst>
              <a:gd name="adj" fmla="val 7502"/>
            </a:avLst>
          </a:prstGeom>
          <a:ln w="9525">
            <a:solidFill>
              <a:srgbClr val="1C2532"/>
            </a:solidFill>
            <a:prstDash val="solid"/>
          </a:ln>
        </p:spPr>
      </p:sp>
      <p:sp>
        <p:nvSpPr>
          <p:cNvPr id="191" name="Shape 172"/>
          <p:cNvSpPr/>
          <p:nvPr/>
        </p:nvSpPr>
        <p:spPr>
          <a:xfrm>
            <a:off x="7539037" y="11831479"/>
            <a:ext cx="4567238" cy="342900"/>
          </a:xfrm>
          <a:prstGeom prst="rect">
            <a:avLst/>
          </a:prstGeom>
          <a:solidFill>
            <a:srgbClr val="0D1320">
              <a:alpha val="50000"/>
            </a:srgbClr>
          </a:solidFill>
          <a:ln/>
        </p:spPr>
      </p:sp>
      <p:sp>
        <p:nvSpPr>
          <p:cNvPr id="192" name="Shape 173"/>
          <p:cNvSpPr/>
          <p:nvPr/>
        </p:nvSpPr>
        <p:spPr>
          <a:xfrm>
            <a:off x="7539037" y="12164854"/>
            <a:ext cx="4567238" cy="9525"/>
          </a:xfrm>
          <a:prstGeom prst="rect">
            <a:avLst/>
          </a:prstGeom>
          <a:solidFill>
            <a:srgbClr val="1C2532"/>
          </a:solidFill>
          <a:ln/>
        </p:spPr>
      </p:sp>
      <p:sp>
        <p:nvSpPr>
          <p:cNvPr id="193" name="Text 174"/>
          <p:cNvSpPr/>
          <p:nvPr/>
        </p:nvSpPr>
        <p:spPr>
          <a:xfrm>
            <a:off x="7653337" y="1192307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spc="79" kern="0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WINNING · A.OKAFOR</a:t>
            </a:r>
            <a:endParaRPr lang="en-US" sz="788" dirty="0"/>
          </a:p>
        </p:txBody>
      </p:sp>
      <p:sp>
        <p:nvSpPr>
          <p:cNvPr id="194" name="Text 175"/>
          <p:cNvSpPr/>
          <p:nvPr/>
        </p:nvSpPr>
        <p:spPr>
          <a:xfrm>
            <a:off x="11691938" y="11923077"/>
            <a:ext cx="37623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2</a:t>
            </a:r>
            <a:endParaRPr lang="en-US" sz="788" dirty="0"/>
          </a:p>
        </p:txBody>
      </p:sp>
      <p:sp>
        <p:nvSpPr>
          <p:cNvPr id="195" name="Shape 176"/>
          <p:cNvSpPr/>
          <p:nvPr/>
        </p:nvSpPr>
        <p:spPr>
          <a:xfrm>
            <a:off x="7539037" y="12174379"/>
            <a:ext cx="4567238" cy="653733"/>
          </a:xfrm>
          <a:prstGeom prst="rect">
            <a:avLst/>
          </a:prstGeom>
          <a:solidFill>
            <a:srgbClr val="070A10">
              <a:alpha val="50000"/>
            </a:srgbClr>
          </a:solidFill>
          <a:ln/>
        </p:spPr>
      </p:sp>
      <p:sp>
        <p:nvSpPr>
          <p:cNvPr id="196" name="Text 177"/>
          <p:cNvSpPr/>
          <p:nvPr/>
        </p:nvSpPr>
        <p:spPr>
          <a:xfrm>
            <a:off x="7672388" y="12307729"/>
            <a:ext cx="4437555" cy="425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8FE3AC"/>
                </a:solidFill>
                <a:highlight>
                  <a:srgbClr val="22B85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Capped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max_conns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8FE3AC"/>
                </a:solidFill>
                <a:highlight>
                  <a:srgbClr val="22B85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20 with a 2s acquire timeout;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E6EDF3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 </a:t>
            </a:r>
            <a:pPr algn="l" indent="0" marL="0">
              <a:lnSpc>
                <a:spcPct val="162534"/>
              </a:lnSpc>
              <a:buNone/>
            </a:pPr>
            <a:r>
              <a:rPr lang="en-US" sz="938" dirty="0">
                <a:solidFill>
                  <a:srgbClr val="8FE3AC"/>
                </a:solidFill>
                <a:highlight>
                  <a:srgbClr val="22B85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queues instead of opening new conns.</a:t>
            </a:r>
            <a:endParaRPr lang="en-US" sz="938" dirty="0"/>
          </a:p>
        </p:txBody>
      </p:sp>
      <p:sp>
        <p:nvSpPr>
          <p:cNvPr id="197" name="Shape 178"/>
          <p:cNvSpPr/>
          <p:nvPr/>
        </p:nvSpPr>
        <p:spPr>
          <a:xfrm>
            <a:off x="12582525" y="0"/>
            <a:ext cx="3695700" cy="9382125"/>
          </a:xfrm>
          <a:prstGeom prst="rect">
            <a:avLst/>
          </a:prstGeom>
          <a:solidFill>
            <a:srgbClr val="0A0E16"/>
          </a:solidFill>
          <a:ln/>
        </p:spPr>
      </p:sp>
      <p:sp>
        <p:nvSpPr>
          <p:cNvPr id="198" name="Shape 179"/>
          <p:cNvSpPr/>
          <p:nvPr/>
        </p:nvSpPr>
        <p:spPr>
          <a:xfrm>
            <a:off x="12582525" y="0"/>
            <a:ext cx="9525" cy="9382125"/>
          </a:xfrm>
          <a:prstGeom prst="rect">
            <a:avLst/>
          </a:prstGeom>
          <a:solidFill>
            <a:srgbClr val="1E2735"/>
          </a:solidFill>
          <a:ln/>
        </p:spPr>
      </p:sp>
      <p:sp>
        <p:nvSpPr>
          <p:cNvPr id="199" name="Shape 180"/>
          <p:cNvSpPr/>
          <p:nvPr/>
        </p:nvSpPr>
        <p:spPr>
          <a:xfrm>
            <a:off x="12592050" y="600075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00" name="Text 181"/>
          <p:cNvSpPr/>
          <p:nvPr/>
        </p:nvSpPr>
        <p:spPr>
          <a:xfrm>
            <a:off x="12782550" y="114300"/>
            <a:ext cx="1873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150" kern="0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750" dirty="0"/>
          </a:p>
        </p:txBody>
      </p:sp>
      <p:sp>
        <p:nvSpPr>
          <p:cNvPr id="201" name="Text 182"/>
          <p:cNvSpPr/>
          <p:nvPr/>
        </p:nvSpPr>
        <p:spPr>
          <a:xfrm>
            <a:off x="12782550" y="257175"/>
            <a:ext cx="1873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b="1" spc="-12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since last visit</a:t>
            </a:r>
            <a:endParaRPr lang="en-US" sz="1200" dirty="0"/>
          </a:p>
        </p:txBody>
      </p:sp>
      <p:sp>
        <p:nvSpPr>
          <p:cNvPr id="202" name="Text 183"/>
          <p:cNvSpPr/>
          <p:nvPr/>
        </p:nvSpPr>
        <p:spPr>
          <a:xfrm>
            <a:off x="15905956" y="214313"/>
            <a:ext cx="2198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50" dirty="0"/>
          </a:p>
        </p:txBody>
      </p:sp>
      <p:sp>
        <p:nvSpPr>
          <p:cNvPr id="203" name="Shape 184"/>
          <p:cNvSpPr/>
          <p:nvPr/>
        </p:nvSpPr>
        <p:spPr>
          <a:xfrm>
            <a:off x="12592050" y="957263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04" name="Text 185"/>
          <p:cNvSpPr/>
          <p:nvPr/>
        </p:nvSpPr>
        <p:spPr>
          <a:xfrm>
            <a:off x="12782550" y="704850"/>
            <a:ext cx="12077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3unread ·7total</a:t>
            </a:r>
            <a:endParaRPr lang="en-US" sz="825" dirty="0"/>
          </a:p>
        </p:txBody>
      </p:sp>
      <p:sp>
        <p:nvSpPr>
          <p:cNvPr id="205" name="Text 186"/>
          <p:cNvSpPr/>
          <p:nvPr/>
        </p:nvSpPr>
        <p:spPr>
          <a:xfrm>
            <a:off x="15232380" y="704850"/>
            <a:ext cx="89344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 all read</a:t>
            </a:r>
            <a:endParaRPr lang="en-US" sz="825" dirty="0"/>
          </a:p>
        </p:txBody>
      </p:sp>
      <p:sp>
        <p:nvSpPr>
          <p:cNvPr id="206" name="Shape 187"/>
          <p:cNvSpPr/>
          <p:nvPr/>
        </p:nvSpPr>
        <p:spPr>
          <a:xfrm>
            <a:off x="12592050" y="966788"/>
            <a:ext cx="3686175" cy="1096486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07" name="Shape 188"/>
          <p:cNvSpPr/>
          <p:nvPr/>
        </p:nvSpPr>
        <p:spPr>
          <a:xfrm>
            <a:off x="12592050" y="205374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08" name="Shape 189"/>
          <p:cNvSpPr/>
          <p:nvPr/>
        </p:nvSpPr>
        <p:spPr>
          <a:xfrm>
            <a:off x="12782550" y="1157288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09" name="Shape 190"/>
          <p:cNvSpPr/>
          <p:nvPr/>
        </p:nvSpPr>
        <p:spPr>
          <a:xfrm>
            <a:off x="12973050" y="1100138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10" name="Text 191"/>
          <p:cNvSpPr/>
          <p:nvPr/>
        </p:nvSpPr>
        <p:spPr>
          <a:xfrm>
            <a:off x="13051949" y="1188085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11" name="Text 192"/>
          <p:cNvSpPr/>
          <p:nvPr/>
        </p:nvSpPr>
        <p:spPr>
          <a:xfrm>
            <a:off x="13354050" y="1100138"/>
            <a:ext cx="22383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owns the auth boundary, not services</a:t>
            </a:r>
            <a:endParaRPr lang="en-US" sz="938" dirty="0"/>
          </a:p>
        </p:txBody>
      </p:sp>
      <p:sp>
        <p:nvSpPr>
          <p:cNvPr id="212" name="Shape 193"/>
          <p:cNvSpPr/>
          <p:nvPr/>
        </p:nvSpPr>
        <p:spPr>
          <a:xfrm>
            <a:off x="13354050" y="1484630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13" name="Text 194"/>
          <p:cNvSpPr/>
          <p:nvPr/>
        </p:nvSpPr>
        <p:spPr>
          <a:xfrm>
            <a:off x="13430250" y="1517968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14" name="Text 195"/>
          <p:cNvSpPr/>
          <p:nvPr/>
        </p:nvSpPr>
        <p:spPr>
          <a:xfrm>
            <a:off x="13354050" y="1770380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s.abramov·auth-service</a:t>
            </a:r>
            <a:endParaRPr lang="en-US" sz="788" dirty="0"/>
          </a:p>
        </p:txBody>
      </p:sp>
      <p:sp>
        <p:nvSpPr>
          <p:cNvPr id="215" name="Text 196"/>
          <p:cNvSpPr/>
          <p:nvPr/>
        </p:nvSpPr>
        <p:spPr>
          <a:xfrm>
            <a:off x="15630525" y="1100138"/>
            <a:ext cx="533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 now</a:t>
            </a:r>
            <a:endParaRPr lang="en-US" sz="750" dirty="0"/>
          </a:p>
        </p:txBody>
      </p:sp>
      <p:sp>
        <p:nvSpPr>
          <p:cNvPr id="216" name="Shape 197"/>
          <p:cNvSpPr/>
          <p:nvPr/>
        </p:nvSpPr>
        <p:spPr>
          <a:xfrm>
            <a:off x="12592050" y="2063274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17" name="Shape 198"/>
          <p:cNvSpPr/>
          <p:nvPr/>
        </p:nvSpPr>
        <p:spPr>
          <a:xfrm>
            <a:off x="12592050" y="2924016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18" name="Shape 199"/>
          <p:cNvSpPr/>
          <p:nvPr/>
        </p:nvSpPr>
        <p:spPr>
          <a:xfrm>
            <a:off x="12782550" y="2253774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19" name="Shape 200"/>
          <p:cNvSpPr/>
          <p:nvPr/>
        </p:nvSpPr>
        <p:spPr>
          <a:xfrm>
            <a:off x="12973050" y="219662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20" name="Text 201"/>
          <p:cNvSpPr/>
          <p:nvPr/>
        </p:nvSpPr>
        <p:spPr>
          <a:xfrm>
            <a:off x="13051949" y="228457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</a:t>
            </a:r>
            <a:endParaRPr lang="en-US" sz="714" dirty="0"/>
          </a:p>
        </p:txBody>
      </p:sp>
      <p:sp>
        <p:nvSpPr>
          <p:cNvPr id="221" name="Text 202"/>
          <p:cNvSpPr/>
          <p:nvPr/>
        </p:nvSpPr>
        <p:spPr>
          <a:xfrm>
            <a:off x="13354050" y="2196624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is single-writer, replicas read-only</a:t>
            </a:r>
            <a:endParaRPr lang="en-US" sz="938" dirty="0"/>
          </a:p>
        </p:txBody>
      </p:sp>
      <p:sp>
        <p:nvSpPr>
          <p:cNvPr id="222" name="Shape 203"/>
          <p:cNvSpPr/>
          <p:nvPr/>
        </p:nvSpPr>
        <p:spPr>
          <a:xfrm>
            <a:off x="13354050" y="2581116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23" name="Text 204"/>
          <p:cNvSpPr/>
          <p:nvPr/>
        </p:nvSpPr>
        <p:spPr>
          <a:xfrm>
            <a:off x="13430250" y="2614454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24" name="Text 205"/>
          <p:cNvSpPr/>
          <p:nvPr/>
        </p:nvSpPr>
        <p:spPr>
          <a:xfrm>
            <a:off x="14337030" y="2610803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agent-07·core-api</a:t>
            </a:r>
            <a:endParaRPr lang="en-US" sz="788" dirty="0"/>
          </a:p>
        </p:txBody>
      </p:sp>
      <p:sp>
        <p:nvSpPr>
          <p:cNvPr id="225" name="Text 206"/>
          <p:cNvSpPr/>
          <p:nvPr/>
        </p:nvSpPr>
        <p:spPr>
          <a:xfrm>
            <a:off x="15687675" y="2196624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24m ago</a:t>
            </a:r>
            <a:endParaRPr lang="en-US" sz="750" dirty="0"/>
          </a:p>
        </p:txBody>
      </p:sp>
      <p:sp>
        <p:nvSpPr>
          <p:cNvPr id="226" name="Shape 207"/>
          <p:cNvSpPr/>
          <p:nvPr/>
        </p:nvSpPr>
        <p:spPr>
          <a:xfrm>
            <a:off x="12592050" y="2933541"/>
            <a:ext cx="3686175" cy="870268"/>
          </a:xfrm>
          <a:prstGeom prst="rect">
            <a:avLst/>
          </a:prstGeom>
          <a:solidFill>
            <a:srgbClr val="3B82E8">
              <a:alpha val="4000"/>
            </a:srgbClr>
          </a:solidFill>
          <a:ln/>
        </p:spPr>
      </p:sp>
      <p:sp>
        <p:nvSpPr>
          <p:cNvPr id="227" name="Shape 208"/>
          <p:cNvSpPr/>
          <p:nvPr/>
        </p:nvSpPr>
        <p:spPr>
          <a:xfrm>
            <a:off x="12592050" y="379428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28" name="Shape 209"/>
          <p:cNvSpPr/>
          <p:nvPr/>
        </p:nvSpPr>
        <p:spPr>
          <a:xfrm>
            <a:off x="12782550" y="3124041"/>
            <a:ext cx="76200" cy="76200"/>
          </a:xfrm>
          <a:prstGeom prst="ellipse">
            <a:avLst/>
          </a:prstGeom>
          <a:solidFill>
            <a:srgbClr val="3B82E8"/>
          </a:solidFill>
          <a:ln/>
        </p:spPr>
      </p:sp>
      <p:sp>
        <p:nvSpPr>
          <p:cNvPr id="229" name="Shape 210"/>
          <p:cNvSpPr/>
          <p:nvPr/>
        </p:nvSpPr>
        <p:spPr>
          <a:xfrm>
            <a:off x="12973050" y="3066891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A78BFA">
                <a:alpha val="33000"/>
              </a:srgbClr>
            </a:solidFill>
            <a:prstDash val="solid"/>
          </a:ln>
        </p:spPr>
      </p:sp>
      <p:sp>
        <p:nvSpPr>
          <p:cNvPr id="230" name="Text 211"/>
          <p:cNvSpPr/>
          <p:nvPr/>
        </p:nvSpPr>
        <p:spPr>
          <a:xfrm>
            <a:off x="13051949" y="3154839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endParaRPr lang="en-US" sz="714" dirty="0"/>
          </a:p>
        </p:txBody>
      </p:sp>
      <p:sp>
        <p:nvSpPr>
          <p:cNvPr id="231" name="Text 212"/>
          <p:cNvSpPr/>
          <p:nvPr/>
        </p:nvSpPr>
        <p:spPr>
          <a:xfrm>
            <a:off x="13354050" y="3066891"/>
            <a:ext cx="235267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evicts under 2GB — bumped maxmemory policy</a:t>
            </a:r>
            <a:endParaRPr lang="en-US" sz="938" dirty="0"/>
          </a:p>
        </p:txBody>
      </p:sp>
      <p:sp>
        <p:nvSpPr>
          <p:cNvPr id="232" name="Shape 213"/>
          <p:cNvSpPr/>
          <p:nvPr/>
        </p:nvSpPr>
        <p:spPr>
          <a:xfrm>
            <a:off x="13354050" y="3451384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33" name="Text 214"/>
          <p:cNvSpPr/>
          <p:nvPr/>
        </p:nvSpPr>
        <p:spPr>
          <a:xfrm>
            <a:off x="13430250" y="3484721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34" name="Text 215"/>
          <p:cNvSpPr/>
          <p:nvPr/>
        </p:nvSpPr>
        <p:spPr>
          <a:xfrm>
            <a:off x="13959840" y="3481070"/>
            <a:ext cx="127635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s.abramov·core-api</a:t>
            </a:r>
            <a:endParaRPr lang="en-US" sz="788" dirty="0"/>
          </a:p>
        </p:txBody>
      </p:sp>
      <p:sp>
        <p:nvSpPr>
          <p:cNvPr id="235" name="Text 216"/>
          <p:cNvSpPr/>
          <p:nvPr/>
        </p:nvSpPr>
        <p:spPr>
          <a:xfrm>
            <a:off x="15744825" y="3066891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1h ago</a:t>
            </a:r>
            <a:endParaRPr lang="en-US" sz="750" dirty="0"/>
          </a:p>
        </p:txBody>
      </p:sp>
      <p:sp>
        <p:nvSpPr>
          <p:cNvPr id="236" name="Shape 217"/>
          <p:cNvSpPr/>
          <p:nvPr/>
        </p:nvSpPr>
        <p:spPr>
          <a:xfrm>
            <a:off x="12592050" y="4664551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37" name="Shape 218"/>
          <p:cNvSpPr/>
          <p:nvPr/>
        </p:nvSpPr>
        <p:spPr>
          <a:xfrm>
            <a:off x="12973050" y="393715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A22E">
                <a:alpha val="33000"/>
              </a:srgbClr>
            </a:solidFill>
            <a:prstDash val="solid"/>
          </a:ln>
        </p:spPr>
      </p:sp>
      <p:sp>
        <p:nvSpPr>
          <p:cNvPr id="238" name="Text 219"/>
          <p:cNvSpPr/>
          <p:nvPr/>
        </p:nvSpPr>
        <p:spPr>
          <a:xfrm>
            <a:off x="13051949" y="402510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A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</a:t>
            </a:r>
            <a:endParaRPr lang="en-US" sz="714" dirty="0"/>
          </a:p>
        </p:txBody>
      </p:sp>
      <p:sp>
        <p:nvSpPr>
          <p:cNvPr id="239" name="Text 220"/>
          <p:cNvSpPr/>
          <p:nvPr/>
        </p:nvSpPr>
        <p:spPr>
          <a:xfrm>
            <a:off x="13354050" y="3937159"/>
            <a:ext cx="2352675" cy="365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monolith ingest into worker + gateway</a:t>
            </a:r>
            <a:endParaRPr lang="en-US" sz="938" dirty="0"/>
          </a:p>
        </p:txBody>
      </p:sp>
      <p:sp>
        <p:nvSpPr>
          <p:cNvPr id="240" name="Shape 221"/>
          <p:cNvSpPr/>
          <p:nvPr/>
        </p:nvSpPr>
        <p:spPr>
          <a:xfrm>
            <a:off x="13354050" y="4321651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41" name="Text 222"/>
          <p:cNvSpPr/>
          <p:nvPr/>
        </p:nvSpPr>
        <p:spPr>
          <a:xfrm>
            <a:off x="13430250" y="4354989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42" name="Text 223"/>
          <p:cNvSpPr/>
          <p:nvPr/>
        </p:nvSpPr>
        <p:spPr>
          <a:xfrm>
            <a:off x="14337030" y="4351337"/>
            <a:ext cx="1336358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j.tanaka·mobile-sdk</a:t>
            </a:r>
            <a:endParaRPr lang="en-US" sz="788" dirty="0"/>
          </a:p>
        </p:txBody>
      </p:sp>
      <p:sp>
        <p:nvSpPr>
          <p:cNvPr id="243" name="Text 224"/>
          <p:cNvSpPr/>
          <p:nvPr/>
        </p:nvSpPr>
        <p:spPr>
          <a:xfrm>
            <a:off x="15744825" y="393715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2h ago</a:t>
            </a:r>
            <a:endParaRPr lang="en-US" sz="750" dirty="0"/>
          </a:p>
        </p:txBody>
      </p:sp>
      <p:sp>
        <p:nvSpPr>
          <p:cNvPr id="244" name="Shape 225"/>
          <p:cNvSpPr/>
          <p:nvPr/>
        </p:nvSpPr>
        <p:spPr>
          <a:xfrm>
            <a:off x="12592050" y="5534819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45" name="Shape 226"/>
          <p:cNvSpPr/>
          <p:nvPr/>
        </p:nvSpPr>
        <p:spPr>
          <a:xfrm>
            <a:off x="12973050" y="4807426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2B85C">
                <a:alpha val="33000"/>
              </a:srgbClr>
            </a:solidFill>
            <a:prstDash val="solid"/>
          </a:ln>
        </p:spPr>
      </p:sp>
      <p:sp>
        <p:nvSpPr>
          <p:cNvPr id="246" name="Text 227"/>
          <p:cNvSpPr/>
          <p:nvPr/>
        </p:nvSpPr>
        <p:spPr>
          <a:xfrm>
            <a:off x="13051949" y="4895374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2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</a:t>
            </a:r>
            <a:endParaRPr lang="en-US" sz="714" dirty="0"/>
          </a:p>
        </p:txBody>
      </p:sp>
      <p:sp>
        <p:nvSpPr>
          <p:cNvPr id="247" name="Text 228"/>
          <p:cNvSpPr/>
          <p:nvPr/>
        </p:nvSpPr>
        <p:spPr>
          <a:xfrm>
            <a:off x="13354050" y="4807426"/>
            <a:ext cx="2295525" cy="3654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in token refresh on cold start</a:t>
            </a:r>
            <a:endParaRPr lang="en-US" sz="938" dirty="0"/>
          </a:p>
        </p:txBody>
      </p:sp>
      <p:sp>
        <p:nvSpPr>
          <p:cNvPr id="248" name="Shape 229"/>
          <p:cNvSpPr/>
          <p:nvPr/>
        </p:nvSpPr>
        <p:spPr>
          <a:xfrm>
            <a:off x="13354050" y="5191919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0000"/>
            </a:srgbClr>
          </a:solidFill>
          <a:ln w="9525">
            <a:solidFill>
              <a:srgbClr val="EF4444">
                <a:alpha val="34000"/>
              </a:srgbClr>
            </a:solidFill>
            <a:prstDash val="solid"/>
          </a:ln>
        </p:spPr>
      </p:sp>
      <p:sp>
        <p:nvSpPr>
          <p:cNvPr id="249" name="Text 230"/>
          <p:cNvSpPr/>
          <p:nvPr/>
        </p:nvSpPr>
        <p:spPr>
          <a:xfrm>
            <a:off x="13430250" y="5225256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BUGFIX</a:t>
            </a:r>
            <a:endParaRPr lang="en-US" sz="750" dirty="0"/>
          </a:p>
        </p:txBody>
      </p:sp>
      <p:sp>
        <p:nvSpPr>
          <p:cNvPr id="250" name="Text 231"/>
          <p:cNvSpPr/>
          <p:nvPr/>
        </p:nvSpPr>
        <p:spPr>
          <a:xfrm>
            <a:off x="13959840" y="5221605"/>
            <a:ext cx="163639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r.delacroix·auth-service</a:t>
            </a:r>
            <a:endParaRPr lang="en-US" sz="788" dirty="0"/>
          </a:p>
        </p:txBody>
      </p:sp>
      <p:sp>
        <p:nvSpPr>
          <p:cNvPr id="251" name="Text 232"/>
          <p:cNvSpPr/>
          <p:nvPr/>
        </p:nvSpPr>
        <p:spPr>
          <a:xfrm>
            <a:off x="15687675" y="4807426"/>
            <a:ext cx="4762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40m ago</a:t>
            </a:r>
            <a:endParaRPr lang="en-US" sz="750" dirty="0"/>
          </a:p>
        </p:txBody>
      </p:sp>
      <p:sp>
        <p:nvSpPr>
          <p:cNvPr id="252" name="Shape 233"/>
          <p:cNvSpPr/>
          <p:nvPr/>
        </p:nvSpPr>
        <p:spPr>
          <a:xfrm>
            <a:off x="12592050" y="6467634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53" name="Shape 234"/>
          <p:cNvSpPr/>
          <p:nvPr/>
        </p:nvSpPr>
        <p:spPr>
          <a:xfrm>
            <a:off x="12973050" y="5677694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E0246F">
                <a:alpha val="33000"/>
              </a:srgbClr>
            </a:solidFill>
            <a:prstDash val="solid"/>
          </a:ln>
        </p:spPr>
      </p:sp>
      <p:sp>
        <p:nvSpPr>
          <p:cNvPr id="254" name="Text 235"/>
          <p:cNvSpPr/>
          <p:nvPr/>
        </p:nvSpPr>
        <p:spPr>
          <a:xfrm>
            <a:off x="13051949" y="5765641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E024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714" dirty="0"/>
          </a:p>
        </p:txBody>
      </p:sp>
      <p:sp>
        <p:nvSpPr>
          <p:cNvPr id="255" name="Text 236"/>
          <p:cNvSpPr/>
          <p:nvPr/>
        </p:nvSpPr>
        <p:spPr>
          <a:xfrm>
            <a:off x="13354050" y="5677694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Local-first: CRDT merge on reconnect</a:t>
            </a:r>
            <a:endParaRPr lang="en-US" sz="938" dirty="0"/>
          </a:p>
        </p:txBody>
      </p:sp>
      <p:sp>
        <p:nvSpPr>
          <p:cNvPr id="256" name="Shape 237"/>
          <p:cNvSpPr/>
          <p:nvPr/>
        </p:nvSpPr>
        <p:spPr>
          <a:xfrm>
            <a:off x="13354050" y="5898515"/>
            <a:ext cx="906780" cy="209550"/>
          </a:xfrm>
          <a:prstGeom prst="roundRect">
            <a:avLst>
              <a:gd name="adj" fmla="val 18182"/>
            </a:avLst>
          </a:prstGeom>
          <a:solidFill>
            <a:srgbClr val="3B82E8">
              <a:alpha val="10000"/>
            </a:srgbClr>
          </a:solidFill>
          <a:ln w="9525">
            <a:solidFill>
              <a:srgbClr val="3B82E8">
                <a:alpha val="34000"/>
              </a:srgbClr>
            </a:solidFill>
            <a:prstDash val="solid"/>
          </a:ln>
        </p:spPr>
      </p:sp>
      <p:sp>
        <p:nvSpPr>
          <p:cNvPr id="257" name="Text 238"/>
          <p:cNvSpPr/>
          <p:nvPr/>
        </p:nvSpPr>
        <p:spPr>
          <a:xfrm>
            <a:off x="13430250" y="5931852"/>
            <a:ext cx="8305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3B8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258" name="Text 239"/>
          <p:cNvSpPr/>
          <p:nvPr/>
        </p:nvSpPr>
        <p:spPr>
          <a:xfrm>
            <a:off x="13354050" y="6184265"/>
            <a:ext cx="151638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a.okafor·data-pipeline</a:t>
            </a:r>
            <a:endParaRPr lang="en-US" sz="788" dirty="0"/>
          </a:p>
        </p:txBody>
      </p:sp>
      <p:sp>
        <p:nvSpPr>
          <p:cNvPr id="259" name="Text 240"/>
          <p:cNvSpPr/>
          <p:nvPr/>
        </p:nvSpPr>
        <p:spPr>
          <a:xfrm>
            <a:off x="15744825" y="5677694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4h ago</a:t>
            </a:r>
            <a:endParaRPr lang="en-US" sz="750" dirty="0"/>
          </a:p>
        </p:txBody>
      </p:sp>
      <p:sp>
        <p:nvSpPr>
          <p:cNvPr id="260" name="Shape 241"/>
          <p:cNvSpPr/>
          <p:nvPr/>
        </p:nvSpPr>
        <p:spPr>
          <a:xfrm>
            <a:off x="12592050" y="7174230"/>
            <a:ext cx="3686175" cy="9525"/>
          </a:xfrm>
          <a:prstGeom prst="rect">
            <a:avLst/>
          </a:prstGeom>
          <a:solidFill>
            <a:srgbClr val="141B27"/>
          </a:solidFill>
          <a:ln/>
        </p:spPr>
      </p:sp>
      <p:sp>
        <p:nvSpPr>
          <p:cNvPr id="261" name="Shape 242"/>
          <p:cNvSpPr/>
          <p:nvPr/>
        </p:nvSpPr>
        <p:spPr>
          <a:xfrm>
            <a:off x="12973050" y="6610509"/>
            <a:ext cx="266700" cy="266700"/>
          </a:xfrm>
          <a:prstGeom prst="rect">
            <a:avLst/>
          </a:prstGeom>
          <a:solidFill>
            <a:srgbClr val="0E1320"/>
          </a:solidFill>
          <a:ln w="9525">
            <a:solidFill>
              <a:srgbClr val="2DD4BF">
                <a:alpha val="33000"/>
              </a:srgbClr>
            </a:solidFill>
            <a:prstDash val="solid"/>
          </a:ln>
        </p:spPr>
      </p:sp>
      <p:sp>
        <p:nvSpPr>
          <p:cNvPr id="262" name="Text 243"/>
          <p:cNvSpPr/>
          <p:nvPr/>
        </p:nvSpPr>
        <p:spPr>
          <a:xfrm>
            <a:off x="13051949" y="6698456"/>
            <a:ext cx="185102" cy="128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965"/>
              </a:lnSpc>
              <a:buNone/>
            </a:pPr>
            <a:r>
              <a:rPr lang="en-US" sz="714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</a:t>
            </a:r>
            <a:endParaRPr lang="en-US" sz="714" dirty="0"/>
          </a:p>
        </p:txBody>
      </p:sp>
      <p:sp>
        <p:nvSpPr>
          <p:cNvPr id="263" name="Text 244"/>
          <p:cNvSpPr/>
          <p:nvPr/>
        </p:nvSpPr>
        <p:spPr>
          <a:xfrm>
            <a:off x="13354050" y="6610509"/>
            <a:ext cx="2352675" cy="201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466"/>
              </a:lnSpc>
              <a:buNone/>
            </a:pPr>
            <a:r>
              <a:rPr lang="en-US" sz="938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 is 1536 — do not change</a:t>
            </a:r>
            <a:endParaRPr lang="en-US" sz="938" dirty="0"/>
          </a:p>
        </p:txBody>
      </p:sp>
      <p:sp>
        <p:nvSpPr>
          <p:cNvPr id="264" name="Shape 245"/>
          <p:cNvSpPr/>
          <p:nvPr/>
        </p:nvSpPr>
        <p:spPr>
          <a:xfrm>
            <a:off x="13354050" y="6831330"/>
            <a:ext cx="529590" cy="209550"/>
          </a:xfrm>
          <a:prstGeom prst="roundRect">
            <a:avLst>
              <a:gd name="adj" fmla="val 18182"/>
            </a:avLst>
          </a:prstGeom>
          <a:solidFill>
            <a:srgbClr val="8B97A8">
              <a:alpha val="10000"/>
            </a:srgbClr>
          </a:solidFill>
          <a:ln w="9525">
            <a:solidFill>
              <a:srgbClr val="8B97A8">
                <a:alpha val="34000"/>
              </a:srgbClr>
            </a:solidFill>
            <a:prstDash val="solid"/>
          </a:ln>
        </p:spPr>
      </p:sp>
      <p:sp>
        <p:nvSpPr>
          <p:cNvPr id="265" name="Text 246"/>
          <p:cNvSpPr/>
          <p:nvPr/>
        </p:nvSpPr>
        <p:spPr>
          <a:xfrm>
            <a:off x="13430250" y="6864668"/>
            <a:ext cx="4533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spc="45" kern="0" dirty="0">
                <a:solidFill>
                  <a:srgbClr val="8B9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endParaRPr lang="en-US" sz="750" dirty="0"/>
          </a:p>
        </p:txBody>
      </p:sp>
      <p:sp>
        <p:nvSpPr>
          <p:cNvPr id="266" name="Text 247"/>
          <p:cNvSpPr/>
          <p:nvPr/>
        </p:nvSpPr>
        <p:spPr>
          <a:xfrm>
            <a:off x="13959840" y="6861016"/>
            <a:ext cx="1216342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k.mensah·core-api</a:t>
            </a:r>
            <a:endParaRPr lang="en-US" sz="788" dirty="0"/>
          </a:p>
        </p:txBody>
      </p:sp>
      <p:sp>
        <p:nvSpPr>
          <p:cNvPr id="267" name="Text 248"/>
          <p:cNvSpPr/>
          <p:nvPr/>
        </p:nvSpPr>
        <p:spPr>
          <a:xfrm>
            <a:off x="15744825" y="6610509"/>
            <a:ext cx="4191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3h ago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2026-06-06T08:53:27Z</dcterms:created>
  <dcterms:modified xsi:type="dcterms:W3CDTF">2026-06-06T08:53:27Z</dcterms:modified>
</cp:coreProperties>
</file>